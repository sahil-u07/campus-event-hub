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5ac72728-3275-a04c-8f70-2fec1c11170a}">
          <p14:sldIdLst>
            <p14:sldId id="256"/>
            <p14:sldId id="257"/>
            <p14:sldId id="258"/>
          </p14:sldIdLst>
        </p14:section>
        <p14:section name="The product" id="{6a113a98-1ecf-4901-4b1d-f0d91628ac6a}">
          <p14:sldIdLst>
            <p14:sldId id="259"/>
            <p14:sldId id="260"/>
            <p14:sldId id="261"/>
            <p14:sldId id="262"/>
            <p14:sldId id="263"/>
          </p14:sldIdLst>
        </p14:section>
        <p14:section name="Under the hood" id="{cfcee83e-386f-fa59-c08a-c8545866b7b4}">
          <p14:sldIdLst>
            <p14:sldId id="264"/>
            <p14:sldId id="265"/>
            <p14:sldId id="266"/>
            <p14:sldId id="267"/>
          </p14:sldIdLst>
        </p14:section>
        <p14:section name="Wrap-up" id="{f995d02d-cee1-15e8-ffe6-0533b8105329}">
          <p14:sldIdLst>
            <p14:sldId id="268"/>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yourself and the project in one line: Campus Event Hub, a web app where students find events, get a seat or join a waitlist, and hosts manage who comes. It is live on the internet, and I will show real screens from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the problem from both sides. Students do not know what is on or if there is space. Hosts do not know who is coming. The project puts all of that in one place.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the four moments a student or host goes through: find an event, register, wait if it is full, and check in on the day. The chips are the extras around that core.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numbered dots on the screenshot match the list. Show the live search first because it is the AJAX part of the syllabus: the page does not reload, jQuery asks the server for JSON and redraws the cards.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full event, so the person is on the waitlist at position one. The same button is used for register, join waitlist and cancel, and the server decides which one applies.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three seats are taken, two people wait. When A cancels, the first person on the waitlist is confirmed and told. Right: the lock is what makes the last seat safe. The code shown is a simplified version of the real 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Only the person who created the event can open this page. Everyone else gets a 403 error. The check-in switch calls the server without reloading, and the CSV protects against spreadsheet formula injection.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bell is the main channel and works on the live site today. Email is built and tested but only sends when mail settings are added, so on the live site the alerts show in the bell. SMS is out of scope.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each tile to the course outline. NodeJS and AngularJS are in the syllabus but are not used in this project. MySQL is supported by the code and the schema file, but the tested setups are SQLite on a computer and PostgreSQL on the live site.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Django follows Model, View, Template. The browser sends GET and POST requests with a CSRF token and gets HTML pages or JSON back. Django talks to the database only through the ORM, so the same code runs on SQLite, MySQL or PostgreSQL. Every push to GitHub is built and deployed by Vercel.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Event is the centre. A category groups events and a user hosts them. Registration links a user to an event and holds the status and check-in flag, and a database constraint stops one person taking two seats. SavedEvent and Notification are the two newest tables.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tests run with python manage.py test on an in-memory database. Two real bugs came out of the review and testing rounds: a crash when a filter value was a superscript digit, and a time label that never showed just now. Both have tests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 live site on a phone by scanning the code. The repository link is on the last slide. Accounts on the live site are separate from any account on a local computer, because each has its own database.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by saying what you would do next. Each item needs something outside the code: mail settings, file storage, or a MySQL server. Then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TITLE-image-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END-image-1.pn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CONTENT-image-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END">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640080" y="6419088"/>
            <a:ext cx="5486400" cy="274320"/>
          </a:xfrm>
          <a:prstGeom prst="rect">
            <a:avLst/>
          </a:prstGeom>
          <a:noFill/>
          <a:ln/>
        </p:spPr>
        <p:txBody>
          <a:bodyPr wrap="square" lIns="0" tIns="0" rIns="0" bIns="0" rtlCol="0" anchor="ctr"/>
          <a:lstStyle/>
          <a:p>
            <a:pPr indent="0" marL="0">
              <a:buNone/>
            </a:pPr>
            <a:r>
              <a:rPr lang="en-US" sz="1000" dirty="0">
                <a:solidFill>
                  <a:srgbClr val="A3AED0"/>
                </a:solidFill>
                <a:latin typeface="Calibri" pitchFamily="34" charset="0"/>
                <a:ea typeface="Calibri" pitchFamily="34" charset="-122"/>
                <a:cs typeface="Calibri" pitchFamily="34" charset="-120"/>
              </a:rPr>
              <a:t>Campus Event Hub  ·  Sahil Lenka  ·  2427010391</a:t>
            </a:r>
            <a:endParaRPr lang="en-US" sz="1000" dirty="0"/>
          </a:p>
        </p:txBody>
      </p:sp>
      <p:sp>
        <p:nvSpPr>
          <p:cNvPr id="3" name="Text 1"/>
          <p:cNvSpPr/>
          <p:nvPr>
            <p:ph idx="101" type="title" hasCustomPrompt="1"/>
          </p:nvPr>
        </p:nvSpPr>
        <p:spPr>
          <a:xfrm>
            <a:off x="640080" y="457200"/>
            <a:ext cx="10908792" cy="777240"/>
          </a:xfrm>
          <a:prstGeom prst="rect">
            <a:avLst/>
          </a:prstGeom>
          <a:noFill/>
          <a:ln/>
        </p:spPr>
        <p:txBody>
          <a:bodyPr wrap="square" rtlCol="0"/>
          <a:lstStyle>
            <a:lvl1pPr algn="l" indent="0" marL="0">
              <a:buNone/>
              <a:defRPr lang="en-US" sz="2600" dirty="0">
                <a:solidFill>
                  <a:srgbClr val="F1F5F9"/>
                </a:solidFill>
                <a:latin typeface="Arial Black" pitchFamily="34" charset="0"/>
                <a:ea typeface="Arial Black" pitchFamily="34" charset="-122"/>
                <a:cs typeface="Arial Black" pitchFamily="34" charset="-120"/>
              </a:defRPr>
            </a:lvl1pPr>
          </a:lstStyle>
          <a:p>
            <a:pPr algn="l" indent="0" marL="0">
              <a:buNone/>
            </a:pPr>
            <a:endParaRPr lang="en-US" sz="2600" dirty="0"/>
          </a:p>
        </p:txBody>
      </p:sp>
      <p:sp>
        <p:nvSpPr>
          <p:cNvPr id="25" name="Slide Number Placeholder 0"/>
          <p:cNvSpPr>
            <a:spLocks noGrp="1"/>
          </p:cNvSpPr>
          <p:nvPr>
            <p:ph type="sldNum" sz="quarter" idx="4294967295"/>
          </p:nvPr>
        </p:nvSpPr>
        <p:spPr>
          <a:xfrm>
            <a:off x="11064240" y="640080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3AED0"/>
                </a:solidFill>
                <a:latin typeface="Calibri"/>
                <a:ea typeface="Calibri"/>
                <a:cs typeface="Calibri"/>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64240" y="640080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3AED0"/>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4.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4.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4.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4.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4.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4.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image" Target="../media/image-9-8.png"/><Relationship Id="rId9" Type="http://schemas.openxmlformats.org/officeDocument/2006/relationships/slideLayout" Target="../slideLayouts/slideLayout4.xml"/><Relationship Id="rId10"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4.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4.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hyperlink" Target="https://campus-event-hub-lake.vercel.app" TargetMode="External"/><Relationship Id="rId2" Type="http://schemas.openxmlformats.org/officeDocument/2006/relationships/hyperlink" Target="https://github.com/Sahil-u07/campus-event-hub" TargetMode="External"/><Relationship Id="rId3" Type="http://schemas.openxmlformats.org/officeDocument/2006/relationships/slideLayout" Target="../slideLayouts/slideLayout3.xml"/><Relationship Id="rId4"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731520" y="777240"/>
            <a:ext cx="5486400" cy="274320"/>
          </a:xfrm>
          <a:prstGeom prst="rect">
            <a:avLst/>
          </a:prstGeom>
          <a:noFill/>
          <a:ln/>
        </p:spPr>
        <p:txBody>
          <a:bodyPr wrap="square" lIns="0" tIns="0" rIns="0" bIns="0" rtlCol="0" anchor="t"/>
          <a:lstStyle/>
          <a:p>
            <a:pPr indent="0" marL="0">
              <a:buNone/>
            </a:pPr>
            <a:r>
              <a:rPr lang="en-US" sz="1300" b="1" spc="200" kern="0" dirty="0">
                <a:solidFill>
                  <a:srgbClr val="A5B4FC"/>
                </a:solidFill>
                <a:latin typeface="Calibri" pitchFamily="34" charset="0"/>
                <a:ea typeface="Calibri" pitchFamily="34" charset="-122"/>
                <a:cs typeface="Calibri" pitchFamily="34" charset="-120"/>
              </a:rPr>
              <a:t>WEB TECHNOLOGIES  ·  AIM3140  ·  PROJECT</a:t>
            </a:r>
            <a:endParaRPr lang="en-US" sz="1300" dirty="0"/>
          </a:p>
        </p:txBody>
      </p:sp>
      <p:sp>
        <p:nvSpPr>
          <p:cNvPr id="3" name="Text 1"/>
          <p:cNvSpPr txBox="1"/>
          <p:nvPr/>
        </p:nvSpPr>
        <p:spPr>
          <a:xfrm>
            <a:off x="731520" y="1325880"/>
            <a:ext cx="5303520" cy="1005840"/>
          </a:xfrm>
          <a:prstGeom prst="rect">
            <a:avLst/>
          </a:prstGeom>
          <a:noFill/>
          <a:ln/>
        </p:spPr>
        <p:txBody>
          <a:bodyPr wrap="square" lIns="0" tIns="0" rIns="0" bIns="0" rtlCol="0" anchor="ctr"/>
          <a:lstStyle/>
          <a:p>
            <a:pPr indent="0" marL="0">
              <a:buNone/>
            </a:pPr>
            <a:r>
              <a:rPr lang="en-US" sz="6000" dirty="0">
                <a:solidFill>
                  <a:srgbClr val="F1F5F9"/>
                </a:solidFill>
                <a:latin typeface="Arial Black" pitchFamily="34" charset="0"/>
                <a:ea typeface="Arial Black" pitchFamily="34" charset="-122"/>
                <a:cs typeface="Arial Black" pitchFamily="34" charset="-120"/>
              </a:rPr>
              <a:t>Campus</a:t>
            </a:r>
            <a:endParaRPr lang="en-US" sz="6000" dirty="0"/>
          </a:p>
        </p:txBody>
      </p:sp>
      <p:sp>
        <p:nvSpPr>
          <p:cNvPr id="4" name="Text 2"/>
          <p:cNvSpPr txBox="1"/>
          <p:nvPr/>
        </p:nvSpPr>
        <p:spPr>
          <a:xfrm>
            <a:off x="731520" y="2331720"/>
            <a:ext cx="5303520" cy="1005840"/>
          </a:xfrm>
          <a:prstGeom prst="rect">
            <a:avLst/>
          </a:prstGeom>
          <a:noFill/>
          <a:ln/>
        </p:spPr>
        <p:txBody>
          <a:bodyPr wrap="square" lIns="0" tIns="0" rIns="0" bIns="0" rtlCol="0" anchor="ctr"/>
          <a:lstStyle/>
          <a:p>
            <a:pPr indent="0" marL="0">
              <a:buNone/>
            </a:pPr>
            <a:r>
              <a:rPr lang="en-US" sz="6000" dirty="0">
                <a:solidFill>
                  <a:srgbClr val="F472B6"/>
                </a:solidFill>
                <a:latin typeface="Arial Black" pitchFamily="34" charset="0"/>
                <a:ea typeface="Arial Black" pitchFamily="34" charset="-122"/>
                <a:cs typeface="Arial Black" pitchFamily="34" charset="-120"/>
              </a:rPr>
              <a:t>Event Hub</a:t>
            </a:r>
            <a:endParaRPr lang="en-US" sz="6000" dirty="0"/>
          </a:p>
        </p:txBody>
      </p:sp>
      <p:sp>
        <p:nvSpPr>
          <p:cNvPr id="5" name="Text 3"/>
          <p:cNvSpPr txBox="1"/>
          <p:nvPr/>
        </p:nvSpPr>
        <p:spPr>
          <a:xfrm>
            <a:off x="731520" y="3520440"/>
            <a:ext cx="5120640" cy="457200"/>
          </a:xfrm>
          <a:prstGeom prst="rect">
            <a:avLst/>
          </a:prstGeom>
          <a:noFill/>
          <a:ln/>
        </p:spPr>
        <p:txBody>
          <a:bodyPr wrap="square" lIns="0" tIns="0" rIns="0" bIns="0" rtlCol="0" anchor="t"/>
          <a:lstStyle/>
          <a:p>
            <a:pPr indent="0" marL="0">
              <a:buNone/>
            </a:pPr>
            <a:r>
              <a:rPr lang="en-US" sz="2600" b="1" dirty="0">
                <a:solidFill>
                  <a:srgbClr val="F1F5F9"/>
                </a:solidFill>
                <a:latin typeface="Calibri" pitchFamily="34" charset="0"/>
                <a:ea typeface="Calibri" pitchFamily="34" charset="-122"/>
                <a:cs typeface="Calibri" pitchFamily="34" charset="-120"/>
              </a:rPr>
              <a:t>Find it. Join it. Host it.</a:t>
            </a:r>
            <a:endParaRPr lang="en-US" sz="2600" dirty="0"/>
          </a:p>
        </p:txBody>
      </p:sp>
      <p:sp>
        <p:nvSpPr>
          <p:cNvPr id="6" name="Text 4"/>
          <p:cNvSpPr txBox="1"/>
          <p:nvPr/>
        </p:nvSpPr>
        <p:spPr>
          <a:xfrm>
            <a:off x="731520" y="4023360"/>
            <a:ext cx="4846320" cy="731520"/>
          </a:xfrm>
          <a:prstGeom prst="rect">
            <a:avLst/>
          </a:prstGeom>
          <a:noFill/>
          <a:ln/>
        </p:spPr>
        <p:txBody>
          <a:bodyPr wrap="square" lIns="0" tIns="0" rIns="0" bIns="0" rtlCol="0" anchor="t"/>
          <a:lstStyle/>
          <a:p>
            <a:pPr indent="0" marL="0">
              <a:buNone/>
            </a:pPr>
            <a:r>
              <a:rPr lang="en-US" sz="1600" dirty="0">
                <a:solidFill>
                  <a:srgbClr val="A3AED0"/>
                </a:solidFill>
                <a:latin typeface="Calibri" pitchFamily="34" charset="0"/>
                <a:ea typeface="Calibri" pitchFamily="34" charset="-122"/>
                <a:cs typeface="Calibri" pitchFamily="34" charset="-120"/>
              </a:rPr>
              <a:t>An event platform for campus life, with a waitlist that moves by itself.</a:t>
            </a:r>
            <a:endParaRPr lang="en-US" sz="1600" dirty="0"/>
          </a:p>
        </p:txBody>
      </p:sp>
      <p:sp>
        <p:nvSpPr>
          <p:cNvPr id="7" name="Text 5"/>
          <p:cNvSpPr txBox="1"/>
          <p:nvPr/>
        </p:nvSpPr>
        <p:spPr>
          <a:xfrm>
            <a:off x="731520" y="5166360"/>
            <a:ext cx="5029200" cy="365760"/>
          </a:xfrm>
          <a:prstGeom prst="rect">
            <a:avLst/>
          </a:prstGeom>
          <a:noFill/>
          <a:ln/>
        </p:spPr>
        <p:txBody>
          <a:bodyPr wrap="square" lIns="0" tIns="0" rIns="0" bIns="0" rtlCol="0" anchor="t"/>
          <a:lstStyle/>
          <a:p>
            <a:pPr indent="0" marL="0">
              <a:buNone/>
            </a:pPr>
            <a:r>
              <a:rPr lang="en-US" sz="2000" b="1" dirty="0">
                <a:solidFill>
                  <a:srgbClr val="F1F5F9"/>
                </a:solidFill>
                <a:latin typeface="Calibri" pitchFamily="34" charset="0"/>
                <a:ea typeface="Calibri" pitchFamily="34" charset="-122"/>
                <a:cs typeface="Calibri" pitchFamily="34" charset="-120"/>
              </a:rPr>
              <a:t>Sahil Lenka</a:t>
            </a:r>
            <a:endParaRPr lang="en-US" sz="2000" dirty="0"/>
          </a:p>
        </p:txBody>
      </p:sp>
      <p:sp>
        <p:nvSpPr>
          <p:cNvPr id="8" name="Text 6"/>
          <p:cNvSpPr txBox="1"/>
          <p:nvPr/>
        </p:nvSpPr>
        <p:spPr>
          <a:xfrm>
            <a:off x="731520" y="5559552"/>
            <a:ext cx="5303520" cy="274320"/>
          </a:xfrm>
          <a:prstGeom prst="rect">
            <a:avLst/>
          </a:prstGeom>
          <a:noFill/>
          <a:ln/>
        </p:spPr>
        <p:txBody>
          <a:bodyPr wrap="square" lIns="0" tIns="0" rIns="0" bIns="0" rtlCol="0" anchor="t"/>
          <a:lstStyle/>
          <a:p>
            <a:pPr indent="0" marL="0">
              <a:buNone/>
            </a:pPr>
            <a:r>
              <a:rPr lang="en-US" sz="1400" dirty="0">
                <a:solidFill>
                  <a:srgbClr val="A3AED0"/>
                </a:solidFill>
                <a:latin typeface="Calibri" pitchFamily="34" charset="0"/>
                <a:ea typeface="Calibri" pitchFamily="34" charset="-122"/>
                <a:cs typeface="Calibri" pitchFamily="34" charset="-120"/>
              </a:rPr>
              <a:t>Reg. no. 2427010391  ·  B.Tech AIML, Section C</a:t>
            </a:r>
            <a:endParaRPr lang="en-US" sz="1400" dirty="0"/>
          </a:p>
        </p:txBody>
      </p:sp>
      <p:sp>
        <p:nvSpPr>
          <p:cNvPr id="9" name="Text 7"/>
          <p:cNvSpPr txBox="1"/>
          <p:nvPr/>
        </p:nvSpPr>
        <p:spPr>
          <a:xfrm>
            <a:off x="731520" y="5852160"/>
            <a:ext cx="5029200" cy="274320"/>
          </a:xfrm>
          <a:prstGeom prst="rect">
            <a:avLst/>
          </a:prstGeom>
          <a:noFill/>
          <a:ln/>
        </p:spPr>
        <p:txBody>
          <a:bodyPr wrap="square" lIns="0" tIns="0" rIns="0" bIns="0" rtlCol="0" anchor="t"/>
          <a:lstStyle/>
          <a:p>
            <a:pPr indent="0" marL="0">
              <a:buNone/>
            </a:pPr>
            <a:r>
              <a:rPr lang="en-US" sz="1400" dirty="0">
                <a:solidFill>
                  <a:srgbClr val="A3AED0"/>
                </a:solidFill>
                <a:latin typeface="Calibri" pitchFamily="34" charset="0"/>
                <a:ea typeface="Calibri" pitchFamily="34" charset="-122"/>
                <a:cs typeface="Calibri" pitchFamily="34" charset="-120"/>
              </a:rPr>
              <a:t>Manipal University Jaipur</a:t>
            </a:r>
            <a:endParaRPr lang="en-US" sz="1400" dirty="0"/>
          </a:p>
        </p:txBody>
      </p:sp>
      <p:sp>
        <p:nvSpPr>
          <p:cNvPr id="10" name="Shape 8"/>
          <p:cNvSpPr/>
          <p:nvPr/>
        </p:nvSpPr>
        <p:spPr>
          <a:xfrm>
            <a:off x="5943600" y="868680"/>
            <a:ext cx="5577840" cy="4596003"/>
          </a:xfrm>
          <a:prstGeom prst="roundRect">
            <a:avLst>
              <a:gd name="adj" fmla="val 2387"/>
            </a:avLst>
          </a:prstGeom>
          <a:solidFill>
            <a:srgbClr val="1B1B38"/>
          </a:solidFill>
          <a:ln w="12700">
            <a:solidFill>
              <a:srgbClr val="34345E"/>
            </a:solidFill>
            <a:prstDash val="solid"/>
          </a:ln>
        </p:spPr>
      </p:sp>
      <p:sp>
        <p:nvSpPr>
          <p:cNvPr id="11" name="Shape 9"/>
          <p:cNvSpPr/>
          <p:nvPr/>
        </p:nvSpPr>
        <p:spPr>
          <a:xfrm>
            <a:off x="6108192" y="950976"/>
            <a:ext cx="109728" cy="109728"/>
          </a:xfrm>
          <a:prstGeom prst="ellipse">
            <a:avLst/>
          </a:prstGeom>
          <a:solidFill>
            <a:srgbClr val="F87171"/>
          </a:solidFill>
          <a:ln w="12700">
            <a:solidFill>
              <a:srgbClr val="F87171"/>
            </a:solidFill>
            <a:prstDash val="solid"/>
          </a:ln>
        </p:spPr>
      </p:sp>
      <p:sp>
        <p:nvSpPr>
          <p:cNvPr id="12" name="Shape 10"/>
          <p:cNvSpPr/>
          <p:nvPr/>
        </p:nvSpPr>
        <p:spPr>
          <a:xfrm>
            <a:off x="6291072" y="950976"/>
            <a:ext cx="109728" cy="109728"/>
          </a:xfrm>
          <a:prstGeom prst="ellipse">
            <a:avLst/>
          </a:prstGeom>
          <a:solidFill>
            <a:srgbClr val="FBBF24"/>
          </a:solidFill>
          <a:ln w="12700">
            <a:solidFill>
              <a:srgbClr val="FBBF24"/>
            </a:solidFill>
            <a:prstDash val="solid"/>
          </a:ln>
        </p:spPr>
      </p:sp>
      <p:sp>
        <p:nvSpPr>
          <p:cNvPr id="13" name="Shape 11"/>
          <p:cNvSpPr/>
          <p:nvPr/>
        </p:nvSpPr>
        <p:spPr>
          <a:xfrm>
            <a:off x="6473952" y="950976"/>
            <a:ext cx="109728" cy="109728"/>
          </a:xfrm>
          <a:prstGeom prst="ellipse">
            <a:avLst/>
          </a:prstGeom>
          <a:solidFill>
            <a:srgbClr val="4ADE80"/>
          </a:solidFill>
          <a:ln w="12700">
            <a:solidFill>
              <a:srgbClr val="4ADE80"/>
            </a:solidFill>
            <a:prstDash val="solid"/>
          </a:ln>
        </p:spPr>
      </p:sp>
      <p:pic>
        <p:nvPicPr>
          <p:cNvPr id="14" name="Image 0" descr="Home page of the app on a desktop screen">    </p:cNvPr>
          <p:cNvPicPr>
            <a:picLocks noChangeAspect="1"/>
          </p:cNvPicPr>
          <p:nvPr/>
        </p:nvPicPr>
        <p:blipFill>
          <a:blip r:embed="rId1"/>
          <a:stretch>
            <a:fillRect/>
          </a:stretch>
        </p:blipFill>
        <p:spPr>
          <a:xfrm>
            <a:off x="6007608" y="1143000"/>
            <a:ext cx="5449824" cy="4257675"/>
          </a:xfrm>
          <a:prstGeom prst="rect">
            <a:avLst/>
          </a:prstGeom>
        </p:spPr>
      </p:pic>
      <p:sp>
        <p:nvSpPr>
          <p:cNvPr id="15" name="Shape 12"/>
          <p:cNvSpPr/>
          <p:nvPr/>
        </p:nvSpPr>
        <p:spPr>
          <a:xfrm>
            <a:off x="9921240" y="3200400"/>
            <a:ext cx="1691640" cy="3160166"/>
          </a:xfrm>
          <a:prstGeom prst="roundRect">
            <a:avLst>
              <a:gd name="adj" fmla="val 15135"/>
            </a:avLst>
          </a:prstGeom>
          <a:solidFill>
            <a:srgbClr val="05050F"/>
          </a:solidFill>
          <a:ln w="25400">
            <a:solidFill>
              <a:srgbClr val="4A4A7A"/>
            </a:solidFill>
            <a:prstDash val="solid"/>
          </a:ln>
        </p:spPr>
      </p:sp>
      <p:pic>
        <p:nvPicPr>
          <p:cNvPr id="16" name="Image 1" descr="Home page on a phone">    </p:cNvPr>
          <p:cNvPicPr>
            <a:picLocks noChangeAspect="1"/>
          </p:cNvPicPr>
          <p:nvPr/>
        </p:nvPicPr>
        <p:blipFill>
          <a:blip r:embed="rId2"/>
          <a:stretch>
            <a:fillRect/>
          </a:stretch>
        </p:blipFill>
        <p:spPr>
          <a:xfrm>
            <a:off x="10012680" y="3291840"/>
            <a:ext cx="1508760" cy="2977286"/>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640080" y="457200"/>
            <a:ext cx="10908792" cy="777240"/>
          </a:xfrm>
          <a:prstGeom prst="rect">
            <a:avLst/>
          </a:prstGeom>
          <a:noFill/>
          <a:ln/>
        </p:spPr>
        <p:txBody>
          <a:bodyPr wrap="square" lIns="0" tIns="0" rIns="0" bIns="0" rtlCol="0" anchor="ctr"/>
          <a:lstStyle/>
          <a:p>
            <a:pPr algn="l" indent="0" marL="0">
              <a:buNone/>
            </a:pPr>
            <a:r>
              <a:rPr lang="en-US" sz="2600" dirty="0">
                <a:solidFill>
                  <a:srgbClr val="F1F5F9"/>
                </a:solidFill>
                <a:latin typeface="Arial Black" pitchFamily="34" charset="0"/>
                <a:ea typeface="Arial Black" pitchFamily="34" charset="-122"/>
                <a:cs typeface="Arial Black" pitchFamily="34" charset="-120"/>
              </a:rPr>
              <a:t>Campus events live on posters and chats</a:t>
            </a:r>
            <a:endParaRPr lang="en-US" sz="2600" dirty="0"/>
          </a:p>
        </p:txBody>
      </p:sp>
      <p:sp>
        <p:nvSpPr>
          <p:cNvPr id="3" name="Shape 1"/>
          <p:cNvSpPr/>
          <p:nvPr/>
        </p:nvSpPr>
        <p:spPr>
          <a:xfrm>
            <a:off x="640080" y="1645920"/>
            <a:ext cx="3429000" cy="3246120"/>
          </a:xfrm>
          <a:prstGeom prst="roundRect">
            <a:avLst>
              <a:gd name="adj" fmla="val 3944"/>
            </a:avLst>
          </a:prstGeom>
          <a:solidFill>
            <a:srgbClr val="14142B"/>
          </a:solidFill>
          <a:ln w="9525">
            <a:solidFill>
              <a:srgbClr val="34345E"/>
            </a:solidFill>
            <a:prstDash val="solid"/>
          </a:ln>
        </p:spPr>
      </p:sp>
      <p:sp>
        <p:nvSpPr>
          <p:cNvPr id="4" name="Shape 2"/>
          <p:cNvSpPr/>
          <p:nvPr/>
        </p:nvSpPr>
        <p:spPr>
          <a:xfrm>
            <a:off x="960120" y="1965960"/>
            <a:ext cx="822960" cy="822960"/>
          </a:xfrm>
          <a:prstGeom prst="ellipse">
            <a:avLst/>
          </a:prstGeom>
          <a:solidFill>
            <a:srgbClr val="F472B6">
              <a:alpha val="22000"/>
            </a:srgbClr>
          </a:solidFill>
          <a:ln w="12700">
            <a:solidFill>
              <a:srgbClr val="F472B6"/>
            </a:solidFill>
            <a:prstDash val="solid"/>
          </a:ln>
        </p:spPr>
      </p:sp>
      <p:pic>
        <p:nvPicPr>
          <p:cNvPr id="5" name="Image 0" descr="preencoded.png">    </p:cNvPr>
          <p:cNvPicPr>
            <a:picLocks noChangeAspect="1"/>
          </p:cNvPicPr>
          <p:nvPr/>
        </p:nvPicPr>
        <p:blipFill>
          <a:blip r:embed="rId1"/>
          <a:stretch>
            <a:fillRect/>
          </a:stretch>
        </p:blipFill>
        <p:spPr>
          <a:xfrm>
            <a:off x="1165860" y="2171700"/>
            <a:ext cx="411480" cy="411480"/>
          </a:xfrm>
          <a:prstGeom prst="rect">
            <a:avLst/>
          </a:prstGeom>
        </p:spPr>
      </p:pic>
      <p:sp>
        <p:nvSpPr>
          <p:cNvPr id="6" name="Text 3"/>
          <p:cNvSpPr txBox="1"/>
          <p:nvPr/>
        </p:nvSpPr>
        <p:spPr>
          <a:xfrm>
            <a:off x="960120" y="3063240"/>
            <a:ext cx="2788920" cy="822960"/>
          </a:xfrm>
          <a:prstGeom prst="rect">
            <a:avLst/>
          </a:prstGeom>
          <a:noFill/>
          <a:ln/>
        </p:spPr>
        <p:txBody>
          <a:bodyPr wrap="square" lIns="0" tIns="0" rIns="0" bIns="0" rtlCol="0" anchor="t"/>
          <a:lstStyle/>
          <a:p>
            <a:pPr indent="0" marL="0">
              <a:buNone/>
            </a:pPr>
            <a:r>
              <a:rPr lang="en-US" sz="2200" b="1" dirty="0">
                <a:solidFill>
                  <a:srgbClr val="F1F5F9"/>
                </a:solidFill>
                <a:latin typeface="Calibri" pitchFamily="34" charset="0"/>
                <a:ea typeface="Calibri" pitchFamily="34" charset="-122"/>
                <a:cs typeface="Calibri" pitchFamily="34" charset="-120"/>
              </a:rPr>
              <a:t>Events are hard to find</a:t>
            </a:r>
            <a:endParaRPr lang="en-US" sz="2200" dirty="0"/>
          </a:p>
        </p:txBody>
      </p:sp>
      <p:sp>
        <p:nvSpPr>
          <p:cNvPr id="7" name="Text 4"/>
          <p:cNvSpPr txBox="1"/>
          <p:nvPr/>
        </p:nvSpPr>
        <p:spPr>
          <a:xfrm>
            <a:off x="960120" y="3840480"/>
            <a:ext cx="2788920" cy="914400"/>
          </a:xfrm>
          <a:prstGeom prst="rect">
            <a:avLst/>
          </a:prstGeom>
          <a:noFill/>
          <a:ln/>
        </p:spPr>
        <p:txBody>
          <a:bodyPr wrap="square" lIns="0" tIns="0" rIns="0" bIns="0" rtlCol="0" anchor="t"/>
          <a:lstStyle/>
          <a:p>
            <a:pPr indent="0" marL="0">
              <a:buNone/>
            </a:pPr>
            <a:r>
              <a:rPr lang="en-US" sz="1500" dirty="0">
                <a:solidFill>
                  <a:srgbClr val="A3AED0"/>
                </a:solidFill>
                <a:latin typeface="Calibri" pitchFamily="34" charset="0"/>
                <a:ea typeface="Calibri" pitchFamily="34" charset="-122"/>
                <a:cs typeface="Calibri" pitchFamily="34" charset="-120"/>
              </a:rPr>
              <a:t>Events are spread across posters, WhatsApp groups and word of mouth.</a:t>
            </a:r>
            <a:endParaRPr lang="en-US" sz="1500" dirty="0"/>
          </a:p>
        </p:txBody>
      </p:sp>
      <p:sp>
        <p:nvSpPr>
          <p:cNvPr id="8" name="Shape 5"/>
          <p:cNvSpPr/>
          <p:nvPr/>
        </p:nvSpPr>
        <p:spPr>
          <a:xfrm>
            <a:off x="4379976" y="1645920"/>
            <a:ext cx="3429000" cy="3246120"/>
          </a:xfrm>
          <a:prstGeom prst="roundRect">
            <a:avLst>
              <a:gd name="adj" fmla="val 3944"/>
            </a:avLst>
          </a:prstGeom>
          <a:solidFill>
            <a:srgbClr val="14142B"/>
          </a:solidFill>
          <a:ln w="9525">
            <a:solidFill>
              <a:srgbClr val="34345E"/>
            </a:solidFill>
            <a:prstDash val="solid"/>
          </a:ln>
        </p:spPr>
      </p:sp>
      <p:sp>
        <p:nvSpPr>
          <p:cNvPr id="9" name="Shape 6"/>
          <p:cNvSpPr/>
          <p:nvPr/>
        </p:nvSpPr>
        <p:spPr>
          <a:xfrm>
            <a:off x="4700016" y="1965960"/>
            <a:ext cx="822960" cy="822960"/>
          </a:xfrm>
          <a:prstGeom prst="ellipse">
            <a:avLst/>
          </a:prstGeom>
          <a:solidFill>
            <a:srgbClr val="F97316">
              <a:alpha val="22000"/>
            </a:srgbClr>
          </a:solidFill>
          <a:ln w="12700">
            <a:solidFill>
              <a:srgbClr val="F97316"/>
            </a:solidFill>
            <a:prstDash val="solid"/>
          </a:ln>
        </p:spPr>
      </p:sp>
      <p:pic>
        <p:nvPicPr>
          <p:cNvPr id="10" name="Image 1" descr="preencoded.png">    </p:cNvPr>
          <p:cNvPicPr>
            <a:picLocks noChangeAspect="1"/>
          </p:cNvPicPr>
          <p:nvPr/>
        </p:nvPicPr>
        <p:blipFill>
          <a:blip r:embed="rId2"/>
          <a:stretch>
            <a:fillRect/>
          </a:stretch>
        </p:blipFill>
        <p:spPr>
          <a:xfrm>
            <a:off x="4905756" y="2171700"/>
            <a:ext cx="411480" cy="411480"/>
          </a:xfrm>
          <a:prstGeom prst="rect">
            <a:avLst/>
          </a:prstGeom>
        </p:spPr>
      </p:pic>
      <p:sp>
        <p:nvSpPr>
          <p:cNvPr id="11" name="Text 7"/>
          <p:cNvSpPr txBox="1"/>
          <p:nvPr/>
        </p:nvSpPr>
        <p:spPr>
          <a:xfrm>
            <a:off x="4700016" y="3063240"/>
            <a:ext cx="2788920" cy="822960"/>
          </a:xfrm>
          <a:prstGeom prst="rect">
            <a:avLst/>
          </a:prstGeom>
          <a:noFill/>
          <a:ln/>
        </p:spPr>
        <p:txBody>
          <a:bodyPr wrap="square" lIns="0" tIns="0" rIns="0" bIns="0" rtlCol="0" anchor="t"/>
          <a:lstStyle/>
          <a:p>
            <a:pPr indent="0" marL="0">
              <a:buNone/>
            </a:pPr>
            <a:r>
              <a:rPr lang="en-US" sz="2200" b="1" dirty="0">
                <a:solidFill>
                  <a:srgbClr val="F1F5F9"/>
                </a:solidFill>
                <a:latin typeface="Calibri" pitchFamily="34" charset="0"/>
                <a:ea typeface="Calibri" pitchFamily="34" charset="-122"/>
                <a:cs typeface="Calibri" pitchFamily="34" charset="-120"/>
              </a:rPr>
              <a:t>Seats are a guess</a:t>
            </a:r>
            <a:endParaRPr lang="en-US" sz="2200" dirty="0"/>
          </a:p>
        </p:txBody>
      </p:sp>
      <p:sp>
        <p:nvSpPr>
          <p:cNvPr id="12" name="Text 8"/>
          <p:cNvSpPr txBox="1"/>
          <p:nvPr/>
        </p:nvSpPr>
        <p:spPr>
          <a:xfrm>
            <a:off x="4700016" y="3840480"/>
            <a:ext cx="2788920" cy="914400"/>
          </a:xfrm>
          <a:prstGeom prst="rect">
            <a:avLst/>
          </a:prstGeom>
          <a:noFill/>
          <a:ln/>
        </p:spPr>
        <p:txBody>
          <a:bodyPr wrap="square" lIns="0" tIns="0" rIns="0" bIns="0" rtlCol="0" anchor="t"/>
          <a:lstStyle/>
          <a:p>
            <a:pPr indent="0" marL="0">
              <a:buNone/>
            </a:pPr>
            <a:r>
              <a:rPr lang="en-US" sz="1500" dirty="0">
                <a:solidFill>
                  <a:srgbClr val="A3AED0"/>
                </a:solidFill>
                <a:latin typeface="Calibri" pitchFamily="34" charset="0"/>
                <a:ea typeface="Calibri" pitchFamily="34" charset="-122"/>
                <a:cs typeface="Calibri" pitchFamily="34" charset="-120"/>
              </a:rPr>
              <a:t>Students arrive to a full room, or skip an event that had plenty of space.</a:t>
            </a:r>
            <a:endParaRPr lang="en-US" sz="1500" dirty="0"/>
          </a:p>
        </p:txBody>
      </p:sp>
      <p:sp>
        <p:nvSpPr>
          <p:cNvPr id="13" name="Shape 9"/>
          <p:cNvSpPr/>
          <p:nvPr/>
        </p:nvSpPr>
        <p:spPr>
          <a:xfrm>
            <a:off x="8119872" y="1645920"/>
            <a:ext cx="3429000" cy="3246120"/>
          </a:xfrm>
          <a:prstGeom prst="roundRect">
            <a:avLst>
              <a:gd name="adj" fmla="val 3944"/>
            </a:avLst>
          </a:prstGeom>
          <a:solidFill>
            <a:srgbClr val="14142B"/>
          </a:solidFill>
          <a:ln w="9525">
            <a:solidFill>
              <a:srgbClr val="34345E"/>
            </a:solidFill>
            <a:prstDash val="solid"/>
          </a:ln>
        </p:spPr>
      </p:sp>
      <p:sp>
        <p:nvSpPr>
          <p:cNvPr id="14" name="Shape 10"/>
          <p:cNvSpPr/>
          <p:nvPr/>
        </p:nvSpPr>
        <p:spPr>
          <a:xfrm>
            <a:off x="8439912" y="1965960"/>
            <a:ext cx="822960" cy="822960"/>
          </a:xfrm>
          <a:prstGeom prst="ellipse">
            <a:avLst/>
          </a:prstGeom>
          <a:solidFill>
            <a:srgbClr val="A5B4FC">
              <a:alpha val="22000"/>
            </a:srgbClr>
          </a:solidFill>
          <a:ln w="12700">
            <a:solidFill>
              <a:srgbClr val="A5B4FC"/>
            </a:solidFill>
            <a:prstDash val="solid"/>
          </a:ln>
        </p:spPr>
      </p:sp>
      <p:pic>
        <p:nvPicPr>
          <p:cNvPr id="15" name="Image 2" descr="preencoded.png">    </p:cNvPr>
          <p:cNvPicPr>
            <a:picLocks noChangeAspect="1"/>
          </p:cNvPicPr>
          <p:nvPr/>
        </p:nvPicPr>
        <p:blipFill>
          <a:blip r:embed="rId3"/>
          <a:stretch>
            <a:fillRect/>
          </a:stretch>
        </p:blipFill>
        <p:spPr>
          <a:xfrm>
            <a:off x="8645652" y="2171700"/>
            <a:ext cx="411480" cy="411480"/>
          </a:xfrm>
          <a:prstGeom prst="rect">
            <a:avLst/>
          </a:prstGeom>
        </p:spPr>
      </p:pic>
      <p:sp>
        <p:nvSpPr>
          <p:cNvPr id="16" name="Text 11"/>
          <p:cNvSpPr txBox="1"/>
          <p:nvPr/>
        </p:nvSpPr>
        <p:spPr>
          <a:xfrm>
            <a:off x="8439912" y="3063240"/>
            <a:ext cx="2788920" cy="822960"/>
          </a:xfrm>
          <a:prstGeom prst="rect">
            <a:avLst/>
          </a:prstGeom>
          <a:noFill/>
          <a:ln/>
        </p:spPr>
        <p:txBody>
          <a:bodyPr wrap="square" lIns="0" tIns="0" rIns="0" bIns="0" rtlCol="0" anchor="t"/>
          <a:lstStyle/>
          <a:p>
            <a:pPr indent="0" marL="0">
              <a:buNone/>
            </a:pPr>
            <a:r>
              <a:rPr lang="en-US" sz="2200" b="1" dirty="0">
                <a:solidFill>
                  <a:srgbClr val="F1F5F9"/>
                </a:solidFill>
                <a:latin typeface="Calibri" pitchFamily="34" charset="0"/>
                <a:ea typeface="Calibri" pitchFamily="34" charset="-122"/>
                <a:cs typeface="Calibri" pitchFamily="34" charset="-120"/>
              </a:rPr>
              <a:t>Hosts fly blind</a:t>
            </a:r>
            <a:endParaRPr lang="en-US" sz="2200" dirty="0"/>
          </a:p>
        </p:txBody>
      </p:sp>
      <p:sp>
        <p:nvSpPr>
          <p:cNvPr id="17" name="Text 12"/>
          <p:cNvSpPr txBox="1"/>
          <p:nvPr/>
        </p:nvSpPr>
        <p:spPr>
          <a:xfrm>
            <a:off x="8439912" y="3840480"/>
            <a:ext cx="2788920" cy="914400"/>
          </a:xfrm>
          <a:prstGeom prst="rect">
            <a:avLst/>
          </a:prstGeom>
          <a:noFill/>
          <a:ln/>
        </p:spPr>
        <p:txBody>
          <a:bodyPr wrap="square" lIns="0" tIns="0" rIns="0" bIns="0" rtlCol="0" anchor="t"/>
          <a:lstStyle/>
          <a:p>
            <a:pPr indent="0" marL="0">
              <a:buNone/>
            </a:pPr>
            <a:r>
              <a:rPr lang="en-US" sz="1500" dirty="0">
                <a:solidFill>
                  <a:srgbClr val="A3AED0"/>
                </a:solidFill>
                <a:latin typeface="Calibri" pitchFamily="34" charset="0"/>
                <a:ea typeface="Calibri" pitchFamily="34" charset="-122"/>
                <a:cs typeface="Calibri" pitchFamily="34" charset="-120"/>
              </a:rPr>
              <a:t>Organisers cannot see who is coming, who is waiting or who really showed up.</a:t>
            </a:r>
            <a:endParaRPr lang="en-US" sz="1500" dirty="0"/>
          </a:p>
        </p:txBody>
      </p:sp>
      <p:sp>
        <p:nvSpPr>
          <p:cNvPr id="18" name="Text 13"/>
          <p:cNvSpPr txBox="1"/>
          <p:nvPr/>
        </p:nvSpPr>
        <p:spPr>
          <a:xfrm>
            <a:off x="640080" y="5349240"/>
            <a:ext cx="10881360" cy="640080"/>
          </a:xfrm>
          <a:prstGeom prst="rect">
            <a:avLst/>
          </a:prstGeom>
          <a:noFill/>
          <a:ln/>
        </p:spPr>
        <p:txBody>
          <a:bodyPr wrap="square" lIns="0" tIns="0" rIns="0" bIns="0" rtlCol="0" anchor="ctr"/>
          <a:lstStyle/>
          <a:p>
            <a:pPr indent="0" marL="0">
              <a:buNone/>
            </a:pPr>
            <a:r>
              <a:rPr lang="en-US" sz="2000" dirty="0">
                <a:solidFill>
                  <a:srgbClr val="A3AED0"/>
                </a:solidFill>
                <a:latin typeface="Calibri" pitchFamily="34" charset="0"/>
                <a:ea typeface="Calibri" pitchFamily="34" charset="-122"/>
                <a:cs typeface="Calibri" pitchFamily="34" charset="-120"/>
              </a:rPr>
              <a:t>The goal: </a:t>
            </a:r>
            <a:pPr indent="0" marL="0">
              <a:buNone/>
            </a:pPr>
            <a:r>
              <a:rPr lang="en-US" sz="2000" b="1" dirty="0">
                <a:solidFill>
                  <a:srgbClr val="F472B6"/>
                </a:solidFill>
                <a:latin typeface="Calibri" pitchFamily="34" charset="0"/>
                <a:ea typeface="Calibri" pitchFamily="34" charset="-122"/>
                <a:cs typeface="Calibri" pitchFamily="34" charset="-120"/>
              </a:rPr>
              <a:t>one place</a:t>
            </a:r>
            <a:pPr indent="0" marL="0">
              <a:buNone/>
            </a:pPr>
            <a:r>
              <a:rPr lang="en-US" sz="2000" dirty="0">
                <a:solidFill>
                  <a:srgbClr val="F1F5F9"/>
                </a:solidFill>
                <a:latin typeface="Calibri" pitchFamily="34" charset="0"/>
                <a:ea typeface="Calibri" pitchFamily="34" charset="-122"/>
                <a:cs typeface="Calibri" pitchFamily="34" charset="-120"/>
              </a:rPr>
              <a:t> where students find events and get a seat, and hosts stay in control.</a:t>
            </a:r>
            <a:endParaRPr lang="en-US" sz="2000" dirty="0"/>
          </a:p>
        </p:txBody>
      </p:sp>
      <p:sp>
        <p:nvSpPr>
          <p:cNvPr id="25" name="Slide Number Placeholder 0"/>
          <p:cNvSpPr>
            <a:spLocks noGrp="1"/>
          </p:cNvSpPr>
          <p:nvPr>
            <p:ph type="sldNum" sz="quarter" idx="4294967295"/>
          </p:nvPr>
        </p:nvSpPr>
        <p:spPr>
          <a:xfrm>
            <a:off x="11064240" y="640080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3AED0"/>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640080" y="457200"/>
            <a:ext cx="10908792" cy="777240"/>
          </a:xfrm>
          <a:prstGeom prst="rect">
            <a:avLst/>
          </a:prstGeom>
          <a:noFill/>
          <a:ln/>
        </p:spPr>
        <p:txBody>
          <a:bodyPr wrap="square" lIns="0" tIns="0" rIns="0" bIns="0" rtlCol="0" anchor="ctr"/>
          <a:lstStyle/>
          <a:p>
            <a:pPr algn="l" indent="0" marL="0">
              <a:buNone/>
            </a:pPr>
            <a:r>
              <a:rPr lang="en-US" sz="2600" dirty="0">
                <a:solidFill>
                  <a:srgbClr val="F1F5F9"/>
                </a:solidFill>
                <a:latin typeface="Arial Black" pitchFamily="34" charset="0"/>
                <a:ea typeface="Arial Black" pitchFamily="34" charset="-122"/>
                <a:cs typeface="Arial Black" pitchFamily="34" charset="-120"/>
              </a:rPr>
              <a:t>One place, four moments</a:t>
            </a:r>
            <a:endParaRPr lang="en-US" sz="2600" dirty="0"/>
          </a:p>
        </p:txBody>
      </p:sp>
      <p:sp>
        <p:nvSpPr>
          <p:cNvPr id="3" name="Shape 1"/>
          <p:cNvSpPr/>
          <p:nvPr/>
        </p:nvSpPr>
        <p:spPr>
          <a:xfrm>
            <a:off x="640080" y="1645920"/>
            <a:ext cx="2514600" cy="3200400"/>
          </a:xfrm>
          <a:prstGeom prst="roundRect">
            <a:avLst>
              <a:gd name="adj" fmla="val 5091"/>
            </a:avLst>
          </a:prstGeom>
          <a:solidFill>
            <a:srgbClr val="14142B"/>
          </a:solidFill>
          <a:ln w="9525">
            <a:solidFill>
              <a:srgbClr val="34345E"/>
            </a:solidFill>
            <a:prstDash val="solid"/>
          </a:ln>
        </p:spPr>
      </p:sp>
      <p:sp>
        <p:nvSpPr>
          <p:cNvPr id="4" name="Text 2"/>
          <p:cNvSpPr txBox="1"/>
          <p:nvPr/>
        </p:nvSpPr>
        <p:spPr>
          <a:xfrm>
            <a:off x="914400" y="1828800"/>
            <a:ext cx="1280160" cy="640080"/>
          </a:xfrm>
          <a:prstGeom prst="rect">
            <a:avLst/>
          </a:prstGeom>
          <a:noFill/>
          <a:ln/>
        </p:spPr>
        <p:txBody>
          <a:bodyPr wrap="square" lIns="0" tIns="0" rIns="0" bIns="0" rtlCol="0" anchor="ctr"/>
          <a:lstStyle/>
          <a:p>
            <a:pPr indent="0" marL="0">
              <a:buNone/>
            </a:pPr>
            <a:r>
              <a:rPr lang="en-US" sz="3400" dirty="0">
                <a:solidFill>
                  <a:srgbClr val="A5B4FC"/>
                </a:solidFill>
                <a:latin typeface="Arial Black" pitchFamily="34" charset="0"/>
                <a:ea typeface="Arial Black" pitchFamily="34" charset="-122"/>
                <a:cs typeface="Arial Black" pitchFamily="34" charset="-120"/>
              </a:rPr>
              <a:t>01</a:t>
            </a:r>
            <a:endParaRPr lang="en-US" sz="3400" dirty="0"/>
          </a:p>
        </p:txBody>
      </p:sp>
      <p:sp>
        <p:nvSpPr>
          <p:cNvPr id="5" name="Shape 3"/>
          <p:cNvSpPr/>
          <p:nvPr/>
        </p:nvSpPr>
        <p:spPr>
          <a:xfrm>
            <a:off x="2240280" y="1874520"/>
            <a:ext cx="640080" cy="640080"/>
          </a:xfrm>
          <a:prstGeom prst="ellipse">
            <a:avLst/>
          </a:prstGeom>
          <a:solidFill>
            <a:srgbClr val="A5B4FC">
              <a:alpha val="22000"/>
            </a:srgbClr>
          </a:solidFill>
          <a:ln w="12700">
            <a:solidFill>
              <a:srgbClr val="A5B4FC"/>
            </a:solidFill>
            <a:prstDash val="solid"/>
          </a:ln>
        </p:spPr>
      </p:sp>
      <p:pic>
        <p:nvPicPr>
          <p:cNvPr id="6" name="Image 0" descr="preencoded.png">    </p:cNvPr>
          <p:cNvPicPr>
            <a:picLocks noChangeAspect="1"/>
          </p:cNvPicPr>
          <p:nvPr/>
        </p:nvPicPr>
        <p:blipFill>
          <a:blip r:embed="rId1"/>
          <a:stretch>
            <a:fillRect/>
          </a:stretch>
        </p:blipFill>
        <p:spPr>
          <a:xfrm>
            <a:off x="2400300" y="2034540"/>
            <a:ext cx="320040" cy="320040"/>
          </a:xfrm>
          <a:prstGeom prst="rect">
            <a:avLst/>
          </a:prstGeom>
        </p:spPr>
      </p:pic>
      <p:sp>
        <p:nvSpPr>
          <p:cNvPr id="7" name="Text 4"/>
          <p:cNvSpPr txBox="1"/>
          <p:nvPr/>
        </p:nvSpPr>
        <p:spPr>
          <a:xfrm>
            <a:off x="914400" y="2743200"/>
            <a:ext cx="1965960" cy="457200"/>
          </a:xfrm>
          <a:prstGeom prst="rect">
            <a:avLst/>
          </a:prstGeom>
          <a:noFill/>
          <a:ln/>
        </p:spPr>
        <p:txBody>
          <a:bodyPr wrap="square" lIns="0" tIns="0" rIns="0" bIns="0" rtlCol="0" anchor="t"/>
          <a:lstStyle/>
          <a:p>
            <a:pPr indent="0" marL="0">
              <a:buNone/>
            </a:pPr>
            <a:r>
              <a:rPr lang="en-US" sz="2200" b="1" dirty="0">
                <a:solidFill>
                  <a:srgbClr val="F1F5F9"/>
                </a:solidFill>
                <a:latin typeface="Calibri" pitchFamily="34" charset="0"/>
                <a:ea typeface="Calibri" pitchFamily="34" charset="-122"/>
                <a:cs typeface="Calibri" pitchFamily="34" charset="-120"/>
              </a:rPr>
              <a:t>Discover</a:t>
            </a:r>
            <a:endParaRPr lang="en-US" sz="2200" dirty="0"/>
          </a:p>
        </p:txBody>
      </p:sp>
      <p:sp>
        <p:nvSpPr>
          <p:cNvPr id="8" name="Text 5"/>
          <p:cNvSpPr txBox="1"/>
          <p:nvPr/>
        </p:nvSpPr>
        <p:spPr>
          <a:xfrm>
            <a:off x="914400" y="3291840"/>
            <a:ext cx="1965960" cy="1371600"/>
          </a:xfrm>
          <a:prstGeom prst="rect">
            <a:avLst/>
          </a:prstGeom>
          <a:noFill/>
          <a:ln/>
        </p:spPr>
        <p:txBody>
          <a:bodyPr wrap="square" lIns="0" tIns="0" rIns="0" bIns="0" rtlCol="0" anchor="t"/>
          <a:lstStyle/>
          <a:p>
            <a:pPr indent="0" marL="0">
              <a:buNone/>
            </a:pPr>
            <a:r>
              <a:rPr lang="en-US" sz="1600" dirty="0">
                <a:solidFill>
                  <a:srgbClr val="A3AED0"/>
                </a:solidFill>
                <a:latin typeface="Calibri" pitchFamily="34" charset="0"/>
                <a:ea typeface="Calibri" pitchFamily="34" charset="-122"/>
                <a:cs typeface="Calibri" pitchFamily="34" charset="-120"/>
              </a:rPr>
              <a:t>Search, filter and sort upcoming events with live results.</a:t>
            </a:r>
            <a:endParaRPr lang="en-US" sz="1600" dirty="0"/>
          </a:p>
        </p:txBody>
      </p:sp>
      <p:sp>
        <p:nvSpPr>
          <p:cNvPr id="9" name="Shape 6"/>
          <p:cNvSpPr/>
          <p:nvPr/>
        </p:nvSpPr>
        <p:spPr>
          <a:xfrm>
            <a:off x="3182112" y="3063240"/>
            <a:ext cx="228600" cy="274320"/>
          </a:xfrm>
          <a:prstGeom prst="rightArrow">
            <a:avLst/>
          </a:prstGeom>
          <a:solidFill>
            <a:srgbClr val="A5B4FC"/>
          </a:solidFill>
          <a:ln w="12700">
            <a:solidFill>
              <a:srgbClr val="A5B4FC"/>
            </a:solidFill>
            <a:prstDash val="solid"/>
          </a:ln>
        </p:spPr>
      </p:sp>
      <p:sp>
        <p:nvSpPr>
          <p:cNvPr id="10" name="Shape 7"/>
          <p:cNvSpPr/>
          <p:nvPr/>
        </p:nvSpPr>
        <p:spPr>
          <a:xfrm>
            <a:off x="3438144" y="1645920"/>
            <a:ext cx="2514600" cy="3200400"/>
          </a:xfrm>
          <a:prstGeom prst="roundRect">
            <a:avLst>
              <a:gd name="adj" fmla="val 5091"/>
            </a:avLst>
          </a:prstGeom>
          <a:solidFill>
            <a:srgbClr val="14142B"/>
          </a:solidFill>
          <a:ln w="9525">
            <a:solidFill>
              <a:srgbClr val="34345E"/>
            </a:solidFill>
            <a:prstDash val="solid"/>
          </a:ln>
        </p:spPr>
      </p:sp>
      <p:sp>
        <p:nvSpPr>
          <p:cNvPr id="11" name="Text 8"/>
          <p:cNvSpPr txBox="1"/>
          <p:nvPr/>
        </p:nvSpPr>
        <p:spPr>
          <a:xfrm>
            <a:off x="3712464" y="1828800"/>
            <a:ext cx="1280160" cy="640080"/>
          </a:xfrm>
          <a:prstGeom prst="rect">
            <a:avLst/>
          </a:prstGeom>
          <a:noFill/>
          <a:ln/>
        </p:spPr>
        <p:txBody>
          <a:bodyPr wrap="square" lIns="0" tIns="0" rIns="0" bIns="0" rtlCol="0" anchor="ctr"/>
          <a:lstStyle/>
          <a:p>
            <a:pPr indent="0" marL="0">
              <a:buNone/>
            </a:pPr>
            <a:r>
              <a:rPr lang="en-US" sz="3400" dirty="0">
                <a:solidFill>
                  <a:srgbClr val="4ADE80"/>
                </a:solidFill>
                <a:latin typeface="Arial Black" pitchFamily="34" charset="0"/>
                <a:ea typeface="Arial Black" pitchFamily="34" charset="-122"/>
                <a:cs typeface="Arial Black" pitchFamily="34" charset="-120"/>
              </a:rPr>
              <a:t>02</a:t>
            </a:r>
            <a:endParaRPr lang="en-US" sz="3400" dirty="0"/>
          </a:p>
        </p:txBody>
      </p:sp>
      <p:sp>
        <p:nvSpPr>
          <p:cNvPr id="12" name="Shape 9"/>
          <p:cNvSpPr/>
          <p:nvPr/>
        </p:nvSpPr>
        <p:spPr>
          <a:xfrm>
            <a:off x="5038344" y="1874520"/>
            <a:ext cx="640080" cy="640080"/>
          </a:xfrm>
          <a:prstGeom prst="ellipse">
            <a:avLst/>
          </a:prstGeom>
          <a:solidFill>
            <a:srgbClr val="4ADE80">
              <a:alpha val="22000"/>
            </a:srgbClr>
          </a:solidFill>
          <a:ln w="12700">
            <a:solidFill>
              <a:srgbClr val="4ADE80"/>
            </a:solidFill>
            <a:prstDash val="solid"/>
          </a:ln>
        </p:spPr>
      </p:sp>
      <p:pic>
        <p:nvPicPr>
          <p:cNvPr id="13" name="Image 1" descr="preencoded.png">    </p:cNvPr>
          <p:cNvPicPr>
            <a:picLocks noChangeAspect="1"/>
          </p:cNvPicPr>
          <p:nvPr/>
        </p:nvPicPr>
        <p:blipFill>
          <a:blip r:embed="rId2"/>
          <a:stretch>
            <a:fillRect/>
          </a:stretch>
        </p:blipFill>
        <p:spPr>
          <a:xfrm>
            <a:off x="5198364" y="2034540"/>
            <a:ext cx="320040" cy="320040"/>
          </a:xfrm>
          <a:prstGeom prst="rect">
            <a:avLst/>
          </a:prstGeom>
        </p:spPr>
      </p:pic>
      <p:sp>
        <p:nvSpPr>
          <p:cNvPr id="14" name="Text 10"/>
          <p:cNvSpPr txBox="1"/>
          <p:nvPr/>
        </p:nvSpPr>
        <p:spPr>
          <a:xfrm>
            <a:off x="3712464" y="2743200"/>
            <a:ext cx="1965960" cy="457200"/>
          </a:xfrm>
          <a:prstGeom prst="rect">
            <a:avLst/>
          </a:prstGeom>
          <a:noFill/>
          <a:ln/>
        </p:spPr>
        <p:txBody>
          <a:bodyPr wrap="square" lIns="0" tIns="0" rIns="0" bIns="0" rtlCol="0" anchor="t"/>
          <a:lstStyle/>
          <a:p>
            <a:pPr indent="0" marL="0">
              <a:buNone/>
            </a:pPr>
            <a:r>
              <a:rPr lang="en-US" sz="2200" b="1" dirty="0">
                <a:solidFill>
                  <a:srgbClr val="F1F5F9"/>
                </a:solidFill>
                <a:latin typeface="Calibri" pitchFamily="34" charset="0"/>
                <a:ea typeface="Calibri" pitchFamily="34" charset="-122"/>
                <a:cs typeface="Calibri" pitchFamily="34" charset="-120"/>
              </a:rPr>
              <a:t>Register</a:t>
            </a:r>
            <a:endParaRPr lang="en-US" sz="2200" dirty="0"/>
          </a:p>
        </p:txBody>
      </p:sp>
      <p:sp>
        <p:nvSpPr>
          <p:cNvPr id="15" name="Text 11"/>
          <p:cNvSpPr txBox="1"/>
          <p:nvPr/>
        </p:nvSpPr>
        <p:spPr>
          <a:xfrm>
            <a:off x="3712464" y="3291840"/>
            <a:ext cx="1965960" cy="1371600"/>
          </a:xfrm>
          <a:prstGeom prst="rect">
            <a:avLst/>
          </a:prstGeom>
          <a:noFill/>
          <a:ln/>
        </p:spPr>
        <p:txBody>
          <a:bodyPr wrap="square" lIns="0" tIns="0" rIns="0" bIns="0" rtlCol="0" anchor="t"/>
          <a:lstStyle/>
          <a:p>
            <a:pPr indent="0" marL="0">
              <a:buNone/>
            </a:pPr>
            <a:r>
              <a:rPr lang="en-US" sz="1600" dirty="0">
                <a:solidFill>
                  <a:srgbClr val="A3AED0"/>
                </a:solidFill>
                <a:latin typeface="Calibri" pitchFamily="34" charset="0"/>
                <a:ea typeface="Calibri" pitchFamily="34" charset="-122"/>
                <a:cs typeface="Calibri" pitchFamily="34" charset="-120"/>
              </a:rPr>
              <a:t>One click takes a seat, and the seat meter updates at once.</a:t>
            </a:r>
            <a:endParaRPr lang="en-US" sz="1600" dirty="0"/>
          </a:p>
        </p:txBody>
      </p:sp>
      <p:sp>
        <p:nvSpPr>
          <p:cNvPr id="16" name="Shape 12"/>
          <p:cNvSpPr/>
          <p:nvPr/>
        </p:nvSpPr>
        <p:spPr>
          <a:xfrm>
            <a:off x="5980176" y="3063240"/>
            <a:ext cx="228600" cy="274320"/>
          </a:xfrm>
          <a:prstGeom prst="rightArrow">
            <a:avLst/>
          </a:prstGeom>
          <a:solidFill>
            <a:srgbClr val="A5B4FC"/>
          </a:solidFill>
          <a:ln w="12700">
            <a:solidFill>
              <a:srgbClr val="A5B4FC"/>
            </a:solidFill>
            <a:prstDash val="solid"/>
          </a:ln>
        </p:spPr>
      </p:sp>
      <p:sp>
        <p:nvSpPr>
          <p:cNvPr id="17" name="Shape 13"/>
          <p:cNvSpPr/>
          <p:nvPr/>
        </p:nvSpPr>
        <p:spPr>
          <a:xfrm>
            <a:off x="6236208" y="1645920"/>
            <a:ext cx="2514600" cy="3200400"/>
          </a:xfrm>
          <a:prstGeom prst="roundRect">
            <a:avLst>
              <a:gd name="adj" fmla="val 5091"/>
            </a:avLst>
          </a:prstGeom>
          <a:solidFill>
            <a:srgbClr val="14142B"/>
          </a:solidFill>
          <a:ln w="9525">
            <a:solidFill>
              <a:srgbClr val="34345E"/>
            </a:solidFill>
            <a:prstDash val="solid"/>
          </a:ln>
        </p:spPr>
      </p:sp>
      <p:sp>
        <p:nvSpPr>
          <p:cNvPr id="18" name="Text 14"/>
          <p:cNvSpPr txBox="1"/>
          <p:nvPr/>
        </p:nvSpPr>
        <p:spPr>
          <a:xfrm>
            <a:off x="6510528" y="1828800"/>
            <a:ext cx="1280160" cy="640080"/>
          </a:xfrm>
          <a:prstGeom prst="rect">
            <a:avLst/>
          </a:prstGeom>
          <a:noFill/>
          <a:ln/>
        </p:spPr>
        <p:txBody>
          <a:bodyPr wrap="square" lIns="0" tIns="0" rIns="0" bIns="0" rtlCol="0" anchor="ctr"/>
          <a:lstStyle/>
          <a:p>
            <a:pPr indent="0" marL="0">
              <a:buNone/>
            </a:pPr>
            <a:r>
              <a:rPr lang="en-US" sz="3400" dirty="0">
                <a:solidFill>
                  <a:srgbClr val="F97316"/>
                </a:solidFill>
                <a:latin typeface="Arial Black" pitchFamily="34" charset="0"/>
                <a:ea typeface="Arial Black" pitchFamily="34" charset="-122"/>
                <a:cs typeface="Arial Black" pitchFamily="34" charset="-120"/>
              </a:rPr>
              <a:t>03</a:t>
            </a:r>
            <a:endParaRPr lang="en-US" sz="3400" dirty="0"/>
          </a:p>
        </p:txBody>
      </p:sp>
      <p:sp>
        <p:nvSpPr>
          <p:cNvPr id="19" name="Shape 15"/>
          <p:cNvSpPr/>
          <p:nvPr/>
        </p:nvSpPr>
        <p:spPr>
          <a:xfrm>
            <a:off x="7836408" y="1874520"/>
            <a:ext cx="640080" cy="640080"/>
          </a:xfrm>
          <a:prstGeom prst="ellipse">
            <a:avLst/>
          </a:prstGeom>
          <a:solidFill>
            <a:srgbClr val="F97316">
              <a:alpha val="22000"/>
            </a:srgbClr>
          </a:solidFill>
          <a:ln w="12700">
            <a:solidFill>
              <a:srgbClr val="F97316"/>
            </a:solidFill>
            <a:prstDash val="solid"/>
          </a:ln>
        </p:spPr>
      </p:sp>
      <p:pic>
        <p:nvPicPr>
          <p:cNvPr id="20" name="Image 2" descr="preencoded.png">    </p:cNvPr>
          <p:cNvPicPr>
            <a:picLocks noChangeAspect="1"/>
          </p:cNvPicPr>
          <p:nvPr/>
        </p:nvPicPr>
        <p:blipFill>
          <a:blip r:embed="rId3"/>
          <a:stretch>
            <a:fillRect/>
          </a:stretch>
        </p:blipFill>
        <p:spPr>
          <a:xfrm>
            <a:off x="7996428" y="2034540"/>
            <a:ext cx="320040" cy="320040"/>
          </a:xfrm>
          <a:prstGeom prst="rect">
            <a:avLst/>
          </a:prstGeom>
        </p:spPr>
      </p:pic>
      <p:sp>
        <p:nvSpPr>
          <p:cNvPr id="21" name="Text 16"/>
          <p:cNvSpPr txBox="1"/>
          <p:nvPr/>
        </p:nvSpPr>
        <p:spPr>
          <a:xfrm>
            <a:off x="6510528" y="2743200"/>
            <a:ext cx="1965960" cy="457200"/>
          </a:xfrm>
          <a:prstGeom prst="rect">
            <a:avLst/>
          </a:prstGeom>
          <a:noFill/>
          <a:ln/>
        </p:spPr>
        <p:txBody>
          <a:bodyPr wrap="square" lIns="0" tIns="0" rIns="0" bIns="0" rtlCol="0" anchor="t"/>
          <a:lstStyle/>
          <a:p>
            <a:pPr indent="0" marL="0">
              <a:buNone/>
            </a:pPr>
            <a:r>
              <a:rPr lang="en-US" sz="2200" b="1" dirty="0">
                <a:solidFill>
                  <a:srgbClr val="F1F5F9"/>
                </a:solidFill>
                <a:latin typeface="Calibri" pitchFamily="34" charset="0"/>
                <a:ea typeface="Calibri" pitchFamily="34" charset="-122"/>
                <a:cs typeface="Calibri" pitchFamily="34" charset="-120"/>
              </a:rPr>
              <a:t>Wait</a:t>
            </a:r>
            <a:endParaRPr lang="en-US" sz="2200" dirty="0"/>
          </a:p>
        </p:txBody>
      </p:sp>
      <p:sp>
        <p:nvSpPr>
          <p:cNvPr id="22" name="Text 17"/>
          <p:cNvSpPr txBox="1"/>
          <p:nvPr/>
        </p:nvSpPr>
        <p:spPr>
          <a:xfrm>
            <a:off x="6510528" y="3291840"/>
            <a:ext cx="1965960" cy="1371600"/>
          </a:xfrm>
          <a:prstGeom prst="rect">
            <a:avLst/>
          </a:prstGeom>
          <a:noFill/>
          <a:ln/>
        </p:spPr>
        <p:txBody>
          <a:bodyPr wrap="square" lIns="0" tIns="0" rIns="0" bIns="0" rtlCol="0" anchor="t"/>
          <a:lstStyle/>
          <a:p>
            <a:pPr indent="0" marL="0">
              <a:buNone/>
            </a:pPr>
            <a:r>
              <a:rPr lang="en-US" sz="1600" dirty="0">
                <a:solidFill>
                  <a:srgbClr val="A3AED0"/>
                </a:solidFill>
                <a:latin typeface="Calibri" pitchFamily="34" charset="0"/>
                <a:ea typeface="Calibri" pitchFamily="34" charset="-122"/>
                <a:cs typeface="Calibri" pitchFamily="34" charset="-120"/>
              </a:rPr>
              <a:t>Event full? Join the queue. A cancellation promotes you automatically.</a:t>
            </a:r>
            <a:endParaRPr lang="en-US" sz="1600" dirty="0"/>
          </a:p>
        </p:txBody>
      </p:sp>
      <p:sp>
        <p:nvSpPr>
          <p:cNvPr id="23" name="Shape 18"/>
          <p:cNvSpPr/>
          <p:nvPr/>
        </p:nvSpPr>
        <p:spPr>
          <a:xfrm>
            <a:off x="8778240" y="3063240"/>
            <a:ext cx="228600" cy="274320"/>
          </a:xfrm>
          <a:prstGeom prst="rightArrow">
            <a:avLst/>
          </a:prstGeom>
          <a:solidFill>
            <a:srgbClr val="A5B4FC"/>
          </a:solidFill>
          <a:ln w="12700">
            <a:solidFill>
              <a:srgbClr val="A5B4FC"/>
            </a:solidFill>
            <a:prstDash val="solid"/>
          </a:ln>
        </p:spPr>
      </p:sp>
      <p:sp>
        <p:nvSpPr>
          <p:cNvPr id="24" name="Shape 19"/>
          <p:cNvSpPr/>
          <p:nvPr/>
        </p:nvSpPr>
        <p:spPr>
          <a:xfrm>
            <a:off x="9034272" y="1645920"/>
            <a:ext cx="2514600" cy="3200400"/>
          </a:xfrm>
          <a:prstGeom prst="roundRect">
            <a:avLst>
              <a:gd name="adj" fmla="val 5091"/>
            </a:avLst>
          </a:prstGeom>
          <a:solidFill>
            <a:srgbClr val="14142B"/>
          </a:solidFill>
          <a:ln w="9525">
            <a:solidFill>
              <a:srgbClr val="34345E"/>
            </a:solidFill>
            <a:prstDash val="solid"/>
          </a:ln>
        </p:spPr>
      </p:sp>
      <p:sp>
        <p:nvSpPr>
          <p:cNvPr id="25" name="Text 20"/>
          <p:cNvSpPr txBox="1"/>
          <p:nvPr/>
        </p:nvSpPr>
        <p:spPr>
          <a:xfrm>
            <a:off x="9308592" y="1828800"/>
            <a:ext cx="1280160" cy="640080"/>
          </a:xfrm>
          <a:prstGeom prst="rect">
            <a:avLst/>
          </a:prstGeom>
          <a:noFill/>
          <a:ln/>
        </p:spPr>
        <p:txBody>
          <a:bodyPr wrap="square" lIns="0" tIns="0" rIns="0" bIns="0" rtlCol="0" anchor="ctr"/>
          <a:lstStyle/>
          <a:p>
            <a:pPr indent="0" marL="0">
              <a:buNone/>
            </a:pPr>
            <a:r>
              <a:rPr lang="en-US" sz="3400" dirty="0">
                <a:solidFill>
                  <a:srgbClr val="F472B6"/>
                </a:solidFill>
                <a:latin typeface="Arial Black" pitchFamily="34" charset="0"/>
                <a:ea typeface="Arial Black" pitchFamily="34" charset="-122"/>
                <a:cs typeface="Arial Black" pitchFamily="34" charset="-120"/>
              </a:rPr>
              <a:t>04</a:t>
            </a:r>
            <a:endParaRPr lang="en-US" sz="3400" dirty="0"/>
          </a:p>
        </p:txBody>
      </p:sp>
      <p:sp>
        <p:nvSpPr>
          <p:cNvPr id="26" name="Shape 21"/>
          <p:cNvSpPr/>
          <p:nvPr/>
        </p:nvSpPr>
        <p:spPr>
          <a:xfrm>
            <a:off x="10634472" y="1874520"/>
            <a:ext cx="640080" cy="640080"/>
          </a:xfrm>
          <a:prstGeom prst="ellipse">
            <a:avLst/>
          </a:prstGeom>
          <a:solidFill>
            <a:srgbClr val="F472B6">
              <a:alpha val="22000"/>
            </a:srgbClr>
          </a:solidFill>
          <a:ln w="12700">
            <a:solidFill>
              <a:srgbClr val="F472B6"/>
            </a:solidFill>
            <a:prstDash val="solid"/>
          </a:ln>
        </p:spPr>
      </p:sp>
      <p:pic>
        <p:nvPicPr>
          <p:cNvPr id="27" name="Image 3" descr="preencoded.png">    </p:cNvPr>
          <p:cNvPicPr>
            <a:picLocks noChangeAspect="1"/>
          </p:cNvPicPr>
          <p:nvPr/>
        </p:nvPicPr>
        <p:blipFill>
          <a:blip r:embed="rId4"/>
          <a:stretch>
            <a:fillRect/>
          </a:stretch>
        </p:blipFill>
        <p:spPr>
          <a:xfrm>
            <a:off x="10794492" y="2034540"/>
            <a:ext cx="320040" cy="320040"/>
          </a:xfrm>
          <a:prstGeom prst="rect">
            <a:avLst/>
          </a:prstGeom>
        </p:spPr>
      </p:pic>
      <p:sp>
        <p:nvSpPr>
          <p:cNvPr id="28" name="Text 22"/>
          <p:cNvSpPr txBox="1"/>
          <p:nvPr/>
        </p:nvSpPr>
        <p:spPr>
          <a:xfrm>
            <a:off x="9308592" y="2743200"/>
            <a:ext cx="1965960" cy="457200"/>
          </a:xfrm>
          <a:prstGeom prst="rect">
            <a:avLst/>
          </a:prstGeom>
          <a:noFill/>
          <a:ln/>
        </p:spPr>
        <p:txBody>
          <a:bodyPr wrap="square" lIns="0" tIns="0" rIns="0" bIns="0" rtlCol="0" anchor="t"/>
          <a:lstStyle/>
          <a:p>
            <a:pPr indent="0" marL="0">
              <a:buNone/>
            </a:pPr>
            <a:r>
              <a:rPr lang="en-US" sz="2200" b="1" dirty="0">
                <a:solidFill>
                  <a:srgbClr val="F1F5F9"/>
                </a:solidFill>
                <a:latin typeface="Calibri" pitchFamily="34" charset="0"/>
                <a:ea typeface="Calibri" pitchFamily="34" charset="-122"/>
                <a:cs typeface="Calibri" pitchFamily="34" charset="-120"/>
              </a:rPr>
              <a:t>Check in</a:t>
            </a:r>
            <a:endParaRPr lang="en-US" sz="2200" dirty="0"/>
          </a:p>
        </p:txBody>
      </p:sp>
      <p:sp>
        <p:nvSpPr>
          <p:cNvPr id="29" name="Text 23"/>
          <p:cNvSpPr txBox="1"/>
          <p:nvPr/>
        </p:nvSpPr>
        <p:spPr>
          <a:xfrm>
            <a:off x="9308592" y="3291840"/>
            <a:ext cx="1965960" cy="1371600"/>
          </a:xfrm>
          <a:prstGeom prst="rect">
            <a:avLst/>
          </a:prstGeom>
          <a:noFill/>
          <a:ln/>
        </p:spPr>
        <p:txBody>
          <a:bodyPr wrap="square" lIns="0" tIns="0" rIns="0" bIns="0" rtlCol="0" anchor="t"/>
          <a:lstStyle/>
          <a:p>
            <a:pPr indent="0" marL="0">
              <a:buNone/>
            </a:pPr>
            <a:r>
              <a:rPr lang="en-US" sz="1600" dirty="0">
                <a:solidFill>
                  <a:srgbClr val="A3AED0"/>
                </a:solidFill>
                <a:latin typeface="Calibri" pitchFamily="34" charset="0"/>
                <a:ea typeface="Calibri" pitchFamily="34" charset="-122"/>
                <a:cs typeface="Calibri" pitchFamily="34" charset="-120"/>
              </a:rPr>
              <a:t>Hosts tick people off at the door and download a CSV.</a:t>
            </a:r>
            <a:endParaRPr lang="en-US" sz="1600" dirty="0"/>
          </a:p>
        </p:txBody>
      </p:sp>
      <p:sp>
        <p:nvSpPr>
          <p:cNvPr id="30" name="Shape 24"/>
          <p:cNvSpPr/>
          <p:nvPr/>
        </p:nvSpPr>
        <p:spPr>
          <a:xfrm>
            <a:off x="640080" y="5349240"/>
            <a:ext cx="2011680" cy="384048"/>
          </a:xfrm>
          <a:prstGeom prst="roundRect">
            <a:avLst>
              <a:gd name="adj" fmla="val 50000"/>
            </a:avLst>
          </a:prstGeom>
          <a:solidFill>
            <a:srgbClr val="1B1B38"/>
          </a:solidFill>
          <a:ln w="12700">
            <a:solidFill>
              <a:srgbClr val="34345E"/>
            </a:solidFill>
            <a:prstDash val="solid"/>
          </a:ln>
        </p:spPr>
      </p:sp>
      <p:sp>
        <p:nvSpPr>
          <p:cNvPr id="31" name="Text 25"/>
          <p:cNvSpPr txBox="1"/>
          <p:nvPr/>
        </p:nvSpPr>
        <p:spPr>
          <a:xfrm>
            <a:off x="640080" y="5349240"/>
            <a:ext cx="2011680" cy="384048"/>
          </a:xfrm>
          <a:prstGeom prst="rect">
            <a:avLst/>
          </a:prstGeom>
          <a:noFill/>
          <a:ln/>
        </p:spPr>
        <p:txBody>
          <a:bodyPr wrap="square" lIns="0" tIns="0" rIns="0" bIns="0" rtlCol="0" anchor="ctr"/>
          <a:lstStyle/>
          <a:p>
            <a:pPr algn="ctr" indent="0" marL="0">
              <a:buNone/>
            </a:pPr>
            <a:r>
              <a:rPr lang="en-US" sz="1400" b="1" dirty="0">
                <a:solidFill>
                  <a:srgbClr val="A5B4FC"/>
                </a:solidFill>
                <a:latin typeface="Calibri" pitchFamily="34" charset="0"/>
                <a:ea typeface="Calibri" pitchFamily="34" charset="-122"/>
                <a:cs typeface="Calibri" pitchFamily="34" charset="-120"/>
              </a:rPr>
              <a:t>Notifications</a:t>
            </a:r>
            <a:endParaRPr lang="en-US" sz="1400" dirty="0"/>
          </a:p>
        </p:txBody>
      </p:sp>
      <p:sp>
        <p:nvSpPr>
          <p:cNvPr id="32" name="Shape 26"/>
          <p:cNvSpPr/>
          <p:nvPr/>
        </p:nvSpPr>
        <p:spPr>
          <a:xfrm>
            <a:off x="2880360" y="5349240"/>
            <a:ext cx="2011680" cy="384048"/>
          </a:xfrm>
          <a:prstGeom prst="roundRect">
            <a:avLst>
              <a:gd name="adj" fmla="val 50000"/>
            </a:avLst>
          </a:prstGeom>
          <a:solidFill>
            <a:srgbClr val="1B1B38"/>
          </a:solidFill>
          <a:ln w="12700">
            <a:solidFill>
              <a:srgbClr val="34345E"/>
            </a:solidFill>
            <a:prstDash val="solid"/>
          </a:ln>
        </p:spPr>
      </p:sp>
      <p:sp>
        <p:nvSpPr>
          <p:cNvPr id="33" name="Text 27"/>
          <p:cNvSpPr txBox="1"/>
          <p:nvPr/>
        </p:nvSpPr>
        <p:spPr>
          <a:xfrm>
            <a:off x="2880360" y="5349240"/>
            <a:ext cx="2011680" cy="384048"/>
          </a:xfrm>
          <a:prstGeom prst="rect">
            <a:avLst/>
          </a:prstGeom>
          <a:noFill/>
          <a:ln/>
        </p:spPr>
        <p:txBody>
          <a:bodyPr wrap="square" lIns="0" tIns="0" rIns="0" bIns="0" rtlCol="0" anchor="ctr"/>
          <a:lstStyle/>
          <a:p>
            <a:pPr algn="ctr" indent="0" marL="0">
              <a:buNone/>
            </a:pPr>
            <a:r>
              <a:rPr lang="en-US" sz="1400" b="1" dirty="0">
                <a:solidFill>
                  <a:srgbClr val="A5B4FC"/>
                </a:solidFill>
                <a:latin typeface="Calibri" pitchFamily="34" charset="0"/>
                <a:ea typeface="Calibri" pitchFamily="34" charset="-122"/>
                <a:cs typeface="Calibri" pitchFamily="34" charset="-120"/>
              </a:rPr>
              <a:t>Saved events</a:t>
            </a:r>
            <a:endParaRPr lang="en-US" sz="1400" dirty="0"/>
          </a:p>
        </p:txBody>
      </p:sp>
      <p:sp>
        <p:nvSpPr>
          <p:cNvPr id="34" name="Shape 28"/>
          <p:cNvSpPr/>
          <p:nvPr/>
        </p:nvSpPr>
        <p:spPr>
          <a:xfrm>
            <a:off x="5120640" y="5349240"/>
            <a:ext cx="2286000" cy="384048"/>
          </a:xfrm>
          <a:prstGeom prst="roundRect">
            <a:avLst>
              <a:gd name="adj" fmla="val 50000"/>
            </a:avLst>
          </a:prstGeom>
          <a:solidFill>
            <a:srgbClr val="1B1B38"/>
          </a:solidFill>
          <a:ln w="12700">
            <a:solidFill>
              <a:srgbClr val="34345E"/>
            </a:solidFill>
            <a:prstDash val="solid"/>
          </a:ln>
        </p:spPr>
      </p:sp>
      <p:sp>
        <p:nvSpPr>
          <p:cNvPr id="35" name="Text 29"/>
          <p:cNvSpPr txBox="1"/>
          <p:nvPr/>
        </p:nvSpPr>
        <p:spPr>
          <a:xfrm>
            <a:off x="5120640" y="5349240"/>
            <a:ext cx="2286000" cy="384048"/>
          </a:xfrm>
          <a:prstGeom prst="rect">
            <a:avLst/>
          </a:prstGeom>
          <a:noFill/>
          <a:ln/>
        </p:spPr>
        <p:txBody>
          <a:bodyPr wrap="square" lIns="0" tIns="0" rIns="0" bIns="0" rtlCol="0" anchor="ctr"/>
          <a:lstStyle/>
          <a:p>
            <a:pPr algn="ctr" indent="0" marL="0">
              <a:buNone/>
            </a:pPr>
            <a:r>
              <a:rPr lang="en-US" sz="1400" b="1" dirty="0">
                <a:solidFill>
                  <a:srgbClr val="A5B4FC"/>
                </a:solidFill>
                <a:latin typeface="Calibri" pitchFamily="34" charset="0"/>
                <a:ea typeface="Calibri" pitchFamily="34" charset="-122"/>
                <a:cs typeface="Calibri" pitchFamily="34" charset="-120"/>
              </a:rPr>
              <a:t>Add to calendar</a:t>
            </a:r>
            <a:endParaRPr lang="en-US" sz="1400" dirty="0"/>
          </a:p>
        </p:txBody>
      </p:sp>
      <p:sp>
        <p:nvSpPr>
          <p:cNvPr id="36" name="Shape 30"/>
          <p:cNvSpPr/>
          <p:nvPr/>
        </p:nvSpPr>
        <p:spPr>
          <a:xfrm>
            <a:off x="7635240" y="5349240"/>
            <a:ext cx="2926080" cy="384048"/>
          </a:xfrm>
          <a:prstGeom prst="roundRect">
            <a:avLst>
              <a:gd name="adj" fmla="val 50000"/>
            </a:avLst>
          </a:prstGeom>
          <a:solidFill>
            <a:srgbClr val="1B1B38"/>
          </a:solidFill>
          <a:ln w="12700">
            <a:solidFill>
              <a:srgbClr val="34345E"/>
            </a:solidFill>
            <a:prstDash val="solid"/>
          </a:ln>
        </p:spPr>
      </p:sp>
      <p:sp>
        <p:nvSpPr>
          <p:cNvPr id="37" name="Text 31"/>
          <p:cNvSpPr txBox="1"/>
          <p:nvPr/>
        </p:nvSpPr>
        <p:spPr>
          <a:xfrm>
            <a:off x="7635240" y="5349240"/>
            <a:ext cx="2926080" cy="384048"/>
          </a:xfrm>
          <a:prstGeom prst="rect">
            <a:avLst/>
          </a:prstGeom>
          <a:noFill/>
          <a:ln/>
        </p:spPr>
        <p:txBody>
          <a:bodyPr wrap="square" lIns="0" tIns="0" rIns="0" bIns="0" rtlCol="0" anchor="ctr"/>
          <a:lstStyle/>
          <a:p>
            <a:pPr algn="ctr" indent="0" marL="0">
              <a:buNone/>
            </a:pPr>
            <a:r>
              <a:rPr lang="en-US" sz="1400" b="1" dirty="0">
                <a:solidFill>
                  <a:srgbClr val="A5B4FC"/>
                </a:solidFill>
                <a:latin typeface="Calibri" pitchFamily="34" charset="0"/>
                <a:ea typeface="Calibri" pitchFamily="34" charset="-122"/>
                <a:cs typeface="Calibri" pitchFamily="34" charset="-120"/>
              </a:rPr>
              <a:t>Dark and light themes</a:t>
            </a:r>
            <a:endParaRPr lang="en-US" sz="1400" dirty="0"/>
          </a:p>
        </p:txBody>
      </p:sp>
      <p:sp>
        <p:nvSpPr>
          <p:cNvPr id="25" name="Slide Number Placeholder 0"/>
          <p:cNvSpPr>
            <a:spLocks noGrp="1"/>
          </p:cNvSpPr>
          <p:nvPr>
            <p:ph type="sldNum" sz="quarter" idx="4294967295"/>
          </p:nvPr>
        </p:nvSpPr>
        <p:spPr>
          <a:xfrm>
            <a:off x="11064240" y="640080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3AED0"/>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640080" y="457200"/>
            <a:ext cx="10908792" cy="777240"/>
          </a:xfrm>
          <a:prstGeom prst="rect">
            <a:avLst/>
          </a:prstGeom>
          <a:noFill/>
          <a:ln/>
        </p:spPr>
        <p:txBody>
          <a:bodyPr wrap="square" lIns="0" tIns="0" rIns="0" bIns="0" rtlCol="0" anchor="ctr"/>
          <a:lstStyle/>
          <a:p>
            <a:pPr algn="l" indent="0" marL="0">
              <a:buNone/>
            </a:pPr>
            <a:r>
              <a:rPr lang="en-US" sz="2600" dirty="0">
                <a:solidFill>
                  <a:srgbClr val="F1F5F9"/>
                </a:solidFill>
                <a:latin typeface="Arial Black" pitchFamily="34" charset="0"/>
                <a:ea typeface="Arial Black" pitchFamily="34" charset="-122"/>
                <a:cs typeface="Arial Black" pitchFamily="34" charset="-120"/>
              </a:rPr>
              <a:t>Discover: search that keeps up</a:t>
            </a:r>
            <a:endParaRPr lang="en-US" sz="2600" dirty="0"/>
          </a:p>
        </p:txBody>
      </p:sp>
      <p:sp>
        <p:nvSpPr>
          <p:cNvPr id="3" name="Shape 1"/>
          <p:cNvSpPr/>
          <p:nvPr/>
        </p:nvSpPr>
        <p:spPr>
          <a:xfrm>
            <a:off x="640080" y="1371600"/>
            <a:ext cx="6035040" cy="4953191"/>
          </a:xfrm>
          <a:prstGeom prst="roundRect">
            <a:avLst>
              <a:gd name="adj" fmla="val 2215"/>
            </a:avLst>
          </a:prstGeom>
          <a:solidFill>
            <a:srgbClr val="1B1B38"/>
          </a:solidFill>
          <a:ln w="12700">
            <a:solidFill>
              <a:srgbClr val="34345E"/>
            </a:solidFill>
            <a:prstDash val="solid"/>
          </a:ln>
        </p:spPr>
      </p:sp>
      <p:sp>
        <p:nvSpPr>
          <p:cNvPr id="4" name="Shape 2"/>
          <p:cNvSpPr/>
          <p:nvPr/>
        </p:nvSpPr>
        <p:spPr>
          <a:xfrm>
            <a:off x="804672" y="1453896"/>
            <a:ext cx="109728" cy="109728"/>
          </a:xfrm>
          <a:prstGeom prst="ellipse">
            <a:avLst/>
          </a:prstGeom>
          <a:solidFill>
            <a:srgbClr val="F87171"/>
          </a:solidFill>
          <a:ln w="12700">
            <a:solidFill>
              <a:srgbClr val="F87171"/>
            </a:solidFill>
            <a:prstDash val="solid"/>
          </a:ln>
        </p:spPr>
      </p:sp>
      <p:sp>
        <p:nvSpPr>
          <p:cNvPr id="5" name="Shape 3"/>
          <p:cNvSpPr/>
          <p:nvPr/>
        </p:nvSpPr>
        <p:spPr>
          <a:xfrm>
            <a:off x="987552" y="1453896"/>
            <a:ext cx="109728" cy="109728"/>
          </a:xfrm>
          <a:prstGeom prst="ellipse">
            <a:avLst/>
          </a:prstGeom>
          <a:solidFill>
            <a:srgbClr val="FBBF24"/>
          </a:solidFill>
          <a:ln w="12700">
            <a:solidFill>
              <a:srgbClr val="FBBF24"/>
            </a:solidFill>
            <a:prstDash val="solid"/>
          </a:ln>
        </p:spPr>
      </p:sp>
      <p:sp>
        <p:nvSpPr>
          <p:cNvPr id="6" name="Shape 4"/>
          <p:cNvSpPr/>
          <p:nvPr/>
        </p:nvSpPr>
        <p:spPr>
          <a:xfrm>
            <a:off x="1170432" y="1453896"/>
            <a:ext cx="109728" cy="109728"/>
          </a:xfrm>
          <a:prstGeom prst="ellipse">
            <a:avLst/>
          </a:prstGeom>
          <a:solidFill>
            <a:srgbClr val="4ADE80"/>
          </a:solidFill>
          <a:ln w="12700">
            <a:solidFill>
              <a:srgbClr val="4ADE80"/>
            </a:solidFill>
            <a:prstDash val="solid"/>
          </a:ln>
        </p:spPr>
      </p:sp>
      <p:pic>
        <p:nvPicPr>
          <p:cNvPr id="7" name="Image 0" descr="Home page with search, filters and event cards">    </p:cNvPr>
          <p:cNvPicPr>
            <a:picLocks noChangeAspect="1"/>
          </p:cNvPicPr>
          <p:nvPr/>
        </p:nvPicPr>
        <p:blipFill>
          <a:blip r:embed="rId1"/>
          <a:stretch>
            <a:fillRect/>
          </a:stretch>
        </p:blipFill>
        <p:spPr>
          <a:xfrm>
            <a:off x="704088" y="1645920"/>
            <a:ext cx="5907024" cy="4614863"/>
          </a:xfrm>
          <a:prstGeom prst="rect">
            <a:avLst/>
          </a:prstGeom>
        </p:spPr>
      </p:pic>
      <p:sp>
        <p:nvSpPr>
          <p:cNvPr id="8" name="Shape 5"/>
          <p:cNvSpPr/>
          <p:nvPr/>
        </p:nvSpPr>
        <p:spPr>
          <a:xfrm>
            <a:off x="5163503" y="3382566"/>
            <a:ext cx="310896" cy="310896"/>
          </a:xfrm>
          <a:prstGeom prst="ellipse">
            <a:avLst/>
          </a:prstGeom>
          <a:solidFill>
            <a:srgbClr val="F97316"/>
          </a:solidFill>
          <a:ln w="19050">
            <a:solidFill>
              <a:srgbClr val="0B0B1A"/>
            </a:solidFill>
            <a:prstDash val="solid"/>
          </a:ln>
        </p:spPr>
      </p:sp>
      <p:sp>
        <p:nvSpPr>
          <p:cNvPr id="9" name="Text 6"/>
          <p:cNvSpPr txBox="1"/>
          <p:nvPr/>
        </p:nvSpPr>
        <p:spPr>
          <a:xfrm>
            <a:off x="5163503" y="3382566"/>
            <a:ext cx="310896" cy="310896"/>
          </a:xfrm>
          <a:prstGeom prst="rect">
            <a:avLst/>
          </a:prstGeom>
          <a:noFill/>
          <a:ln/>
        </p:spPr>
        <p:txBody>
          <a:bodyPr wrap="square" lIns="0" tIns="0" rIns="0" bIns="0" rtlCol="0" anchor="ctr"/>
          <a:lstStyle/>
          <a:p>
            <a:pPr algn="ctr" indent="0" marL="0">
              <a:buNone/>
            </a:pPr>
            <a:r>
              <a:rPr lang="en-US" sz="1200" dirty="0">
                <a:solidFill>
                  <a:srgbClr val="0B0B1A"/>
                </a:solidFill>
                <a:latin typeface="Arial Black" pitchFamily="34" charset="0"/>
                <a:ea typeface="Arial Black" pitchFamily="34" charset="-122"/>
                <a:cs typeface="Arial Black" pitchFamily="34" charset="-120"/>
              </a:rPr>
              <a:t>1</a:t>
            </a:r>
            <a:endParaRPr lang="en-US" sz="1200" dirty="0"/>
          </a:p>
        </p:txBody>
      </p:sp>
      <p:sp>
        <p:nvSpPr>
          <p:cNvPr id="10" name="Shape 7"/>
          <p:cNvSpPr/>
          <p:nvPr/>
        </p:nvSpPr>
        <p:spPr>
          <a:xfrm>
            <a:off x="3779044" y="3784059"/>
            <a:ext cx="310896" cy="310896"/>
          </a:xfrm>
          <a:prstGeom prst="ellipse">
            <a:avLst/>
          </a:prstGeom>
          <a:solidFill>
            <a:srgbClr val="F97316"/>
          </a:solidFill>
          <a:ln w="19050">
            <a:solidFill>
              <a:srgbClr val="0B0B1A"/>
            </a:solidFill>
            <a:prstDash val="solid"/>
          </a:ln>
        </p:spPr>
      </p:sp>
      <p:sp>
        <p:nvSpPr>
          <p:cNvPr id="11" name="Text 8"/>
          <p:cNvSpPr txBox="1"/>
          <p:nvPr/>
        </p:nvSpPr>
        <p:spPr>
          <a:xfrm>
            <a:off x="3779044" y="3784059"/>
            <a:ext cx="310896" cy="310896"/>
          </a:xfrm>
          <a:prstGeom prst="rect">
            <a:avLst/>
          </a:prstGeom>
          <a:noFill/>
          <a:ln/>
        </p:spPr>
        <p:txBody>
          <a:bodyPr wrap="square" lIns="0" tIns="0" rIns="0" bIns="0" rtlCol="0" anchor="ctr"/>
          <a:lstStyle/>
          <a:p>
            <a:pPr algn="ctr" indent="0" marL="0">
              <a:buNone/>
            </a:pPr>
            <a:r>
              <a:rPr lang="en-US" sz="1200" dirty="0">
                <a:solidFill>
                  <a:srgbClr val="0B0B1A"/>
                </a:solidFill>
                <a:latin typeface="Arial Black" pitchFamily="34" charset="0"/>
                <a:ea typeface="Arial Black" pitchFamily="34" charset="-122"/>
                <a:cs typeface="Arial Black" pitchFamily="34" charset="-120"/>
              </a:rPr>
              <a:t>2</a:t>
            </a:r>
            <a:endParaRPr lang="en-US" sz="1200" dirty="0"/>
          </a:p>
        </p:txBody>
      </p:sp>
      <p:sp>
        <p:nvSpPr>
          <p:cNvPr id="12" name="Shape 9"/>
          <p:cNvSpPr/>
          <p:nvPr/>
        </p:nvSpPr>
        <p:spPr>
          <a:xfrm>
            <a:off x="1711585" y="5376186"/>
            <a:ext cx="310896" cy="310896"/>
          </a:xfrm>
          <a:prstGeom prst="ellipse">
            <a:avLst/>
          </a:prstGeom>
          <a:solidFill>
            <a:srgbClr val="F97316"/>
          </a:solidFill>
          <a:ln w="19050">
            <a:solidFill>
              <a:srgbClr val="0B0B1A"/>
            </a:solidFill>
            <a:prstDash val="solid"/>
          </a:ln>
        </p:spPr>
      </p:sp>
      <p:sp>
        <p:nvSpPr>
          <p:cNvPr id="13" name="Text 10"/>
          <p:cNvSpPr txBox="1"/>
          <p:nvPr/>
        </p:nvSpPr>
        <p:spPr>
          <a:xfrm>
            <a:off x="1711585" y="5376186"/>
            <a:ext cx="310896" cy="310896"/>
          </a:xfrm>
          <a:prstGeom prst="rect">
            <a:avLst/>
          </a:prstGeom>
          <a:noFill/>
          <a:ln/>
        </p:spPr>
        <p:txBody>
          <a:bodyPr wrap="square" lIns="0" tIns="0" rIns="0" bIns="0" rtlCol="0" anchor="ctr"/>
          <a:lstStyle/>
          <a:p>
            <a:pPr algn="ctr" indent="0" marL="0">
              <a:buNone/>
            </a:pPr>
            <a:r>
              <a:rPr lang="en-US" sz="1200" dirty="0">
                <a:solidFill>
                  <a:srgbClr val="0B0B1A"/>
                </a:solidFill>
                <a:latin typeface="Arial Black" pitchFamily="34" charset="0"/>
                <a:ea typeface="Arial Black" pitchFamily="34" charset="-122"/>
                <a:cs typeface="Arial Black" pitchFamily="34" charset="-120"/>
              </a:rPr>
              <a:t>3</a:t>
            </a:r>
            <a:endParaRPr lang="en-US" sz="1200" dirty="0"/>
          </a:p>
        </p:txBody>
      </p:sp>
      <p:sp>
        <p:nvSpPr>
          <p:cNvPr id="14" name="Shape 11"/>
          <p:cNvSpPr/>
          <p:nvPr/>
        </p:nvSpPr>
        <p:spPr>
          <a:xfrm>
            <a:off x="2426889" y="4443984"/>
            <a:ext cx="310896" cy="310896"/>
          </a:xfrm>
          <a:prstGeom prst="ellipse">
            <a:avLst/>
          </a:prstGeom>
          <a:solidFill>
            <a:srgbClr val="F97316"/>
          </a:solidFill>
          <a:ln w="19050">
            <a:solidFill>
              <a:srgbClr val="0B0B1A"/>
            </a:solidFill>
            <a:prstDash val="solid"/>
          </a:ln>
        </p:spPr>
      </p:sp>
      <p:sp>
        <p:nvSpPr>
          <p:cNvPr id="15" name="Text 12"/>
          <p:cNvSpPr txBox="1"/>
          <p:nvPr/>
        </p:nvSpPr>
        <p:spPr>
          <a:xfrm>
            <a:off x="2426889" y="4443984"/>
            <a:ext cx="310896" cy="310896"/>
          </a:xfrm>
          <a:prstGeom prst="rect">
            <a:avLst/>
          </a:prstGeom>
          <a:noFill/>
          <a:ln/>
        </p:spPr>
        <p:txBody>
          <a:bodyPr wrap="square" lIns="0" tIns="0" rIns="0" bIns="0" rtlCol="0" anchor="ctr"/>
          <a:lstStyle/>
          <a:p>
            <a:pPr algn="ctr" indent="0" marL="0">
              <a:buNone/>
            </a:pPr>
            <a:r>
              <a:rPr lang="en-US" sz="1200" dirty="0">
                <a:solidFill>
                  <a:srgbClr val="0B0B1A"/>
                </a:solidFill>
                <a:latin typeface="Arial Black" pitchFamily="34" charset="0"/>
                <a:ea typeface="Arial Black" pitchFamily="34" charset="-122"/>
                <a:cs typeface="Arial Black" pitchFamily="34" charset="-120"/>
              </a:rPr>
              <a:t>4</a:t>
            </a:r>
            <a:endParaRPr lang="en-US" sz="1200" dirty="0"/>
          </a:p>
        </p:txBody>
      </p:sp>
      <p:sp>
        <p:nvSpPr>
          <p:cNvPr id="16" name="Shape 13"/>
          <p:cNvSpPr/>
          <p:nvPr/>
        </p:nvSpPr>
        <p:spPr>
          <a:xfrm>
            <a:off x="7178040" y="1463040"/>
            <a:ext cx="402336" cy="402336"/>
          </a:xfrm>
          <a:prstGeom prst="ellipse">
            <a:avLst/>
          </a:prstGeom>
          <a:solidFill>
            <a:srgbClr val="F97316"/>
          </a:solidFill>
          <a:ln w="12700">
            <a:solidFill>
              <a:srgbClr val="F97316"/>
            </a:solidFill>
            <a:prstDash val="solid"/>
          </a:ln>
        </p:spPr>
      </p:sp>
      <p:sp>
        <p:nvSpPr>
          <p:cNvPr id="17" name="Text 14"/>
          <p:cNvSpPr txBox="1"/>
          <p:nvPr/>
        </p:nvSpPr>
        <p:spPr>
          <a:xfrm>
            <a:off x="7178040" y="1463040"/>
            <a:ext cx="402336" cy="402336"/>
          </a:xfrm>
          <a:prstGeom prst="rect">
            <a:avLst/>
          </a:prstGeom>
          <a:noFill/>
          <a:ln/>
        </p:spPr>
        <p:txBody>
          <a:bodyPr wrap="square" lIns="0" tIns="0" rIns="0" bIns="0" rtlCol="0" anchor="ctr"/>
          <a:lstStyle/>
          <a:p>
            <a:pPr algn="ctr" indent="0" marL="0">
              <a:buNone/>
            </a:pPr>
            <a:r>
              <a:rPr lang="en-US" sz="1400" dirty="0">
                <a:solidFill>
                  <a:srgbClr val="0B0B1A"/>
                </a:solidFill>
                <a:latin typeface="Arial Black" pitchFamily="34" charset="0"/>
                <a:ea typeface="Arial Black" pitchFamily="34" charset="-122"/>
                <a:cs typeface="Arial Black" pitchFamily="34" charset="-120"/>
              </a:rPr>
              <a:t>1</a:t>
            </a:r>
            <a:endParaRPr lang="en-US" sz="1400" dirty="0"/>
          </a:p>
        </p:txBody>
      </p:sp>
      <p:sp>
        <p:nvSpPr>
          <p:cNvPr id="18" name="Text 15"/>
          <p:cNvSpPr txBox="1"/>
          <p:nvPr/>
        </p:nvSpPr>
        <p:spPr>
          <a:xfrm>
            <a:off x="7772400" y="1444752"/>
            <a:ext cx="3749040" cy="365760"/>
          </a:xfrm>
          <a:prstGeom prst="rect">
            <a:avLst/>
          </a:prstGeom>
          <a:noFill/>
          <a:ln/>
        </p:spPr>
        <p:txBody>
          <a:bodyPr wrap="square" lIns="0" tIns="0" rIns="0" bIns="0" rtlCol="0" anchor="t"/>
          <a:lstStyle/>
          <a:p>
            <a:pPr indent="0" marL="0">
              <a:buNone/>
            </a:pPr>
            <a:r>
              <a:rPr lang="en-US" sz="2000" b="1" dirty="0">
                <a:solidFill>
                  <a:srgbClr val="F1F5F9"/>
                </a:solidFill>
                <a:latin typeface="Calibri" pitchFamily="34" charset="0"/>
                <a:ea typeface="Calibri" pitchFamily="34" charset="-122"/>
                <a:cs typeface="Calibri" pitchFamily="34" charset="-120"/>
              </a:rPr>
              <a:t>Live search</a:t>
            </a:r>
            <a:endParaRPr lang="en-US" sz="2000" dirty="0"/>
          </a:p>
        </p:txBody>
      </p:sp>
      <p:sp>
        <p:nvSpPr>
          <p:cNvPr id="19" name="Text 16"/>
          <p:cNvSpPr txBox="1"/>
          <p:nvPr/>
        </p:nvSpPr>
        <p:spPr>
          <a:xfrm>
            <a:off x="7772400" y="1847088"/>
            <a:ext cx="3749040" cy="685800"/>
          </a:xfrm>
          <a:prstGeom prst="rect">
            <a:avLst/>
          </a:prstGeom>
          <a:noFill/>
          <a:ln/>
        </p:spPr>
        <p:txBody>
          <a:bodyPr wrap="square" lIns="0" tIns="0" rIns="0" bIns="0" rtlCol="0" anchor="t"/>
          <a:lstStyle/>
          <a:p>
            <a:pPr indent="0" marL="0">
              <a:buNone/>
            </a:pPr>
            <a:r>
              <a:rPr lang="en-US" sz="1500" dirty="0">
                <a:solidFill>
                  <a:srgbClr val="A3AED0"/>
                </a:solidFill>
                <a:latin typeface="Calibri" pitchFamily="34" charset="0"/>
                <a:ea typeface="Calibri" pitchFamily="34" charset="-122"/>
                <a:cs typeface="Calibri" pitchFamily="34" charset="-120"/>
              </a:rPr>
              <a:t>Results change as you type, with no page reload (jQuery and JSON).</a:t>
            </a:r>
            <a:endParaRPr lang="en-US" sz="1500" dirty="0"/>
          </a:p>
        </p:txBody>
      </p:sp>
      <p:sp>
        <p:nvSpPr>
          <p:cNvPr id="20" name="Shape 17"/>
          <p:cNvSpPr/>
          <p:nvPr/>
        </p:nvSpPr>
        <p:spPr>
          <a:xfrm>
            <a:off x="7178040" y="2633472"/>
            <a:ext cx="402336" cy="402336"/>
          </a:xfrm>
          <a:prstGeom prst="ellipse">
            <a:avLst/>
          </a:prstGeom>
          <a:solidFill>
            <a:srgbClr val="F97316"/>
          </a:solidFill>
          <a:ln w="12700">
            <a:solidFill>
              <a:srgbClr val="F97316"/>
            </a:solidFill>
            <a:prstDash val="solid"/>
          </a:ln>
        </p:spPr>
      </p:sp>
      <p:sp>
        <p:nvSpPr>
          <p:cNvPr id="21" name="Text 18"/>
          <p:cNvSpPr txBox="1"/>
          <p:nvPr/>
        </p:nvSpPr>
        <p:spPr>
          <a:xfrm>
            <a:off x="7178040" y="2633472"/>
            <a:ext cx="402336" cy="402336"/>
          </a:xfrm>
          <a:prstGeom prst="rect">
            <a:avLst/>
          </a:prstGeom>
          <a:noFill/>
          <a:ln/>
        </p:spPr>
        <p:txBody>
          <a:bodyPr wrap="square" lIns="0" tIns="0" rIns="0" bIns="0" rtlCol="0" anchor="ctr"/>
          <a:lstStyle/>
          <a:p>
            <a:pPr algn="ctr" indent="0" marL="0">
              <a:buNone/>
            </a:pPr>
            <a:r>
              <a:rPr lang="en-US" sz="1400" dirty="0">
                <a:solidFill>
                  <a:srgbClr val="0B0B1A"/>
                </a:solidFill>
                <a:latin typeface="Arial Black" pitchFamily="34" charset="0"/>
                <a:ea typeface="Arial Black" pitchFamily="34" charset="-122"/>
                <a:cs typeface="Arial Black" pitchFamily="34" charset="-120"/>
              </a:rPr>
              <a:t>2</a:t>
            </a:r>
            <a:endParaRPr lang="en-US" sz="1400" dirty="0"/>
          </a:p>
        </p:txBody>
      </p:sp>
      <p:sp>
        <p:nvSpPr>
          <p:cNvPr id="22" name="Text 19"/>
          <p:cNvSpPr txBox="1"/>
          <p:nvPr/>
        </p:nvSpPr>
        <p:spPr>
          <a:xfrm>
            <a:off x="7772400" y="2615184"/>
            <a:ext cx="3749040" cy="365760"/>
          </a:xfrm>
          <a:prstGeom prst="rect">
            <a:avLst/>
          </a:prstGeom>
          <a:noFill/>
          <a:ln/>
        </p:spPr>
        <p:txBody>
          <a:bodyPr wrap="square" lIns="0" tIns="0" rIns="0" bIns="0" rtlCol="0" anchor="t"/>
          <a:lstStyle/>
          <a:p>
            <a:pPr indent="0" marL="0">
              <a:buNone/>
            </a:pPr>
            <a:r>
              <a:rPr lang="en-US" sz="2000" b="1" dirty="0">
                <a:solidFill>
                  <a:srgbClr val="F1F5F9"/>
                </a:solidFill>
                <a:latin typeface="Calibri" pitchFamily="34" charset="0"/>
                <a:ea typeface="Calibri" pitchFamily="34" charset="-122"/>
                <a:cs typeface="Calibri" pitchFamily="34" charset="-120"/>
              </a:rPr>
              <a:t>Smart filters</a:t>
            </a:r>
            <a:endParaRPr lang="en-US" sz="2000" dirty="0"/>
          </a:p>
        </p:txBody>
      </p:sp>
      <p:sp>
        <p:nvSpPr>
          <p:cNvPr id="23" name="Text 20"/>
          <p:cNvSpPr txBox="1"/>
          <p:nvPr/>
        </p:nvSpPr>
        <p:spPr>
          <a:xfrm>
            <a:off x="7772400" y="3017520"/>
            <a:ext cx="3749040" cy="685800"/>
          </a:xfrm>
          <a:prstGeom prst="rect">
            <a:avLst/>
          </a:prstGeom>
          <a:noFill/>
          <a:ln/>
        </p:spPr>
        <p:txBody>
          <a:bodyPr wrap="square" lIns="0" tIns="0" rIns="0" bIns="0" rtlCol="0" anchor="t"/>
          <a:lstStyle/>
          <a:p>
            <a:pPr indent="0" marL="0">
              <a:buNone/>
            </a:pPr>
            <a:r>
              <a:rPr lang="en-US" sz="1500" dirty="0">
                <a:solidFill>
                  <a:srgbClr val="A3AED0"/>
                </a:solidFill>
                <a:latin typeface="Calibri" pitchFamily="34" charset="0"/>
                <a:ea typeface="Calibri" pitchFamily="34" charset="-122"/>
                <a:cs typeface="Calibri" pitchFamily="34" charset="-120"/>
              </a:rPr>
              <a:t>Category, today or this week, seats only, and sort by most popular.</a:t>
            </a:r>
            <a:endParaRPr lang="en-US" sz="1500" dirty="0"/>
          </a:p>
        </p:txBody>
      </p:sp>
      <p:sp>
        <p:nvSpPr>
          <p:cNvPr id="24" name="Shape 21"/>
          <p:cNvSpPr/>
          <p:nvPr/>
        </p:nvSpPr>
        <p:spPr>
          <a:xfrm>
            <a:off x="7178040" y="3803904"/>
            <a:ext cx="402336" cy="402336"/>
          </a:xfrm>
          <a:prstGeom prst="ellipse">
            <a:avLst/>
          </a:prstGeom>
          <a:solidFill>
            <a:srgbClr val="F97316"/>
          </a:solidFill>
          <a:ln w="12700">
            <a:solidFill>
              <a:srgbClr val="F97316"/>
            </a:solidFill>
            <a:prstDash val="solid"/>
          </a:ln>
        </p:spPr>
      </p:sp>
      <p:sp>
        <p:nvSpPr>
          <p:cNvPr id="25" name="Text 22"/>
          <p:cNvSpPr txBox="1"/>
          <p:nvPr/>
        </p:nvSpPr>
        <p:spPr>
          <a:xfrm>
            <a:off x="7178040" y="3803904"/>
            <a:ext cx="402336" cy="402336"/>
          </a:xfrm>
          <a:prstGeom prst="rect">
            <a:avLst/>
          </a:prstGeom>
          <a:noFill/>
          <a:ln/>
        </p:spPr>
        <p:txBody>
          <a:bodyPr wrap="square" lIns="0" tIns="0" rIns="0" bIns="0" rtlCol="0" anchor="ctr"/>
          <a:lstStyle/>
          <a:p>
            <a:pPr algn="ctr" indent="0" marL="0">
              <a:buNone/>
            </a:pPr>
            <a:r>
              <a:rPr lang="en-US" sz="1400" dirty="0">
                <a:solidFill>
                  <a:srgbClr val="0B0B1A"/>
                </a:solidFill>
                <a:latin typeface="Arial Black" pitchFamily="34" charset="0"/>
                <a:ea typeface="Arial Black" pitchFamily="34" charset="-122"/>
                <a:cs typeface="Arial Black" pitchFamily="34" charset="-120"/>
              </a:rPr>
              <a:t>3</a:t>
            </a:r>
            <a:endParaRPr lang="en-US" sz="1400" dirty="0"/>
          </a:p>
        </p:txBody>
      </p:sp>
      <p:sp>
        <p:nvSpPr>
          <p:cNvPr id="26" name="Text 23"/>
          <p:cNvSpPr txBox="1"/>
          <p:nvPr/>
        </p:nvSpPr>
        <p:spPr>
          <a:xfrm>
            <a:off x="7772400" y="3785616"/>
            <a:ext cx="3749040" cy="365760"/>
          </a:xfrm>
          <a:prstGeom prst="rect">
            <a:avLst/>
          </a:prstGeom>
          <a:noFill/>
          <a:ln/>
        </p:spPr>
        <p:txBody>
          <a:bodyPr wrap="square" lIns="0" tIns="0" rIns="0" bIns="0" rtlCol="0" anchor="t"/>
          <a:lstStyle/>
          <a:p>
            <a:pPr indent="0" marL="0">
              <a:buNone/>
            </a:pPr>
            <a:r>
              <a:rPr lang="en-US" sz="2000" b="1" dirty="0">
                <a:solidFill>
                  <a:srgbClr val="F1F5F9"/>
                </a:solidFill>
                <a:latin typeface="Calibri" pitchFamily="34" charset="0"/>
                <a:ea typeface="Calibri" pitchFamily="34" charset="-122"/>
                <a:cs typeface="Calibri" pitchFamily="34" charset="-120"/>
              </a:rPr>
              <a:t>Seat meter</a:t>
            </a:r>
            <a:endParaRPr lang="en-US" sz="2000" dirty="0"/>
          </a:p>
        </p:txBody>
      </p:sp>
      <p:sp>
        <p:nvSpPr>
          <p:cNvPr id="27" name="Text 24"/>
          <p:cNvSpPr txBox="1"/>
          <p:nvPr/>
        </p:nvSpPr>
        <p:spPr>
          <a:xfrm>
            <a:off x="7772400" y="4187952"/>
            <a:ext cx="3749040" cy="685800"/>
          </a:xfrm>
          <a:prstGeom prst="rect">
            <a:avLst/>
          </a:prstGeom>
          <a:noFill/>
          <a:ln/>
        </p:spPr>
        <p:txBody>
          <a:bodyPr wrap="square" lIns="0" tIns="0" rIns="0" bIns="0" rtlCol="0" anchor="t"/>
          <a:lstStyle/>
          <a:p>
            <a:pPr indent="0" marL="0">
              <a:buNone/>
            </a:pPr>
            <a:r>
              <a:rPr lang="en-US" sz="1500" dirty="0">
                <a:solidFill>
                  <a:srgbClr val="A3AED0"/>
                </a:solidFill>
                <a:latin typeface="Calibri" pitchFamily="34" charset="0"/>
                <a:ea typeface="Calibri" pitchFamily="34" charset="-122"/>
                <a:cs typeface="Calibri" pitchFamily="34" charset="-120"/>
              </a:rPr>
              <a:t>See how full an event is at a glance, with a warning when seats run low.</a:t>
            </a:r>
            <a:endParaRPr lang="en-US" sz="1500" dirty="0"/>
          </a:p>
        </p:txBody>
      </p:sp>
      <p:sp>
        <p:nvSpPr>
          <p:cNvPr id="28" name="Shape 25"/>
          <p:cNvSpPr/>
          <p:nvPr/>
        </p:nvSpPr>
        <p:spPr>
          <a:xfrm>
            <a:off x="7178040" y="4974336"/>
            <a:ext cx="402336" cy="402336"/>
          </a:xfrm>
          <a:prstGeom prst="ellipse">
            <a:avLst/>
          </a:prstGeom>
          <a:solidFill>
            <a:srgbClr val="F97316"/>
          </a:solidFill>
          <a:ln w="12700">
            <a:solidFill>
              <a:srgbClr val="F97316"/>
            </a:solidFill>
            <a:prstDash val="solid"/>
          </a:ln>
        </p:spPr>
      </p:sp>
      <p:sp>
        <p:nvSpPr>
          <p:cNvPr id="29" name="Text 26"/>
          <p:cNvSpPr txBox="1"/>
          <p:nvPr/>
        </p:nvSpPr>
        <p:spPr>
          <a:xfrm>
            <a:off x="7178040" y="4974336"/>
            <a:ext cx="402336" cy="402336"/>
          </a:xfrm>
          <a:prstGeom prst="rect">
            <a:avLst/>
          </a:prstGeom>
          <a:noFill/>
          <a:ln/>
        </p:spPr>
        <p:txBody>
          <a:bodyPr wrap="square" lIns="0" tIns="0" rIns="0" bIns="0" rtlCol="0" anchor="ctr"/>
          <a:lstStyle/>
          <a:p>
            <a:pPr algn="ctr" indent="0" marL="0">
              <a:buNone/>
            </a:pPr>
            <a:r>
              <a:rPr lang="en-US" sz="1400" dirty="0">
                <a:solidFill>
                  <a:srgbClr val="0B0B1A"/>
                </a:solidFill>
                <a:latin typeface="Arial Black" pitchFamily="34" charset="0"/>
                <a:ea typeface="Arial Black" pitchFamily="34" charset="-122"/>
                <a:cs typeface="Arial Black" pitchFamily="34" charset="-120"/>
              </a:rPr>
              <a:t>4</a:t>
            </a:r>
            <a:endParaRPr lang="en-US" sz="1400" dirty="0"/>
          </a:p>
        </p:txBody>
      </p:sp>
      <p:sp>
        <p:nvSpPr>
          <p:cNvPr id="30" name="Text 27"/>
          <p:cNvSpPr txBox="1"/>
          <p:nvPr/>
        </p:nvSpPr>
        <p:spPr>
          <a:xfrm>
            <a:off x="7772400" y="4956048"/>
            <a:ext cx="3749040" cy="365760"/>
          </a:xfrm>
          <a:prstGeom prst="rect">
            <a:avLst/>
          </a:prstGeom>
          <a:noFill/>
          <a:ln/>
        </p:spPr>
        <p:txBody>
          <a:bodyPr wrap="square" lIns="0" tIns="0" rIns="0" bIns="0" rtlCol="0" anchor="t"/>
          <a:lstStyle/>
          <a:p>
            <a:pPr indent="0" marL="0">
              <a:buNone/>
            </a:pPr>
            <a:r>
              <a:rPr lang="en-US" sz="2000" b="1" dirty="0">
                <a:solidFill>
                  <a:srgbClr val="F1F5F9"/>
                </a:solidFill>
                <a:latin typeface="Calibri" pitchFamily="34" charset="0"/>
                <a:ea typeface="Calibri" pitchFamily="34" charset="-122"/>
                <a:cs typeface="Calibri" pitchFamily="34" charset="-120"/>
              </a:rPr>
              <a:t>Save for later</a:t>
            </a:r>
            <a:endParaRPr lang="en-US" sz="2000" dirty="0"/>
          </a:p>
        </p:txBody>
      </p:sp>
      <p:sp>
        <p:nvSpPr>
          <p:cNvPr id="31" name="Text 28"/>
          <p:cNvSpPr txBox="1"/>
          <p:nvPr/>
        </p:nvSpPr>
        <p:spPr>
          <a:xfrm>
            <a:off x="7772400" y="5358384"/>
            <a:ext cx="3749040" cy="685800"/>
          </a:xfrm>
          <a:prstGeom prst="rect">
            <a:avLst/>
          </a:prstGeom>
          <a:noFill/>
          <a:ln/>
        </p:spPr>
        <p:txBody>
          <a:bodyPr wrap="square" lIns="0" tIns="0" rIns="0" bIns="0" rtlCol="0" anchor="t"/>
          <a:lstStyle/>
          <a:p>
            <a:pPr indent="0" marL="0">
              <a:buNone/>
            </a:pPr>
            <a:r>
              <a:rPr lang="en-US" sz="1500" dirty="0">
                <a:solidFill>
                  <a:srgbClr val="A3AED0"/>
                </a:solidFill>
                <a:latin typeface="Calibri" pitchFamily="34" charset="0"/>
                <a:ea typeface="Calibri" pitchFamily="34" charset="-122"/>
                <a:cs typeface="Calibri" pitchFamily="34" charset="-120"/>
              </a:rPr>
              <a:t>A heart button, a Saved page and a calendar file for every event.</a:t>
            </a:r>
            <a:endParaRPr lang="en-US" sz="1500" dirty="0"/>
          </a:p>
        </p:txBody>
      </p:sp>
      <p:sp>
        <p:nvSpPr>
          <p:cNvPr id="25" name="Slide Number Placeholder 0"/>
          <p:cNvSpPr>
            <a:spLocks noGrp="1"/>
          </p:cNvSpPr>
          <p:nvPr>
            <p:ph type="sldNum" sz="quarter" idx="4294967295"/>
          </p:nvPr>
        </p:nvSpPr>
        <p:spPr>
          <a:xfrm>
            <a:off x="11064240" y="640080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3AED0"/>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640080" y="457200"/>
            <a:ext cx="10908792" cy="777240"/>
          </a:xfrm>
          <a:prstGeom prst="rect">
            <a:avLst/>
          </a:prstGeom>
          <a:noFill/>
          <a:ln/>
        </p:spPr>
        <p:txBody>
          <a:bodyPr wrap="square" lIns="0" tIns="0" rIns="0" bIns="0" rtlCol="0" anchor="ctr"/>
          <a:lstStyle/>
          <a:p>
            <a:pPr algn="l" indent="0" marL="0">
              <a:buNone/>
            </a:pPr>
            <a:r>
              <a:rPr lang="en-US" sz="2600" dirty="0">
                <a:solidFill>
                  <a:srgbClr val="F1F5F9"/>
                </a:solidFill>
                <a:latin typeface="Arial Black" pitchFamily="34" charset="0"/>
                <a:ea typeface="Arial Black" pitchFamily="34" charset="-122"/>
                <a:cs typeface="Arial Black" pitchFamily="34" charset="-120"/>
              </a:rPr>
              <a:t>Register, or join the waitlist</a:t>
            </a:r>
            <a:endParaRPr lang="en-US" sz="2600" dirty="0"/>
          </a:p>
        </p:txBody>
      </p:sp>
      <p:sp>
        <p:nvSpPr>
          <p:cNvPr id="3" name="Shape 1"/>
          <p:cNvSpPr/>
          <p:nvPr/>
        </p:nvSpPr>
        <p:spPr>
          <a:xfrm>
            <a:off x="640080" y="1417320"/>
            <a:ext cx="6766560" cy="3242691"/>
          </a:xfrm>
          <a:prstGeom prst="roundRect">
            <a:avLst>
              <a:gd name="adj" fmla="val 3384"/>
            </a:avLst>
          </a:prstGeom>
          <a:solidFill>
            <a:srgbClr val="1B1B38"/>
          </a:solidFill>
          <a:ln w="12700">
            <a:solidFill>
              <a:srgbClr val="34345E"/>
            </a:solidFill>
            <a:prstDash val="solid"/>
          </a:ln>
        </p:spPr>
      </p:sp>
      <p:sp>
        <p:nvSpPr>
          <p:cNvPr id="4" name="Shape 2"/>
          <p:cNvSpPr/>
          <p:nvPr/>
        </p:nvSpPr>
        <p:spPr>
          <a:xfrm>
            <a:off x="804672" y="1499616"/>
            <a:ext cx="109728" cy="109728"/>
          </a:xfrm>
          <a:prstGeom prst="ellipse">
            <a:avLst/>
          </a:prstGeom>
          <a:solidFill>
            <a:srgbClr val="F87171"/>
          </a:solidFill>
          <a:ln w="12700">
            <a:solidFill>
              <a:srgbClr val="F87171"/>
            </a:solidFill>
            <a:prstDash val="solid"/>
          </a:ln>
        </p:spPr>
      </p:sp>
      <p:sp>
        <p:nvSpPr>
          <p:cNvPr id="5" name="Shape 3"/>
          <p:cNvSpPr/>
          <p:nvPr/>
        </p:nvSpPr>
        <p:spPr>
          <a:xfrm>
            <a:off x="987552" y="1499616"/>
            <a:ext cx="109728" cy="109728"/>
          </a:xfrm>
          <a:prstGeom prst="ellipse">
            <a:avLst/>
          </a:prstGeom>
          <a:solidFill>
            <a:srgbClr val="FBBF24"/>
          </a:solidFill>
          <a:ln w="12700">
            <a:solidFill>
              <a:srgbClr val="FBBF24"/>
            </a:solidFill>
            <a:prstDash val="solid"/>
          </a:ln>
        </p:spPr>
      </p:sp>
      <p:sp>
        <p:nvSpPr>
          <p:cNvPr id="6" name="Shape 4"/>
          <p:cNvSpPr/>
          <p:nvPr/>
        </p:nvSpPr>
        <p:spPr>
          <a:xfrm>
            <a:off x="1170432" y="1499616"/>
            <a:ext cx="109728" cy="109728"/>
          </a:xfrm>
          <a:prstGeom prst="ellipse">
            <a:avLst/>
          </a:prstGeom>
          <a:solidFill>
            <a:srgbClr val="4ADE80"/>
          </a:solidFill>
          <a:ln w="12700">
            <a:solidFill>
              <a:srgbClr val="4ADE80"/>
            </a:solidFill>
            <a:prstDash val="solid"/>
          </a:ln>
        </p:spPr>
      </p:sp>
      <p:pic>
        <p:nvPicPr>
          <p:cNvPr id="7" name="Image 0" descr="Event page for a full event showing the waitlist button">    </p:cNvPr>
          <p:cNvPicPr>
            <a:picLocks noChangeAspect="1"/>
          </p:cNvPicPr>
          <p:nvPr/>
        </p:nvPicPr>
        <p:blipFill>
          <a:blip r:embed="rId1"/>
          <a:stretch>
            <a:fillRect/>
          </a:stretch>
        </p:blipFill>
        <p:spPr>
          <a:xfrm>
            <a:off x="704088" y="1691640"/>
            <a:ext cx="6638544" cy="2904363"/>
          </a:xfrm>
          <a:prstGeom prst="rect">
            <a:avLst/>
          </a:prstGeom>
        </p:spPr>
      </p:pic>
      <p:sp>
        <p:nvSpPr>
          <p:cNvPr id="8" name="Shape 5"/>
          <p:cNvSpPr/>
          <p:nvPr/>
        </p:nvSpPr>
        <p:spPr>
          <a:xfrm>
            <a:off x="640080" y="4980051"/>
            <a:ext cx="2514600" cy="384048"/>
          </a:xfrm>
          <a:prstGeom prst="roundRect">
            <a:avLst>
              <a:gd name="adj" fmla="val 50000"/>
            </a:avLst>
          </a:prstGeom>
          <a:solidFill>
            <a:srgbClr val="1B1B38"/>
          </a:solidFill>
          <a:ln w="12700">
            <a:solidFill>
              <a:srgbClr val="34345E"/>
            </a:solidFill>
            <a:prstDash val="solid"/>
          </a:ln>
        </p:spPr>
      </p:sp>
      <p:sp>
        <p:nvSpPr>
          <p:cNvPr id="9" name="Text 6"/>
          <p:cNvSpPr txBox="1"/>
          <p:nvPr/>
        </p:nvSpPr>
        <p:spPr>
          <a:xfrm>
            <a:off x="640080" y="4980051"/>
            <a:ext cx="2514600" cy="384048"/>
          </a:xfrm>
          <a:prstGeom prst="rect">
            <a:avLst/>
          </a:prstGeom>
          <a:noFill/>
          <a:ln/>
        </p:spPr>
        <p:txBody>
          <a:bodyPr wrap="square" lIns="0" tIns="0" rIns="0" bIns="0" rtlCol="0" anchor="ctr"/>
          <a:lstStyle/>
          <a:p>
            <a:pPr algn="ctr" indent="0" marL="0">
              <a:buNone/>
            </a:pPr>
            <a:r>
              <a:rPr lang="en-US" sz="1400" b="1" dirty="0">
                <a:solidFill>
                  <a:srgbClr val="A5B4FC"/>
                </a:solidFill>
                <a:latin typeface="Calibri" pitchFamily="34" charset="0"/>
                <a:ea typeface="Calibri" pitchFamily="34" charset="-122"/>
                <a:cs typeface="Calibri" pitchFamily="34" charset="-120"/>
              </a:rPr>
              <a:t>Add to calendar (.ics)</a:t>
            </a:r>
            <a:endParaRPr lang="en-US" sz="1400" dirty="0"/>
          </a:p>
        </p:txBody>
      </p:sp>
      <p:sp>
        <p:nvSpPr>
          <p:cNvPr id="10" name="Shape 7"/>
          <p:cNvSpPr/>
          <p:nvPr/>
        </p:nvSpPr>
        <p:spPr>
          <a:xfrm>
            <a:off x="3337560" y="4980051"/>
            <a:ext cx="1280160" cy="384048"/>
          </a:xfrm>
          <a:prstGeom prst="roundRect">
            <a:avLst>
              <a:gd name="adj" fmla="val 50000"/>
            </a:avLst>
          </a:prstGeom>
          <a:solidFill>
            <a:srgbClr val="1B1B38"/>
          </a:solidFill>
          <a:ln w="12700">
            <a:solidFill>
              <a:srgbClr val="34345E"/>
            </a:solidFill>
            <a:prstDash val="solid"/>
          </a:ln>
        </p:spPr>
      </p:sp>
      <p:sp>
        <p:nvSpPr>
          <p:cNvPr id="11" name="Text 8"/>
          <p:cNvSpPr txBox="1"/>
          <p:nvPr/>
        </p:nvSpPr>
        <p:spPr>
          <a:xfrm>
            <a:off x="3337560" y="4980051"/>
            <a:ext cx="1280160" cy="384048"/>
          </a:xfrm>
          <a:prstGeom prst="rect">
            <a:avLst/>
          </a:prstGeom>
          <a:noFill/>
          <a:ln/>
        </p:spPr>
        <p:txBody>
          <a:bodyPr wrap="square" lIns="0" tIns="0" rIns="0" bIns="0" rtlCol="0" anchor="ctr"/>
          <a:lstStyle/>
          <a:p>
            <a:pPr algn="ctr" indent="0" marL="0">
              <a:buNone/>
            </a:pPr>
            <a:r>
              <a:rPr lang="en-US" sz="1400" b="1" dirty="0">
                <a:solidFill>
                  <a:srgbClr val="A5B4FC"/>
                </a:solidFill>
                <a:latin typeface="Calibri" pitchFamily="34" charset="0"/>
                <a:ea typeface="Calibri" pitchFamily="34" charset="-122"/>
                <a:cs typeface="Calibri" pitchFamily="34" charset="-120"/>
              </a:rPr>
              <a:t>Save</a:t>
            </a:r>
            <a:endParaRPr lang="en-US" sz="1400" dirty="0"/>
          </a:p>
        </p:txBody>
      </p:sp>
      <p:sp>
        <p:nvSpPr>
          <p:cNvPr id="12" name="Shape 9"/>
          <p:cNvSpPr/>
          <p:nvPr/>
        </p:nvSpPr>
        <p:spPr>
          <a:xfrm>
            <a:off x="4800600" y="4980051"/>
            <a:ext cx="1737360" cy="384048"/>
          </a:xfrm>
          <a:prstGeom prst="roundRect">
            <a:avLst>
              <a:gd name="adj" fmla="val 50000"/>
            </a:avLst>
          </a:prstGeom>
          <a:solidFill>
            <a:srgbClr val="1B1B38"/>
          </a:solidFill>
          <a:ln w="12700">
            <a:solidFill>
              <a:srgbClr val="34345E"/>
            </a:solidFill>
            <a:prstDash val="solid"/>
          </a:ln>
        </p:spPr>
      </p:sp>
      <p:sp>
        <p:nvSpPr>
          <p:cNvPr id="13" name="Text 10"/>
          <p:cNvSpPr txBox="1"/>
          <p:nvPr/>
        </p:nvSpPr>
        <p:spPr>
          <a:xfrm>
            <a:off x="4800600" y="4980051"/>
            <a:ext cx="1737360" cy="384048"/>
          </a:xfrm>
          <a:prstGeom prst="rect">
            <a:avLst/>
          </a:prstGeom>
          <a:noFill/>
          <a:ln/>
        </p:spPr>
        <p:txBody>
          <a:bodyPr wrap="square" lIns="0" tIns="0" rIns="0" bIns="0" rtlCol="0" anchor="ctr"/>
          <a:lstStyle/>
          <a:p>
            <a:pPr algn="ctr" indent="0" marL="0">
              <a:buNone/>
            </a:pPr>
            <a:r>
              <a:rPr lang="en-US" sz="1400" b="1" dirty="0">
                <a:solidFill>
                  <a:srgbClr val="A5B4FC"/>
                </a:solidFill>
                <a:latin typeface="Calibri" pitchFamily="34" charset="0"/>
                <a:ea typeface="Calibri" pitchFamily="34" charset="-122"/>
                <a:cs typeface="Calibri" pitchFamily="34" charset="-120"/>
              </a:rPr>
              <a:t>Share link</a:t>
            </a:r>
            <a:endParaRPr lang="en-US" sz="1400" dirty="0"/>
          </a:p>
        </p:txBody>
      </p:sp>
      <p:sp>
        <p:nvSpPr>
          <p:cNvPr id="14" name="Text 11"/>
          <p:cNvSpPr txBox="1"/>
          <p:nvPr/>
        </p:nvSpPr>
        <p:spPr>
          <a:xfrm>
            <a:off x="640080" y="5528691"/>
            <a:ext cx="6583680" cy="640080"/>
          </a:xfrm>
          <a:prstGeom prst="rect">
            <a:avLst/>
          </a:prstGeom>
          <a:noFill/>
          <a:ln/>
        </p:spPr>
        <p:txBody>
          <a:bodyPr wrap="square" lIns="0" tIns="0" rIns="0" bIns="0" rtlCol="0" anchor="t"/>
          <a:lstStyle/>
          <a:p>
            <a:pPr indent="0" marL="0">
              <a:buNone/>
            </a:pPr>
            <a:r>
              <a:rPr lang="en-US" sz="1500" dirty="0">
                <a:solidFill>
                  <a:srgbClr val="A3AED0"/>
                </a:solidFill>
                <a:latin typeface="Calibri" pitchFamily="34" charset="0"/>
                <a:ea typeface="Calibri" pitchFamily="34" charset="-122"/>
                <a:cs typeface="Calibri" pitchFamily="34" charset="-120"/>
              </a:rPr>
              <a:t>Every event page also has a seat meter, host name and a clear time and place.</a:t>
            </a:r>
            <a:endParaRPr lang="en-US" sz="1500" dirty="0"/>
          </a:p>
        </p:txBody>
      </p:sp>
      <p:sp>
        <p:nvSpPr>
          <p:cNvPr id="15" name="Text 12"/>
          <p:cNvSpPr txBox="1"/>
          <p:nvPr/>
        </p:nvSpPr>
        <p:spPr>
          <a:xfrm>
            <a:off x="7818120" y="1417320"/>
            <a:ext cx="3749040" cy="457200"/>
          </a:xfrm>
          <a:prstGeom prst="rect">
            <a:avLst/>
          </a:prstGeom>
          <a:noFill/>
          <a:ln/>
        </p:spPr>
        <p:txBody>
          <a:bodyPr wrap="square" lIns="0" tIns="0" rIns="0" bIns="0" rtlCol="0" anchor="t"/>
          <a:lstStyle/>
          <a:p>
            <a:pPr indent="0" marL="0">
              <a:buNone/>
            </a:pPr>
            <a:r>
              <a:rPr lang="en-US" sz="2200" b="1" dirty="0">
                <a:solidFill>
                  <a:srgbClr val="F1F5F9"/>
                </a:solidFill>
                <a:latin typeface="Calibri" pitchFamily="34" charset="0"/>
                <a:ea typeface="Calibri" pitchFamily="34" charset="-122"/>
                <a:cs typeface="Calibri" pitchFamily="34" charset="-120"/>
              </a:rPr>
              <a:t>One button, three states</a:t>
            </a:r>
            <a:endParaRPr lang="en-US" sz="2200" dirty="0"/>
          </a:p>
        </p:txBody>
      </p:sp>
      <p:sp>
        <p:nvSpPr>
          <p:cNvPr id="16" name="Shape 13"/>
          <p:cNvSpPr/>
          <p:nvPr/>
        </p:nvSpPr>
        <p:spPr>
          <a:xfrm>
            <a:off x="7818120" y="2103120"/>
            <a:ext cx="3749040" cy="566928"/>
          </a:xfrm>
          <a:prstGeom prst="roundRect">
            <a:avLst>
              <a:gd name="adj" fmla="val 22581"/>
            </a:avLst>
          </a:prstGeom>
          <a:solidFill>
            <a:srgbClr val="6366F1"/>
          </a:solidFill>
          <a:ln w="12700">
            <a:solidFill>
              <a:srgbClr val="6366F1"/>
            </a:solidFill>
            <a:prstDash val="solid"/>
          </a:ln>
        </p:spPr>
      </p:sp>
      <p:sp>
        <p:nvSpPr>
          <p:cNvPr id="17" name="Text 14"/>
          <p:cNvSpPr txBox="1"/>
          <p:nvPr/>
        </p:nvSpPr>
        <p:spPr>
          <a:xfrm>
            <a:off x="7818120" y="2103120"/>
            <a:ext cx="3749040" cy="566928"/>
          </a:xfrm>
          <a:prstGeom prst="rect">
            <a:avLst/>
          </a:prstGeom>
          <a:noFill/>
          <a:ln/>
        </p:spPr>
        <p:txBody>
          <a:bodyPr wrap="square" lIns="0" tIns="0" rIns="0" bIns="0" rtlCol="0" anchor="ctr"/>
          <a:lstStyle/>
          <a:p>
            <a:pPr algn="ctr" indent="0" marL="0">
              <a:buNone/>
            </a:pPr>
            <a:r>
              <a:rPr lang="en-US" sz="1600" b="1" dirty="0">
                <a:solidFill>
                  <a:srgbClr val="F1F5F9"/>
                </a:solidFill>
                <a:latin typeface="Calibri" pitchFamily="34" charset="0"/>
                <a:ea typeface="Calibri" pitchFamily="34" charset="-122"/>
                <a:cs typeface="Calibri" pitchFamily="34" charset="-120"/>
              </a:rPr>
              <a:t>Register for this event</a:t>
            </a:r>
            <a:endParaRPr lang="en-US" sz="1600" dirty="0"/>
          </a:p>
        </p:txBody>
      </p:sp>
      <p:sp>
        <p:nvSpPr>
          <p:cNvPr id="18" name="Text 15"/>
          <p:cNvSpPr txBox="1"/>
          <p:nvPr/>
        </p:nvSpPr>
        <p:spPr>
          <a:xfrm>
            <a:off x="7818120" y="2761488"/>
            <a:ext cx="3749040" cy="365760"/>
          </a:xfrm>
          <a:prstGeom prst="rect">
            <a:avLst/>
          </a:prstGeom>
          <a:noFill/>
          <a:ln/>
        </p:spPr>
        <p:txBody>
          <a:bodyPr wrap="square" lIns="0" tIns="0" rIns="0" bIns="0" rtlCol="0" anchor="t"/>
          <a:lstStyle/>
          <a:p>
            <a:pPr indent="0" marL="0">
              <a:buNone/>
            </a:pPr>
            <a:r>
              <a:rPr lang="en-US" sz="1500" dirty="0">
                <a:solidFill>
                  <a:srgbClr val="A3AED0"/>
                </a:solidFill>
                <a:latin typeface="Calibri" pitchFamily="34" charset="0"/>
                <a:ea typeface="Calibri" pitchFamily="34" charset="-122"/>
                <a:cs typeface="Calibri" pitchFamily="34" charset="-120"/>
              </a:rPr>
              <a:t>Seats are free.</a:t>
            </a:r>
            <a:endParaRPr lang="en-US" sz="1500" dirty="0"/>
          </a:p>
        </p:txBody>
      </p:sp>
      <p:sp>
        <p:nvSpPr>
          <p:cNvPr id="19" name="Shape 16"/>
          <p:cNvSpPr/>
          <p:nvPr/>
        </p:nvSpPr>
        <p:spPr>
          <a:xfrm>
            <a:off x="7818120" y="3429000"/>
            <a:ext cx="3749040" cy="566928"/>
          </a:xfrm>
          <a:prstGeom prst="roundRect">
            <a:avLst>
              <a:gd name="adj" fmla="val 22581"/>
            </a:avLst>
          </a:prstGeom>
          <a:solidFill>
            <a:srgbClr val="F97316"/>
          </a:solidFill>
          <a:ln w="12700">
            <a:solidFill>
              <a:srgbClr val="F97316"/>
            </a:solidFill>
            <a:prstDash val="solid"/>
          </a:ln>
        </p:spPr>
      </p:sp>
      <p:sp>
        <p:nvSpPr>
          <p:cNvPr id="20" name="Text 17"/>
          <p:cNvSpPr txBox="1"/>
          <p:nvPr/>
        </p:nvSpPr>
        <p:spPr>
          <a:xfrm>
            <a:off x="7818120" y="3429000"/>
            <a:ext cx="3749040" cy="566928"/>
          </a:xfrm>
          <a:prstGeom prst="rect">
            <a:avLst/>
          </a:prstGeom>
          <a:noFill/>
          <a:ln/>
        </p:spPr>
        <p:txBody>
          <a:bodyPr wrap="square" lIns="0" tIns="0" rIns="0" bIns="0" rtlCol="0" anchor="ctr"/>
          <a:lstStyle/>
          <a:p>
            <a:pPr algn="ctr" indent="0" marL="0">
              <a:buNone/>
            </a:pPr>
            <a:r>
              <a:rPr lang="en-US" sz="1600" b="1" dirty="0">
                <a:solidFill>
                  <a:srgbClr val="0B0B1A"/>
                </a:solidFill>
                <a:latin typeface="Calibri" pitchFamily="34" charset="0"/>
                <a:ea typeface="Calibri" pitchFamily="34" charset="-122"/>
                <a:cs typeface="Calibri" pitchFamily="34" charset="-120"/>
              </a:rPr>
              <a:t>Join the waitlist</a:t>
            </a:r>
            <a:endParaRPr lang="en-US" sz="1600" dirty="0"/>
          </a:p>
        </p:txBody>
      </p:sp>
      <p:sp>
        <p:nvSpPr>
          <p:cNvPr id="21" name="Text 18"/>
          <p:cNvSpPr txBox="1"/>
          <p:nvPr/>
        </p:nvSpPr>
        <p:spPr>
          <a:xfrm>
            <a:off x="7818120" y="4087368"/>
            <a:ext cx="3749040" cy="365760"/>
          </a:xfrm>
          <a:prstGeom prst="rect">
            <a:avLst/>
          </a:prstGeom>
          <a:noFill/>
          <a:ln/>
        </p:spPr>
        <p:txBody>
          <a:bodyPr wrap="square" lIns="0" tIns="0" rIns="0" bIns="0" rtlCol="0" anchor="t"/>
          <a:lstStyle/>
          <a:p>
            <a:pPr indent="0" marL="0">
              <a:buNone/>
            </a:pPr>
            <a:r>
              <a:rPr lang="en-US" sz="1500" dirty="0">
                <a:solidFill>
                  <a:srgbClr val="A3AED0"/>
                </a:solidFill>
                <a:latin typeface="Calibri" pitchFamily="34" charset="0"/>
                <a:ea typeface="Calibri" pitchFamily="34" charset="-122"/>
                <a:cs typeface="Calibri" pitchFamily="34" charset="-120"/>
              </a:rPr>
              <a:t>The event is full.</a:t>
            </a:r>
            <a:endParaRPr lang="en-US" sz="1500" dirty="0"/>
          </a:p>
        </p:txBody>
      </p:sp>
      <p:sp>
        <p:nvSpPr>
          <p:cNvPr id="22" name="Shape 19"/>
          <p:cNvSpPr/>
          <p:nvPr/>
        </p:nvSpPr>
        <p:spPr>
          <a:xfrm>
            <a:off x="7818120" y="4754880"/>
            <a:ext cx="3749040" cy="566928"/>
          </a:xfrm>
          <a:prstGeom prst="roundRect">
            <a:avLst>
              <a:gd name="adj" fmla="val 22581"/>
            </a:avLst>
          </a:prstGeom>
          <a:solidFill>
            <a:srgbClr val="1B1B38"/>
          </a:solidFill>
          <a:ln w="12700">
            <a:solidFill>
              <a:srgbClr val="F87171"/>
            </a:solidFill>
            <a:prstDash val="solid"/>
          </a:ln>
        </p:spPr>
      </p:sp>
      <p:sp>
        <p:nvSpPr>
          <p:cNvPr id="23" name="Text 20"/>
          <p:cNvSpPr txBox="1"/>
          <p:nvPr/>
        </p:nvSpPr>
        <p:spPr>
          <a:xfrm>
            <a:off x="7818120" y="4754880"/>
            <a:ext cx="3749040" cy="566928"/>
          </a:xfrm>
          <a:prstGeom prst="rect">
            <a:avLst/>
          </a:prstGeom>
          <a:noFill/>
          <a:ln/>
        </p:spPr>
        <p:txBody>
          <a:bodyPr wrap="square" lIns="0" tIns="0" rIns="0" bIns="0" rtlCol="0" anchor="ctr"/>
          <a:lstStyle/>
          <a:p>
            <a:pPr algn="ctr" indent="0" marL="0">
              <a:buNone/>
            </a:pPr>
            <a:r>
              <a:rPr lang="en-US" sz="1600" b="1" dirty="0">
                <a:solidFill>
                  <a:srgbClr val="F87171"/>
                </a:solidFill>
                <a:latin typeface="Calibri" pitchFamily="34" charset="0"/>
                <a:ea typeface="Calibri" pitchFamily="34" charset="-122"/>
                <a:cs typeface="Calibri" pitchFamily="34" charset="-120"/>
              </a:rPr>
              <a:t>Cancel my registration</a:t>
            </a:r>
            <a:endParaRPr lang="en-US" sz="1600" dirty="0"/>
          </a:p>
        </p:txBody>
      </p:sp>
      <p:sp>
        <p:nvSpPr>
          <p:cNvPr id="24" name="Text 21"/>
          <p:cNvSpPr txBox="1"/>
          <p:nvPr/>
        </p:nvSpPr>
        <p:spPr>
          <a:xfrm>
            <a:off x="7818120" y="5413248"/>
            <a:ext cx="3749040" cy="365760"/>
          </a:xfrm>
          <a:prstGeom prst="rect">
            <a:avLst/>
          </a:prstGeom>
          <a:noFill/>
          <a:ln/>
        </p:spPr>
        <p:txBody>
          <a:bodyPr wrap="square" lIns="0" tIns="0" rIns="0" bIns="0" rtlCol="0" anchor="t"/>
          <a:lstStyle/>
          <a:p>
            <a:pPr indent="0" marL="0">
              <a:buNone/>
            </a:pPr>
            <a:r>
              <a:rPr lang="en-US" sz="1500" dirty="0">
                <a:solidFill>
                  <a:srgbClr val="A3AED0"/>
                </a:solidFill>
                <a:latin typeface="Calibri" pitchFamily="34" charset="0"/>
                <a:ea typeface="Calibri" pitchFamily="34" charset="-122"/>
                <a:cs typeface="Calibri" pitchFamily="34" charset="-120"/>
              </a:rPr>
              <a:t>You are in. Cancel any time.</a:t>
            </a:r>
            <a:endParaRPr lang="en-US" sz="1500" dirty="0"/>
          </a:p>
        </p:txBody>
      </p:sp>
      <p:sp>
        <p:nvSpPr>
          <p:cNvPr id="25" name="Slide Number Placeholder 0"/>
          <p:cNvSpPr>
            <a:spLocks noGrp="1"/>
          </p:cNvSpPr>
          <p:nvPr>
            <p:ph type="sldNum" sz="quarter" idx="4294967295"/>
          </p:nvPr>
        </p:nvSpPr>
        <p:spPr>
          <a:xfrm>
            <a:off x="11064240" y="640080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3AED0"/>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640080" y="457200"/>
            <a:ext cx="10908792" cy="777240"/>
          </a:xfrm>
          <a:prstGeom prst="rect">
            <a:avLst/>
          </a:prstGeom>
          <a:noFill/>
          <a:ln/>
        </p:spPr>
        <p:txBody>
          <a:bodyPr wrap="square" lIns="0" tIns="0" rIns="0" bIns="0" rtlCol="0" anchor="ctr"/>
          <a:lstStyle/>
          <a:p>
            <a:pPr algn="l" indent="0" marL="0">
              <a:buNone/>
            </a:pPr>
            <a:r>
              <a:rPr lang="en-US" sz="2600" dirty="0">
                <a:solidFill>
                  <a:srgbClr val="F1F5F9"/>
                </a:solidFill>
                <a:latin typeface="Arial Black" pitchFamily="34" charset="0"/>
                <a:ea typeface="Arial Black" pitchFamily="34" charset="-122"/>
                <a:cs typeface="Arial Black" pitchFamily="34" charset="-120"/>
              </a:rPr>
              <a:t>The waitlist moves by itself</a:t>
            </a:r>
            <a:endParaRPr lang="en-US" sz="2600" dirty="0"/>
          </a:p>
        </p:txBody>
      </p:sp>
      <p:sp>
        <p:nvSpPr>
          <p:cNvPr id="3" name="Shape 1"/>
          <p:cNvSpPr/>
          <p:nvPr/>
        </p:nvSpPr>
        <p:spPr>
          <a:xfrm>
            <a:off x="640080" y="1600200"/>
            <a:ext cx="6583680" cy="4434840"/>
          </a:xfrm>
          <a:prstGeom prst="roundRect">
            <a:avLst>
              <a:gd name="adj" fmla="val 2887"/>
            </a:avLst>
          </a:prstGeom>
          <a:solidFill>
            <a:srgbClr val="14142B"/>
          </a:solidFill>
          <a:ln w="9525">
            <a:solidFill>
              <a:srgbClr val="34345E"/>
            </a:solidFill>
            <a:prstDash val="solid"/>
          </a:ln>
        </p:spPr>
      </p:sp>
      <p:sp>
        <p:nvSpPr>
          <p:cNvPr id="4" name="Text 2"/>
          <p:cNvSpPr txBox="1"/>
          <p:nvPr/>
        </p:nvSpPr>
        <p:spPr>
          <a:xfrm>
            <a:off x="960120" y="1828800"/>
            <a:ext cx="5943600" cy="365760"/>
          </a:xfrm>
          <a:prstGeom prst="rect">
            <a:avLst/>
          </a:prstGeom>
          <a:noFill/>
          <a:ln/>
        </p:spPr>
        <p:txBody>
          <a:bodyPr wrap="square" lIns="0" tIns="0" rIns="0" bIns="0" rtlCol="0" anchor="t"/>
          <a:lstStyle/>
          <a:p>
            <a:pPr indent="0" marL="0">
              <a:buNone/>
            </a:pPr>
            <a:r>
              <a:rPr lang="en-US" sz="1800" b="1" dirty="0">
                <a:solidFill>
                  <a:srgbClr val="F1F5F9"/>
                </a:solidFill>
                <a:latin typeface="Calibri" pitchFamily="34" charset="0"/>
                <a:ea typeface="Calibri" pitchFamily="34" charset="-122"/>
                <a:cs typeface="Calibri" pitchFamily="34" charset="-120"/>
              </a:rPr>
              <a:t>Git and GitHub Basics  ·  capacity 3</a:t>
            </a:r>
            <a:endParaRPr lang="en-US" sz="1800" dirty="0"/>
          </a:p>
        </p:txBody>
      </p:sp>
      <p:sp>
        <p:nvSpPr>
          <p:cNvPr id="5" name="Shape 3"/>
          <p:cNvSpPr/>
          <p:nvPr/>
        </p:nvSpPr>
        <p:spPr>
          <a:xfrm>
            <a:off x="960120" y="2423160"/>
            <a:ext cx="822960" cy="822960"/>
          </a:xfrm>
          <a:prstGeom prst="roundRect">
            <a:avLst>
              <a:gd name="adj" fmla="val 17778"/>
            </a:avLst>
          </a:prstGeom>
          <a:solidFill>
            <a:srgbClr val="6366F1"/>
          </a:solidFill>
          <a:ln w="12700">
            <a:solidFill>
              <a:srgbClr val="A5B4FC"/>
            </a:solidFill>
            <a:prstDash val="solid"/>
          </a:ln>
        </p:spPr>
      </p:sp>
      <p:sp>
        <p:nvSpPr>
          <p:cNvPr id="6" name="Text 4"/>
          <p:cNvSpPr txBox="1"/>
          <p:nvPr/>
        </p:nvSpPr>
        <p:spPr>
          <a:xfrm>
            <a:off x="960120" y="2423160"/>
            <a:ext cx="822960" cy="822960"/>
          </a:xfrm>
          <a:prstGeom prst="rect">
            <a:avLst/>
          </a:prstGeom>
          <a:noFill/>
          <a:ln/>
        </p:spPr>
        <p:txBody>
          <a:bodyPr wrap="square" lIns="0" tIns="0" rIns="0" bIns="0" rtlCol="0" anchor="ctr"/>
          <a:lstStyle/>
          <a:p>
            <a:pPr algn="ctr" indent="0" marL="0">
              <a:buNone/>
            </a:pPr>
            <a:r>
              <a:rPr lang="en-US" sz="2400" dirty="0">
                <a:solidFill>
                  <a:srgbClr val="F1F5F9"/>
                </a:solidFill>
                <a:latin typeface="Arial Black" pitchFamily="34" charset="0"/>
                <a:ea typeface="Arial Black" pitchFamily="34" charset="-122"/>
                <a:cs typeface="Arial Black" pitchFamily="34" charset="-120"/>
              </a:rPr>
              <a:t>A</a:t>
            </a:r>
            <a:endParaRPr lang="en-US" sz="2400" dirty="0"/>
          </a:p>
        </p:txBody>
      </p:sp>
      <p:sp>
        <p:nvSpPr>
          <p:cNvPr id="7" name="Shape 5"/>
          <p:cNvSpPr/>
          <p:nvPr/>
        </p:nvSpPr>
        <p:spPr>
          <a:xfrm>
            <a:off x="1965960" y="2423160"/>
            <a:ext cx="822960" cy="822960"/>
          </a:xfrm>
          <a:prstGeom prst="roundRect">
            <a:avLst>
              <a:gd name="adj" fmla="val 17778"/>
            </a:avLst>
          </a:prstGeom>
          <a:solidFill>
            <a:srgbClr val="6366F1"/>
          </a:solidFill>
          <a:ln w="12700">
            <a:solidFill>
              <a:srgbClr val="A5B4FC"/>
            </a:solidFill>
            <a:prstDash val="solid"/>
          </a:ln>
        </p:spPr>
      </p:sp>
      <p:sp>
        <p:nvSpPr>
          <p:cNvPr id="8" name="Text 6"/>
          <p:cNvSpPr txBox="1"/>
          <p:nvPr/>
        </p:nvSpPr>
        <p:spPr>
          <a:xfrm>
            <a:off x="1965960" y="2423160"/>
            <a:ext cx="822960" cy="822960"/>
          </a:xfrm>
          <a:prstGeom prst="rect">
            <a:avLst/>
          </a:prstGeom>
          <a:noFill/>
          <a:ln/>
        </p:spPr>
        <p:txBody>
          <a:bodyPr wrap="square" lIns="0" tIns="0" rIns="0" bIns="0" rtlCol="0" anchor="ctr"/>
          <a:lstStyle/>
          <a:p>
            <a:pPr algn="ctr" indent="0" marL="0">
              <a:buNone/>
            </a:pPr>
            <a:r>
              <a:rPr lang="en-US" sz="2400" dirty="0">
                <a:solidFill>
                  <a:srgbClr val="F1F5F9"/>
                </a:solidFill>
                <a:latin typeface="Arial Black" pitchFamily="34" charset="0"/>
                <a:ea typeface="Arial Black" pitchFamily="34" charset="-122"/>
                <a:cs typeface="Arial Black" pitchFamily="34" charset="-120"/>
              </a:rPr>
              <a:t>B</a:t>
            </a:r>
            <a:endParaRPr lang="en-US" sz="2400" dirty="0"/>
          </a:p>
        </p:txBody>
      </p:sp>
      <p:sp>
        <p:nvSpPr>
          <p:cNvPr id="9" name="Shape 7"/>
          <p:cNvSpPr/>
          <p:nvPr/>
        </p:nvSpPr>
        <p:spPr>
          <a:xfrm>
            <a:off x="2971800" y="2423160"/>
            <a:ext cx="822960" cy="822960"/>
          </a:xfrm>
          <a:prstGeom prst="roundRect">
            <a:avLst>
              <a:gd name="adj" fmla="val 17778"/>
            </a:avLst>
          </a:prstGeom>
          <a:solidFill>
            <a:srgbClr val="6366F1"/>
          </a:solidFill>
          <a:ln w="12700">
            <a:solidFill>
              <a:srgbClr val="A5B4FC"/>
            </a:solidFill>
            <a:prstDash val="solid"/>
          </a:ln>
        </p:spPr>
      </p:sp>
      <p:sp>
        <p:nvSpPr>
          <p:cNvPr id="10" name="Text 8"/>
          <p:cNvSpPr txBox="1"/>
          <p:nvPr/>
        </p:nvSpPr>
        <p:spPr>
          <a:xfrm>
            <a:off x="2971800" y="2423160"/>
            <a:ext cx="822960" cy="822960"/>
          </a:xfrm>
          <a:prstGeom prst="rect">
            <a:avLst/>
          </a:prstGeom>
          <a:noFill/>
          <a:ln/>
        </p:spPr>
        <p:txBody>
          <a:bodyPr wrap="square" lIns="0" tIns="0" rIns="0" bIns="0" rtlCol="0" anchor="ctr"/>
          <a:lstStyle/>
          <a:p>
            <a:pPr algn="ctr" indent="0" marL="0">
              <a:buNone/>
            </a:pPr>
            <a:r>
              <a:rPr lang="en-US" sz="2400" dirty="0">
                <a:solidFill>
                  <a:srgbClr val="F1F5F9"/>
                </a:solidFill>
                <a:latin typeface="Arial Black" pitchFamily="34" charset="0"/>
                <a:ea typeface="Arial Black" pitchFamily="34" charset="-122"/>
                <a:cs typeface="Arial Black" pitchFamily="34" charset="-120"/>
              </a:rPr>
              <a:t>C</a:t>
            </a:r>
            <a:endParaRPr lang="en-US" sz="2400" dirty="0"/>
          </a:p>
        </p:txBody>
      </p:sp>
      <p:sp>
        <p:nvSpPr>
          <p:cNvPr id="11" name="Text 9"/>
          <p:cNvSpPr txBox="1"/>
          <p:nvPr/>
        </p:nvSpPr>
        <p:spPr>
          <a:xfrm>
            <a:off x="960120" y="3310128"/>
            <a:ext cx="2926080" cy="274320"/>
          </a:xfrm>
          <a:prstGeom prst="rect">
            <a:avLst/>
          </a:prstGeom>
          <a:noFill/>
          <a:ln/>
        </p:spPr>
        <p:txBody>
          <a:bodyPr wrap="square" lIns="0" tIns="0" rIns="0" bIns="0" rtlCol="0" anchor="t"/>
          <a:lstStyle/>
          <a:p>
            <a:pPr indent="0" marL="0">
              <a:buNone/>
            </a:pPr>
            <a:r>
              <a:rPr lang="en-US" sz="1300" dirty="0">
                <a:solidFill>
                  <a:srgbClr val="A3AED0"/>
                </a:solidFill>
                <a:latin typeface="Calibri" pitchFamily="34" charset="0"/>
                <a:ea typeface="Calibri" pitchFamily="34" charset="-122"/>
                <a:cs typeface="Calibri" pitchFamily="34" charset="-120"/>
              </a:rPr>
              <a:t>confirmed</a:t>
            </a:r>
            <a:endParaRPr lang="en-US" sz="1300" dirty="0"/>
          </a:p>
        </p:txBody>
      </p:sp>
      <p:sp>
        <p:nvSpPr>
          <p:cNvPr id="12" name="Shape 10"/>
          <p:cNvSpPr/>
          <p:nvPr/>
        </p:nvSpPr>
        <p:spPr>
          <a:xfrm>
            <a:off x="4572000" y="2423160"/>
            <a:ext cx="822960" cy="822960"/>
          </a:xfrm>
          <a:prstGeom prst="ellipse">
            <a:avLst/>
          </a:prstGeom>
          <a:solidFill>
            <a:srgbClr val="0B0B1A"/>
          </a:solidFill>
          <a:ln w="28575">
            <a:solidFill>
              <a:srgbClr val="F97316"/>
            </a:solidFill>
            <a:prstDash val="solid"/>
          </a:ln>
        </p:spPr>
      </p:sp>
      <p:sp>
        <p:nvSpPr>
          <p:cNvPr id="13" name="Text 11"/>
          <p:cNvSpPr txBox="1"/>
          <p:nvPr/>
        </p:nvSpPr>
        <p:spPr>
          <a:xfrm>
            <a:off x="4572000" y="2423160"/>
            <a:ext cx="822960" cy="822960"/>
          </a:xfrm>
          <a:prstGeom prst="rect">
            <a:avLst/>
          </a:prstGeom>
          <a:noFill/>
          <a:ln/>
        </p:spPr>
        <p:txBody>
          <a:bodyPr wrap="square" lIns="0" tIns="0" rIns="0" bIns="0" rtlCol="0" anchor="ctr"/>
          <a:lstStyle/>
          <a:p>
            <a:pPr algn="ctr" indent="0" marL="0">
              <a:buNone/>
            </a:pPr>
            <a:r>
              <a:rPr lang="en-US" sz="2400" dirty="0">
                <a:solidFill>
                  <a:srgbClr val="F97316"/>
                </a:solidFill>
                <a:latin typeface="Arial Black" pitchFamily="34" charset="0"/>
                <a:ea typeface="Arial Black" pitchFamily="34" charset="-122"/>
                <a:cs typeface="Arial Black" pitchFamily="34" charset="-120"/>
              </a:rPr>
              <a:t>D</a:t>
            </a:r>
            <a:endParaRPr lang="en-US" sz="2400" dirty="0"/>
          </a:p>
        </p:txBody>
      </p:sp>
      <p:sp>
        <p:nvSpPr>
          <p:cNvPr id="14" name="Text 12"/>
          <p:cNvSpPr txBox="1"/>
          <p:nvPr/>
        </p:nvSpPr>
        <p:spPr>
          <a:xfrm>
            <a:off x="4572000" y="3310128"/>
            <a:ext cx="822960" cy="274320"/>
          </a:xfrm>
          <a:prstGeom prst="rect">
            <a:avLst/>
          </a:prstGeom>
          <a:noFill/>
          <a:ln/>
        </p:spPr>
        <p:txBody>
          <a:bodyPr wrap="square" lIns="0" tIns="0" rIns="0" bIns="0" rtlCol="0" anchor="t"/>
          <a:lstStyle/>
          <a:p>
            <a:pPr algn="ctr" indent="0" marL="0">
              <a:buNone/>
            </a:pPr>
            <a:r>
              <a:rPr lang="en-US" sz="1300" dirty="0">
                <a:solidFill>
                  <a:srgbClr val="A3AED0"/>
                </a:solidFill>
                <a:latin typeface="Calibri" pitchFamily="34" charset="0"/>
                <a:ea typeface="Calibri" pitchFamily="34" charset="-122"/>
                <a:cs typeface="Calibri" pitchFamily="34" charset="-120"/>
              </a:rPr>
              <a:t>#1</a:t>
            </a:r>
            <a:endParaRPr lang="en-US" sz="1300" dirty="0"/>
          </a:p>
        </p:txBody>
      </p:sp>
      <p:sp>
        <p:nvSpPr>
          <p:cNvPr id="15" name="Shape 13"/>
          <p:cNvSpPr/>
          <p:nvPr/>
        </p:nvSpPr>
        <p:spPr>
          <a:xfrm>
            <a:off x="5577840" y="2423160"/>
            <a:ext cx="822960" cy="822960"/>
          </a:xfrm>
          <a:prstGeom prst="ellipse">
            <a:avLst/>
          </a:prstGeom>
          <a:solidFill>
            <a:srgbClr val="0B0B1A"/>
          </a:solidFill>
          <a:ln w="28575">
            <a:solidFill>
              <a:srgbClr val="F97316"/>
            </a:solidFill>
            <a:prstDash val="solid"/>
          </a:ln>
        </p:spPr>
      </p:sp>
      <p:sp>
        <p:nvSpPr>
          <p:cNvPr id="16" name="Text 14"/>
          <p:cNvSpPr txBox="1"/>
          <p:nvPr/>
        </p:nvSpPr>
        <p:spPr>
          <a:xfrm>
            <a:off x="5577840" y="2423160"/>
            <a:ext cx="822960" cy="822960"/>
          </a:xfrm>
          <a:prstGeom prst="rect">
            <a:avLst/>
          </a:prstGeom>
          <a:noFill/>
          <a:ln/>
        </p:spPr>
        <p:txBody>
          <a:bodyPr wrap="square" lIns="0" tIns="0" rIns="0" bIns="0" rtlCol="0" anchor="ctr"/>
          <a:lstStyle/>
          <a:p>
            <a:pPr algn="ctr" indent="0" marL="0">
              <a:buNone/>
            </a:pPr>
            <a:r>
              <a:rPr lang="en-US" sz="2400" dirty="0">
                <a:solidFill>
                  <a:srgbClr val="F97316"/>
                </a:solidFill>
                <a:latin typeface="Arial Black" pitchFamily="34" charset="0"/>
                <a:ea typeface="Arial Black" pitchFamily="34" charset="-122"/>
                <a:cs typeface="Arial Black" pitchFamily="34" charset="-120"/>
              </a:rPr>
              <a:t>E</a:t>
            </a:r>
            <a:endParaRPr lang="en-US" sz="2400" dirty="0"/>
          </a:p>
        </p:txBody>
      </p:sp>
      <p:sp>
        <p:nvSpPr>
          <p:cNvPr id="17" name="Text 15"/>
          <p:cNvSpPr txBox="1"/>
          <p:nvPr/>
        </p:nvSpPr>
        <p:spPr>
          <a:xfrm>
            <a:off x="5577840" y="3310128"/>
            <a:ext cx="822960" cy="274320"/>
          </a:xfrm>
          <a:prstGeom prst="rect">
            <a:avLst/>
          </a:prstGeom>
          <a:noFill/>
          <a:ln/>
        </p:spPr>
        <p:txBody>
          <a:bodyPr wrap="square" lIns="0" tIns="0" rIns="0" bIns="0" rtlCol="0" anchor="t"/>
          <a:lstStyle/>
          <a:p>
            <a:pPr algn="ctr" indent="0" marL="0">
              <a:buNone/>
            </a:pPr>
            <a:r>
              <a:rPr lang="en-US" sz="1300" dirty="0">
                <a:solidFill>
                  <a:srgbClr val="A3AED0"/>
                </a:solidFill>
                <a:latin typeface="Calibri" pitchFamily="34" charset="0"/>
                <a:ea typeface="Calibri" pitchFamily="34" charset="-122"/>
                <a:cs typeface="Calibri" pitchFamily="34" charset="-120"/>
              </a:rPr>
              <a:t>#2</a:t>
            </a:r>
            <a:endParaRPr lang="en-US" sz="1300" dirty="0"/>
          </a:p>
        </p:txBody>
      </p:sp>
      <p:sp>
        <p:nvSpPr>
          <p:cNvPr id="18" name="Text 16"/>
          <p:cNvSpPr txBox="1"/>
          <p:nvPr/>
        </p:nvSpPr>
        <p:spPr>
          <a:xfrm>
            <a:off x="4572000" y="2103120"/>
            <a:ext cx="2194560" cy="274320"/>
          </a:xfrm>
          <a:prstGeom prst="rect">
            <a:avLst/>
          </a:prstGeom>
          <a:noFill/>
          <a:ln/>
        </p:spPr>
        <p:txBody>
          <a:bodyPr wrap="square" lIns="0" tIns="0" rIns="0" bIns="0" rtlCol="0" anchor="t"/>
          <a:lstStyle/>
          <a:p>
            <a:pPr indent="0" marL="0">
              <a:buNone/>
            </a:pPr>
            <a:r>
              <a:rPr lang="en-US" sz="1300" dirty="0">
                <a:solidFill>
                  <a:srgbClr val="A3AED0"/>
                </a:solidFill>
                <a:latin typeface="Calibri" pitchFamily="34" charset="0"/>
                <a:ea typeface="Calibri" pitchFamily="34" charset="-122"/>
                <a:cs typeface="Calibri" pitchFamily="34" charset="-120"/>
              </a:rPr>
              <a:t>waitlist, in order</a:t>
            </a:r>
            <a:endParaRPr lang="en-US" sz="1300" dirty="0"/>
          </a:p>
        </p:txBody>
      </p:sp>
      <p:sp>
        <p:nvSpPr>
          <p:cNvPr id="19" name="Shape 17"/>
          <p:cNvSpPr/>
          <p:nvPr/>
        </p:nvSpPr>
        <p:spPr>
          <a:xfrm>
            <a:off x="960120" y="3886200"/>
            <a:ext cx="365760" cy="365760"/>
          </a:xfrm>
          <a:prstGeom prst="ellipse">
            <a:avLst/>
          </a:prstGeom>
          <a:solidFill>
            <a:srgbClr val="F87171">
              <a:alpha val="25000"/>
            </a:srgbClr>
          </a:solidFill>
          <a:ln w="12700">
            <a:solidFill>
              <a:srgbClr val="F87171"/>
            </a:solidFill>
            <a:prstDash val="solid"/>
          </a:ln>
        </p:spPr>
      </p:sp>
      <p:sp>
        <p:nvSpPr>
          <p:cNvPr id="20" name="Text 18"/>
          <p:cNvSpPr txBox="1"/>
          <p:nvPr/>
        </p:nvSpPr>
        <p:spPr>
          <a:xfrm>
            <a:off x="960120" y="3886200"/>
            <a:ext cx="365760" cy="365760"/>
          </a:xfrm>
          <a:prstGeom prst="rect">
            <a:avLst/>
          </a:prstGeom>
          <a:noFill/>
          <a:ln/>
        </p:spPr>
        <p:txBody>
          <a:bodyPr wrap="square" lIns="0" tIns="0" rIns="0" bIns="0" rtlCol="0" anchor="ctr"/>
          <a:lstStyle/>
          <a:p>
            <a:pPr algn="ctr" indent="0" marL="0">
              <a:buNone/>
            </a:pPr>
            <a:r>
              <a:rPr lang="en-US" sz="1200" dirty="0">
                <a:solidFill>
                  <a:srgbClr val="F87171"/>
                </a:solidFill>
                <a:latin typeface="Arial Black" pitchFamily="34" charset="0"/>
                <a:ea typeface="Arial Black" pitchFamily="34" charset="-122"/>
                <a:cs typeface="Arial Black" pitchFamily="34" charset="-120"/>
              </a:rPr>
              <a:t>1</a:t>
            </a:r>
            <a:endParaRPr lang="en-US" sz="1200" dirty="0"/>
          </a:p>
        </p:txBody>
      </p:sp>
      <p:sp>
        <p:nvSpPr>
          <p:cNvPr id="21" name="Text 19"/>
          <p:cNvSpPr txBox="1"/>
          <p:nvPr/>
        </p:nvSpPr>
        <p:spPr>
          <a:xfrm>
            <a:off x="1554480" y="3886200"/>
            <a:ext cx="5120640" cy="365760"/>
          </a:xfrm>
          <a:prstGeom prst="rect">
            <a:avLst/>
          </a:prstGeom>
          <a:noFill/>
          <a:ln/>
        </p:spPr>
        <p:txBody>
          <a:bodyPr wrap="square" lIns="0" tIns="0" rIns="0" bIns="0" rtlCol="0" anchor="ctr"/>
          <a:lstStyle/>
          <a:p>
            <a:pPr indent="0" marL="0">
              <a:buNone/>
            </a:pPr>
            <a:r>
              <a:rPr lang="en-US" sz="2000" b="1" dirty="0">
                <a:solidFill>
                  <a:srgbClr val="F1F5F9"/>
                </a:solidFill>
                <a:latin typeface="Calibri" pitchFamily="34" charset="0"/>
                <a:ea typeface="Calibri" pitchFamily="34" charset="-122"/>
                <a:cs typeface="Calibri" pitchFamily="34" charset="-120"/>
              </a:rPr>
              <a:t>A cancels</a:t>
            </a:r>
            <a:endParaRPr lang="en-US" sz="2000" dirty="0"/>
          </a:p>
        </p:txBody>
      </p:sp>
      <p:sp>
        <p:nvSpPr>
          <p:cNvPr id="22" name="Shape 20"/>
          <p:cNvSpPr/>
          <p:nvPr/>
        </p:nvSpPr>
        <p:spPr>
          <a:xfrm>
            <a:off x="960120" y="4407408"/>
            <a:ext cx="365760" cy="365760"/>
          </a:xfrm>
          <a:prstGeom prst="ellipse">
            <a:avLst/>
          </a:prstGeom>
          <a:solidFill>
            <a:srgbClr val="A5B4FC">
              <a:alpha val="25000"/>
            </a:srgbClr>
          </a:solidFill>
          <a:ln w="12700">
            <a:solidFill>
              <a:srgbClr val="A5B4FC"/>
            </a:solidFill>
            <a:prstDash val="solid"/>
          </a:ln>
        </p:spPr>
      </p:sp>
      <p:sp>
        <p:nvSpPr>
          <p:cNvPr id="23" name="Text 21"/>
          <p:cNvSpPr txBox="1"/>
          <p:nvPr/>
        </p:nvSpPr>
        <p:spPr>
          <a:xfrm>
            <a:off x="960120" y="4407408"/>
            <a:ext cx="365760" cy="365760"/>
          </a:xfrm>
          <a:prstGeom prst="rect">
            <a:avLst/>
          </a:prstGeom>
          <a:noFill/>
          <a:ln/>
        </p:spPr>
        <p:txBody>
          <a:bodyPr wrap="square" lIns="0" tIns="0" rIns="0" bIns="0" rtlCol="0" anchor="ctr"/>
          <a:lstStyle/>
          <a:p>
            <a:pPr algn="ctr" indent="0" marL="0">
              <a:buNone/>
            </a:pPr>
            <a:r>
              <a:rPr lang="en-US" sz="1200" dirty="0">
                <a:solidFill>
                  <a:srgbClr val="A5B4FC"/>
                </a:solidFill>
                <a:latin typeface="Arial Black" pitchFamily="34" charset="0"/>
                <a:ea typeface="Arial Black" pitchFamily="34" charset="-122"/>
                <a:cs typeface="Arial Black" pitchFamily="34" charset="-120"/>
              </a:rPr>
              <a:t>2</a:t>
            </a:r>
            <a:endParaRPr lang="en-US" sz="1200" dirty="0"/>
          </a:p>
        </p:txBody>
      </p:sp>
      <p:sp>
        <p:nvSpPr>
          <p:cNvPr id="24" name="Text 22"/>
          <p:cNvSpPr txBox="1"/>
          <p:nvPr/>
        </p:nvSpPr>
        <p:spPr>
          <a:xfrm>
            <a:off x="1554480" y="4407408"/>
            <a:ext cx="5120640" cy="365760"/>
          </a:xfrm>
          <a:prstGeom prst="rect">
            <a:avLst/>
          </a:prstGeom>
          <a:noFill/>
          <a:ln/>
        </p:spPr>
        <p:txBody>
          <a:bodyPr wrap="square" lIns="0" tIns="0" rIns="0" bIns="0" rtlCol="0" anchor="ctr"/>
          <a:lstStyle/>
          <a:p>
            <a:pPr indent="0" marL="0">
              <a:buNone/>
            </a:pPr>
            <a:r>
              <a:rPr lang="en-US" sz="2000" b="1" dirty="0">
                <a:solidFill>
                  <a:srgbClr val="F1F5F9"/>
                </a:solidFill>
                <a:latin typeface="Calibri" pitchFamily="34" charset="0"/>
                <a:ea typeface="Calibri" pitchFamily="34" charset="-122"/>
                <a:cs typeface="Calibri" pitchFamily="34" charset="-120"/>
              </a:rPr>
              <a:t>A seat frees up</a:t>
            </a:r>
            <a:endParaRPr lang="en-US" sz="2000" dirty="0"/>
          </a:p>
        </p:txBody>
      </p:sp>
      <p:sp>
        <p:nvSpPr>
          <p:cNvPr id="25" name="Shape 23"/>
          <p:cNvSpPr/>
          <p:nvPr/>
        </p:nvSpPr>
        <p:spPr>
          <a:xfrm>
            <a:off x="960120" y="4928616"/>
            <a:ext cx="365760" cy="365760"/>
          </a:xfrm>
          <a:prstGeom prst="ellipse">
            <a:avLst/>
          </a:prstGeom>
          <a:solidFill>
            <a:srgbClr val="4ADE80">
              <a:alpha val="25000"/>
            </a:srgbClr>
          </a:solidFill>
          <a:ln w="12700">
            <a:solidFill>
              <a:srgbClr val="4ADE80"/>
            </a:solidFill>
            <a:prstDash val="solid"/>
          </a:ln>
        </p:spPr>
      </p:sp>
      <p:sp>
        <p:nvSpPr>
          <p:cNvPr id="26" name="Text 24"/>
          <p:cNvSpPr txBox="1"/>
          <p:nvPr/>
        </p:nvSpPr>
        <p:spPr>
          <a:xfrm>
            <a:off x="960120" y="4928616"/>
            <a:ext cx="365760" cy="365760"/>
          </a:xfrm>
          <a:prstGeom prst="rect">
            <a:avLst/>
          </a:prstGeom>
          <a:noFill/>
          <a:ln/>
        </p:spPr>
        <p:txBody>
          <a:bodyPr wrap="square" lIns="0" tIns="0" rIns="0" bIns="0" rtlCol="0" anchor="ctr"/>
          <a:lstStyle/>
          <a:p>
            <a:pPr algn="ctr" indent="0" marL="0">
              <a:buNone/>
            </a:pPr>
            <a:r>
              <a:rPr lang="en-US" sz="1200" dirty="0">
                <a:solidFill>
                  <a:srgbClr val="4ADE80"/>
                </a:solidFill>
                <a:latin typeface="Arial Black" pitchFamily="34" charset="0"/>
                <a:ea typeface="Arial Black" pitchFamily="34" charset="-122"/>
                <a:cs typeface="Arial Black" pitchFamily="34" charset="-120"/>
              </a:rPr>
              <a:t>3</a:t>
            </a:r>
            <a:endParaRPr lang="en-US" sz="1200" dirty="0"/>
          </a:p>
        </p:txBody>
      </p:sp>
      <p:sp>
        <p:nvSpPr>
          <p:cNvPr id="27" name="Text 25"/>
          <p:cNvSpPr txBox="1"/>
          <p:nvPr/>
        </p:nvSpPr>
        <p:spPr>
          <a:xfrm>
            <a:off x="1554480" y="4928616"/>
            <a:ext cx="5120640" cy="365760"/>
          </a:xfrm>
          <a:prstGeom prst="rect">
            <a:avLst/>
          </a:prstGeom>
          <a:noFill/>
          <a:ln/>
        </p:spPr>
        <p:txBody>
          <a:bodyPr wrap="square" lIns="0" tIns="0" rIns="0" bIns="0" rtlCol="0" anchor="ctr"/>
          <a:lstStyle/>
          <a:p>
            <a:pPr indent="0" marL="0">
              <a:buNone/>
            </a:pPr>
            <a:r>
              <a:rPr lang="en-US" sz="2000" b="1" dirty="0">
                <a:solidFill>
                  <a:srgbClr val="F1F5F9"/>
                </a:solidFill>
                <a:latin typeface="Calibri" pitchFamily="34" charset="0"/>
                <a:ea typeface="Calibri" pitchFamily="34" charset="-122"/>
                <a:cs typeface="Calibri" pitchFamily="34" charset="-120"/>
              </a:rPr>
              <a:t>D is confirmed</a:t>
            </a:r>
            <a:endParaRPr lang="en-US" sz="2000" dirty="0"/>
          </a:p>
        </p:txBody>
      </p:sp>
      <p:sp>
        <p:nvSpPr>
          <p:cNvPr id="28" name="Shape 26"/>
          <p:cNvSpPr/>
          <p:nvPr/>
        </p:nvSpPr>
        <p:spPr>
          <a:xfrm>
            <a:off x="960120" y="5449824"/>
            <a:ext cx="365760" cy="365760"/>
          </a:xfrm>
          <a:prstGeom prst="ellipse">
            <a:avLst/>
          </a:prstGeom>
          <a:solidFill>
            <a:srgbClr val="F472B6">
              <a:alpha val="25000"/>
            </a:srgbClr>
          </a:solidFill>
          <a:ln w="12700">
            <a:solidFill>
              <a:srgbClr val="F472B6"/>
            </a:solidFill>
            <a:prstDash val="solid"/>
          </a:ln>
        </p:spPr>
      </p:sp>
      <p:sp>
        <p:nvSpPr>
          <p:cNvPr id="29" name="Text 27"/>
          <p:cNvSpPr txBox="1"/>
          <p:nvPr/>
        </p:nvSpPr>
        <p:spPr>
          <a:xfrm>
            <a:off x="960120" y="5449824"/>
            <a:ext cx="365760" cy="365760"/>
          </a:xfrm>
          <a:prstGeom prst="rect">
            <a:avLst/>
          </a:prstGeom>
          <a:noFill/>
          <a:ln/>
        </p:spPr>
        <p:txBody>
          <a:bodyPr wrap="square" lIns="0" tIns="0" rIns="0" bIns="0" rtlCol="0" anchor="ctr"/>
          <a:lstStyle/>
          <a:p>
            <a:pPr algn="ctr" indent="0" marL="0">
              <a:buNone/>
            </a:pPr>
            <a:r>
              <a:rPr lang="en-US" sz="1200" dirty="0">
                <a:solidFill>
                  <a:srgbClr val="F472B6"/>
                </a:solidFill>
                <a:latin typeface="Arial Black" pitchFamily="34" charset="0"/>
                <a:ea typeface="Arial Black" pitchFamily="34" charset="-122"/>
                <a:cs typeface="Arial Black" pitchFamily="34" charset="-120"/>
              </a:rPr>
              <a:t>4</a:t>
            </a:r>
            <a:endParaRPr lang="en-US" sz="1200" dirty="0"/>
          </a:p>
        </p:txBody>
      </p:sp>
      <p:sp>
        <p:nvSpPr>
          <p:cNvPr id="30" name="Text 28"/>
          <p:cNvSpPr txBox="1"/>
          <p:nvPr/>
        </p:nvSpPr>
        <p:spPr>
          <a:xfrm>
            <a:off x="1554480" y="5449824"/>
            <a:ext cx="5120640" cy="365760"/>
          </a:xfrm>
          <a:prstGeom prst="rect">
            <a:avLst/>
          </a:prstGeom>
          <a:noFill/>
          <a:ln/>
        </p:spPr>
        <p:txBody>
          <a:bodyPr wrap="square" lIns="0" tIns="0" rIns="0" bIns="0" rtlCol="0" anchor="ctr"/>
          <a:lstStyle/>
          <a:p>
            <a:pPr indent="0" marL="0">
              <a:buNone/>
            </a:pPr>
            <a:r>
              <a:rPr lang="en-US" sz="2000" b="1" dirty="0">
                <a:solidFill>
                  <a:srgbClr val="F1F5F9"/>
                </a:solidFill>
                <a:latin typeface="Calibri" pitchFamily="34" charset="0"/>
                <a:ea typeface="Calibri" pitchFamily="34" charset="-122"/>
                <a:cs typeface="Calibri" pitchFamily="34" charset="-120"/>
              </a:rPr>
              <a:t>D gets a notification</a:t>
            </a:r>
            <a:endParaRPr lang="en-US" sz="2000" dirty="0"/>
          </a:p>
        </p:txBody>
      </p:sp>
      <p:sp>
        <p:nvSpPr>
          <p:cNvPr id="31" name="Text 29"/>
          <p:cNvSpPr txBox="1"/>
          <p:nvPr/>
        </p:nvSpPr>
        <p:spPr>
          <a:xfrm>
            <a:off x="7635240" y="1600200"/>
            <a:ext cx="3931920" cy="457200"/>
          </a:xfrm>
          <a:prstGeom prst="rect">
            <a:avLst/>
          </a:prstGeom>
          <a:noFill/>
          <a:ln/>
        </p:spPr>
        <p:txBody>
          <a:bodyPr wrap="square" lIns="0" tIns="0" rIns="0" bIns="0" rtlCol="0" anchor="t"/>
          <a:lstStyle/>
          <a:p>
            <a:pPr indent="0" marL="0">
              <a:buNone/>
            </a:pPr>
            <a:r>
              <a:rPr lang="en-US" sz="2200" b="1" dirty="0">
                <a:solidFill>
                  <a:srgbClr val="F1F5F9"/>
                </a:solidFill>
                <a:latin typeface="Calibri" pitchFamily="34" charset="0"/>
                <a:ea typeface="Calibri" pitchFamily="34" charset="-122"/>
                <a:cs typeface="Calibri" pitchFamily="34" charset="-120"/>
              </a:rPr>
              <a:t>Two people, one last seat</a:t>
            </a:r>
            <a:endParaRPr lang="en-US" sz="2200" dirty="0"/>
          </a:p>
        </p:txBody>
      </p:sp>
      <p:sp>
        <p:nvSpPr>
          <p:cNvPr id="32" name="Text 30"/>
          <p:cNvSpPr txBox="1"/>
          <p:nvPr/>
        </p:nvSpPr>
        <p:spPr>
          <a:xfrm>
            <a:off x="7635240" y="2148840"/>
            <a:ext cx="3931920" cy="1371600"/>
          </a:xfrm>
          <a:prstGeom prst="rect">
            <a:avLst/>
          </a:prstGeom>
          <a:noFill/>
          <a:ln/>
        </p:spPr>
        <p:txBody>
          <a:bodyPr wrap="square" lIns="0" tIns="0" rIns="0" bIns="0" rtlCol="0" anchor="t"/>
          <a:lstStyle/>
          <a:p>
            <a:pPr indent="0" marL="0">
              <a:buNone/>
            </a:pPr>
            <a:r>
              <a:rPr lang="en-US" sz="1500" dirty="0">
                <a:solidFill>
                  <a:srgbClr val="A3AED0"/>
                </a:solidFill>
                <a:latin typeface="Calibri" pitchFamily="34" charset="0"/>
                <a:ea typeface="Calibri" pitchFamily="34" charset="-122"/>
                <a:cs typeface="Calibri" pitchFamily="34" charset="-120"/>
              </a:rPr>
              <a:t>Register and cancel run inside a database transaction that locks the event. Two clicks at the same moment cannot both get the last seat.</a:t>
            </a:r>
            <a:endParaRPr lang="en-US" sz="1500" dirty="0"/>
          </a:p>
        </p:txBody>
      </p:sp>
      <p:sp>
        <p:nvSpPr>
          <p:cNvPr id="33" name="Shape 31"/>
          <p:cNvSpPr/>
          <p:nvPr/>
        </p:nvSpPr>
        <p:spPr>
          <a:xfrm>
            <a:off x="7635240" y="3154680"/>
            <a:ext cx="3931920" cy="2880360"/>
          </a:xfrm>
          <a:prstGeom prst="roundRect">
            <a:avLst>
              <a:gd name="adj" fmla="val 4444"/>
            </a:avLst>
          </a:prstGeom>
          <a:solidFill>
            <a:srgbClr val="07071A"/>
          </a:solidFill>
          <a:ln w="9525">
            <a:solidFill>
              <a:srgbClr val="34345E"/>
            </a:solidFill>
            <a:prstDash val="solid"/>
          </a:ln>
        </p:spPr>
      </p:sp>
      <p:sp>
        <p:nvSpPr>
          <p:cNvPr id="34" name="Text 32"/>
          <p:cNvSpPr txBox="1"/>
          <p:nvPr/>
        </p:nvSpPr>
        <p:spPr>
          <a:xfrm>
            <a:off x="7909560" y="3383280"/>
            <a:ext cx="3474720" cy="2468880"/>
          </a:xfrm>
          <a:prstGeom prst="rect">
            <a:avLst/>
          </a:prstGeom>
          <a:noFill/>
          <a:ln/>
        </p:spPr>
        <p:txBody>
          <a:bodyPr wrap="square" lIns="0" tIns="0" rIns="0" bIns="0" rtlCol="0" anchor="t"/>
          <a:lstStyle/>
          <a:p>
            <a:pPr indent="0" marL="0">
              <a:buNone/>
            </a:pPr>
            <a:r>
              <a:rPr lang="en-US" sz="1300" dirty="0">
                <a:solidFill>
                  <a:srgbClr val="A5B4FC"/>
                </a:solidFill>
                <a:latin typeface="Courier New" pitchFamily="34" charset="0"/>
                <a:ea typeface="Courier New" pitchFamily="34" charset="-122"/>
                <a:cs typeface="Courier New" pitchFamily="34" charset="-120"/>
              </a:rPr>
              <a:t>with transaction.atomic():</a:t>
            </a:r>
            <a:endParaRPr lang="en-US" sz="1300" dirty="0"/>
          </a:p>
          <a:p>
            <a:pPr indent="0" marL="0">
              <a:buNone/>
            </a:pPr>
            <a:r>
              <a:rPr lang="en-US" sz="1300" dirty="0">
                <a:solidFill>
                  <a:srgbClr val="F1F5F9"/>
                </a:solidFill>
                <a:latin typeface="Courier New" pitchFamily="34" charset="0"/>
                <a:ea typeface="Courier New" pitchFamily="34" charset="-122"/>
                <a:cs typeface="Courier New" pitchFamily="34" charset="-120"/>
              </a:rPr>
              <a:t>    event = Event.objects</a:t>
            </a:r>
            <a:endParaRPr lang="en-US" sz="1300" dirty="0"/>
          </a:p>
          <a:p>
            <a:pPr indent="0" marL="0">
              <a:buNone/>
            </a:pPr>
            <a:r>
              <a:rPr lang="en-US" sz="1300" dirty="0">
                <a:solidFill>
                  <a:srgbClr val="F97316"/>
                </a:solidFill>
                <a:latin typeface="Courier New" pitchFamily="34" charset="0"/>
                <a:ea typeface="Courier New" pitchFamily="34" charset="-122"/>
                <a:cs typeface="Courier New" pitchFamily="34" charset="-120"/>
              </a:rPr>
              <a:t>        .select_for_update()</a:t>
            </a:r>
            <a:endParaRPr lang="en-US" sz="1300" dirty="0"/>
          </a:p>
          <a:p>
            <a:pPr indent="0" marL="0">
              <a:buNone/>
            </a:pPr>
            <a:r>
              <a:rPr lang="en-US" sz="1300" dirty="0">
                <a:solidFill>
                  <a:srgbClr val="F1F5F9"/>
                </a:solidFill>
                <a:latin typeface="Courier New" pitchFamily="34" charset="0"/>
                <a:ea typeface="Courier New" pitchFamily="34" charset="-122"/>
                <a:cs typeface="Courier New" pitchFamily="34" charset="-120"/>
              </a:rPr>
              <a:t>        .get(pk=pk)</a:t>
            </a:r>
            <a:endParaRPr lang="en-US" sz="1300" dirty="0"/>
          </a:p>
          <a:p>
            <a:pPr indent="0" marL="0">
              <a:buNone/>
            </a:pPr>
            <a:r>
              <a:rPr lang="en-US" sz="1300" dirty="0">
                <a:solidFill>
                  <a:srgbClr val="A5B4FC"/>
                </a:solidFill>
                <a:latin typeface="Courier New" pitchFamily="34" charset="0"/>
                <a:ea typeface="Courier New" pitchFamily="34" charset="-122"/>
                <a:cs typeface="Courier New" pitchFamily="34" charset="-120"/>
              </a:rPr>
              <a:t>    if event.is_full:</a:t>
            </a:r>
            <a:endParaRPr lang="en-US" sz="1300" dirty="0"/>
          </a:p>
          <a:p>
            <a:pPr indent="0" marL="0">
              <a:buNone/>
            </a:pPr>
            <a:r>
              <a:rPr lang="en-US" sz="1300" dirty="0">
                <a:solidFill>
                  <a:srgbClr val="F472B6"/>
                </a:solidFill>
                <a:latin typeface="Courier New" pitchFamily="34" charset="0"/>
                <a:ea typeface="Courier New" pitchFamily="34" charset="-122"/>
                <a:cs typeface="Courier New" pitchFamily="34" charset="-120"/>
              </a:rPr>
              <a:t>        status = WAITLISTED</a:t>
            </a:r>
            <a:endParaRPr lang="en-US" sz="1300" dirty="0"/>
          </a:p>
          <a:p>
            <a:pPr indent="0" marL="0">
              <a:buNone/>
            </a:pPr>
            <a:r>
              <a:rPr lang="en-US" sz="1300" dirty="0">
                <a:solidFill>
                  <a:srgbClr val="A5B4FC"/>
                </a:solidFill>
                <a:latin typeface="Courier New" pitchFamily="34" charset="0"/>
                <a:ea typeface="Courier New" pitchFamily="34" charset="-122"/>
                <a:cs typeface="Courier New" pitchFamily="34" charset="-120"/>
              </a:rPr>
              <a:t>    else:</a:t>
            </a:r>
            <a:endParaRPr lang="en-US" sz="1300" dirty="0"/>
          </a:p>
          <a:p>
            <a:pPr indent="0" marL="0">
              <a:buNone/>
            </a:pPr>
            <a:r>
              <a:rPr lang="en-US" sz="1300" dirty="0">
                <a:solidFill>
                  <a:srgbClr val="4ADE80"/>
                </a:solidFill>
                <a:latin typeface="Courier New" pitchFamily="34" charset="0"/>
                <a:ea typeface="Courier New" pitchFamily="34" charset="-122"/>
                <a:cs typeface="Courier New" pitchFamily="34" charset="-120"/>
              </a:rPr>
              <a:t>        status = CONFIRMED</a:t>
            </a:r>
            <a:endParaRPr lang="en-US" sz="1300" dirty="0"/>
          </a:p>
        </p:txBody>
      </p:sp>
      <p:sp>
        <p:nvSpPr>
          <p:cNvPr id="25" name="Slide Number Placeholder 0"/>
          <p:cNvSpPr>
            <a:spLocks noGrp="1"/>
          </p:cNvSpPr>
          <p:nvPr>
            <p:ph type="sldNum" sz="quarter" idx="4294967295"/>
          </p:nvPr>
        </p:nvSpPr>
        <p:spPr>
          <a:xfrm>
            <a:off x="11064240" y="640080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3AED0"/>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640080" y="457200"/>
            <a:ext cx="10908792" cy="777240"/>
          </a:xfrm>
          <a:prstGeom prst="rect">
            <a:avLst/>
          </a:prstGeom>
          <a:noFill/>
          <a:ln/>
        </p:spPr>
        <p:txBody>
          <a:bodyPr wrap="square" lIns="0" tIns="0" rIns="0" bIns="0" rtlCol="0" anchor="ctr"/>
          <a:lstStyle/>
          <a:p>
            <a:pPr algn="l" indent="0" marL="0">
              <a:buNone/>
            </a:pPr>
            <a:r>
              <a:rPr lang="en-US" sz="2600" dirty="0">
                <a:solidFill>
                  <a:srgbClr val="F1F5F9"/>
                </a:solidFill>
                <a:latin typeface="Arial Black" pitchFamily="34" charset="0"/>
                <a:ea typeface="Arial Black" pitchFamily="34" charset="-122"/>
                <a:cs typeface="Arial Black" pitchFamily="34" charset="-120"/>
              </a:rPr>
              <a:t>Hosts see who is coming</a:t>
            </a:r>
            <a:endParaRPr lang="en-US" sz="2600" dirty="0"/>
          </a:p>
        </p:txBody>
      </p:sp>
      <p:sp>
        <p:nvSpPr>
          <p:cNvPr id="3" name="Shape 1"/>
          <p:cNvSpPr/>
          <p:nvPr/>
        </p:nvSpPr>
        <p:spPr>
          <a:xfrm>
            <a:off x="640080" y="1371600"/>
            <a:ext cx="6858000" cy="4018788"/>
          </a:xfrm>
          <a:prstGeom prst="roundRect">
            <a:avLst>
              <a:gd name="adj" fmla="val 2730"/>
            </a:avLst>
          </a:prstGeom>
          <a:solidFill>
            <a:srgbClr val="1B1B38"/>
          </a:solidFill>
          <a:ln w="12700">
            <a:solidFill>
              <a:srgbClr val="34345E"/>
            </a:solidFill>
            <a:prstDash val="solid"/>
          </a:ln>
        </p:spPr>
      </p:sp>
      <p:sp>
        <p:nvSpPr>
          <p:cNvPr id="4" name="Shape 2"/>
          <p:cNvSpPr/>
          <p:nvPr/>
        </p:nvSpPr>
        <p:spPr>
          <a:xfrm>
            <a:off x="804672" y="1453896"/>
            <a:ext cx="109728" cy="109728"/>
          </a:xfrm>
          <a:prstGeom prst="ellipse">
            <a:avLst/>
          </a:prstGeom>
          <a:solidFill>
            <a:srgbClr val="F87171"/>
          </a:solidFill>
          <a:ln w="12700">
            <a:solidFill>
              <a:srgbClr val="F87171"/>
            </a:solidFill>
            <a:prstDash val="solid"/>
          </a:ln>
        </p:spPr>
      </p:sp>
      <p:sp>
        <p:nvSpPr>
          <p:cNvPr id="5" name="Shape 3"/>
          <p:cNvSpPr/>
          <p:nvPr/>
        </p:nvSpPr>
        <p:spPr>
          <a:xfrm>
            <a:off x="987552" y="1453896"/>
            <a:ext cx="109728" cy="109728"/>
          </a:xfrm>
          <a:prstGeom prst="ellipse">
            <a:avLst/>
          </a:prstGeom>
          <a:solidFill>
            <a:srgbClr val="FBBF24"/>
          </a:solidFill>
          <a:ln w="12700">
            <a:solidFill>
              <a:srgbClr val="FBBF24"/>
            </a:solidFill>
            <a:prstDash val="solid"/>
          </a:ln>
        </p:spPr>
      </p:sp>
      <p:sp>
        <p:nvSpPr>
          <p:cNvPr id="6" name="Shape 4"/>
          <p:cNvSpPr/>
          <p:nvPr/>
        </p:nvSpPr>
        <p:spPr>
          <a:xfrm>
            <a:off x="1170432" y="1453896"/>
            <a:ext cx="109728" cy="109728"/>
          </a:xfrm>
          <a:prstGeom prst="ellipse">
            <a:avLst/>
          </a:prstGeom>
          <a:solidFill>
            <a:srgbClr val="4ADE80"/>
          </a:solidFill>
          <a:ln w="12700">
            <a:solidFill>
              <a:srgbClr val="4ADE80"/>
            </a:solidFill>
            <a:prstDash val="solid"/>
          </a:ln>
        </p:spPr>
      </p:sp>
      <p:pic>
        <p:nvPicPr>
          <p:cNvPr id="7" name="Image 0" descr="Attendee dashboard with check-in switches">    </p:cNvPr>
          <p:cNvPicPr>
            <a:picLocks noChangeAspect="1"/>
          </p:cNvPicPr>
          <p:nvPr/>
        </p:nvPicPr>
        <p:blipFill>
          <a:blip r:embed="rId1"/>
          <a:stretch>
            <a:fillRect/>
          </a:stretch>
        </p:blipFill>
        <p:spPr>
          <a:xfrm>
            <a:off x="704088" y="1645920"/>
            <a:ext cx="6729984" cy="3680460"/>
          </a:xfrm>
          <a:prstGeom prst="rect">
            <a:avLst/>
          </a:prstGeom>
        </p:spPr>
      </p:pic>
      <p:sp>
        <p:nvSpPr>
          <p:cNvPr id="8" name="Shape 5"/>
          <p:cNvSpPr/>
          <p:nvPr/>
        </p:nvSpPr>
        <p:spPr>
          <a:xfrm>
            <a:off x="7909560" y="1463040"/>
            <a:ext cx="731520" cy="731520"/>
          </a:xfrm>
          <a:prstGeom prst="ellipse">
            <a:avLst/>
          </a:prstGeom>
          <a:solidFill>
            <a:srgbClr val="A5B4FC">
              <a:alpha val="22000"/>
            </a:srgbClr>
          </a:solidFill>
          <a:ln w="12700">
            <a:solidFill>
              <a:srgbClr val="A5B4FC"/>
            </a:solidFill>
            <a:prstDash val="solid"/>
          </a:ln>
        </p:spPr>
      </p:sp>
      <p:pic>
        <p:nvPicPr>
          <p:cNvPr id="9" name="Image 1" descr="preencoded.png">    </p:cNvPr>
          <p:cNvPicPr>
            <a:picLocks noChangeAspect="1"/>
          </p:cNvPicPr>
          <p:nvPr/>
        </p:nvPicPr>
        <p:blipFill>
          <a:blip r:embed="rId2"/>
          <a:stretch>
            <a:fillRect/>
          </a:stretch>
        </p:blipFill>
        <p:spPr>
          <a:xfrm>
            <a:off x="8092440" y="1645920"/>
            <a:ext cx="365760" cy="365760"/>
          </a:xfrm>
          <a:prstGeom prst="rect">
            <a:avLst/>
          </a:prstGeom>
        </p:spPr>
      </p:pic>
      <p:sp>
        <p:nvSpPr>
          <p:cNvPr id="10" name="Text 6"/>
          <p:cNvSpPr txBox="1"/>
          <p:nvPr/>
        </p:nvSpPr>
        <p:spPr>
          <a:xfrm>
            <a:off x="8823960" y="1444752"/>
            <a:ext cx="2743200" cy="365760"/>
          </a:xfrm>
          <a:prstGeom prst="rect">
            <a:avLst/>
          </a:prstGeom>
          <a:noFill/>
          <a:ln/>
        </p:spPr>
        <p:txBody>
          <a:bodyPr wrap="square" lIns="0" tIns="0" rIns="0" bIns="0" rtlCol="0" anchor="t"/>
          <a:lstStyle/>
          <a:p>
            <a:pPr indent="0" marL="0">
              <a:buNone/>
            </a:pPr>
            <a:r>
              <a:rPr lang="en-US" sz="2000" b="1" dirty="0">
                <a:solidFill>
                  <a:srgbClr val="F1F5F9"/>
                </a:solidFill>
                <a:latin typeface="Calibri" pitchFamily="34" charset="0"/>
                <a:ea typeface="Calibri" pitchFamily="34" charset="-122"/>
                <a:cs typeface="Calibri" pitchFamily="34" charset="-120"/>
              </a:rPr>
              <a:t>Live check-in</a:t>
            </a:r>
            <a:endParaRPr lang="en-US" sz="2000" dirty="0"/>
          </a:p>
        </p:txBody>
      </p:sp>
      <p:sp>
        <p:nvSpPr>
          <p:cNvPr id="11" name="Text 7"/>
          <p:cNvSpPr txBox="1"/>
          <p:nvPr/>
        </p:nvSpPr>
        <p:spPr>
          <a:xfrm>
            <a:off x="8823960" y="1847088"/>
            <a:ext cx="2743200" cy="822960"/>
          </a:xfrm>
          <a:prstGeom prst="rect">
            <a:avLst/>
          </a:prstGeom>
          <a:noFill/>
          <a:ln/>
        </p:spPr>
        <p:txBody>
          <a:bodyPr wrap="square" lIns="0" tIns="0" rIns="0" bIns="0" rtlCol="0" anchor="t"/>
          <a:lstStyle/>
          <a:p>
            <a:pPr indent="0" marL="0">
              <a:buNone/>
            </a:pPr>
            <a:r>
              <a:rPr lang="en-US" sz="1500" dirty="0">
                <a:solidFill>
                  <a:srgbClr val="A3AED0"/>
                </a:solidFill>
                <a:latin typeface="Calibri" pitchFamily="34" charset="0"/>
                <a:ea typeface="Calibri" pitchFamily="34" charset="-122"/>
                <a:cs typeface="Calibri" pitchFamily="34" charset="-120"/>
              </a:rPr>
              <a:t>A switch per person, saved at once with AJAX.</a:t>
            </a:r>
            <a:endParaRPr lang="en-US" sz="1500" dirty="0"/>
          </a:p>
        </p:txBody>
      </p:sp>
      <p:sp>
        <p:nvSpPr>
          <p:cNvPr id="12" name="Shape 8"/>
          <p:cNvSpPr/>
          <p:nvPr/>
        </p:nvSpPr>
        <p:spPr>
          <a:xfrm>
            <a:off x="7909560" y="2834640"/>
            <a:ext cx="731520" cy="731520"/>
          </a:xfrm>
          <a:prstGeom prst="ellipse">
            <a:avLst/>
          </a:prstGeom>
          <a:solidFill>
            <a:srgbClr val="F97316">
              <a:alpha val="22000"/>
            </a:srgbClr>
          </a:solidFill>
          <a:ln w="12700">
            <a:solidFill>
              <a:srgbClr val="F97316"/>
            </a:solidFill>
            <a:prstDash val="solid"/>
          </a:ln>
        </p:spPr>
      </p:sp>
      <p:pic>
        <p:nvPicPr>
          <p:cNvPr id="13" name="Image 2" descr="preencoded.png">    </p:cNvPr>
          <p:cNvPicPr>
            <a:picLocks noChangeAspect="1"/>
          </p:cNvPicPr>
          <p:nvPr/>
        </p:nvPicPr>
        <p:blipFill>
          <a:blip r:embed="rId3"/>
          <a:stretch>
            <a:fillRect/>
          </a:stretch>
        </p:blipFill>
        <p:spPr>
          <a:xfrm>
            <a:off x="8092440" y="3017520"/>
            <a:ext cx="365760" cy="365760"/>
          </a:xfrm>
          <a:prstGeom prst="rect">
            <a:avLst/>
          </a:prstGeom>
        </p:spPr>
      </p:pic>
      <p:sp>
        <p:nvSpPr>
          <p:cNvPr id="14" name="Text 9"/>
          <p:cNvSpPr txBox="1"/>
          <p:nvPr/>
        </p:nvSpPr>
        <p:spPr>
          <a:xfrm>
            <a:off x="8823960" y="2816352"/>
            <a:ext cx="2743200" cy="365760"/>
          </a:xfrm>
          <a:prstGeom prst="rect">
            <a:avLst/>
          </a:prstGeom>
          <a:noFill/>
          <a:ln/>
        </p:spPr>
        <p:txBody>
          <a:bodyPr wrap="square" lIns="0" tIns="0" rIns="0" bIns="0" rtlCol="0" anchor="t"/>
          <a:lstStyle/>
          <a:p>
            <a:pPr indent="0" marL="0">
              <a:buNone/>
            </a:pPr>
            <a:r>
              <a:rPr lang="en-US" sz="2000" b="1" dirty="0">
                <a:solidFill>
                  <a:srgbClr val="F1F5F9"/>
                </a:solidFill>
                <a:latin typeface="Calibri" pitchFamily="34" charset="0"/>
                <a:ea typeface="Calibri" pitchFamily="34" charset="-122"/>
                <a:cs typeface="Calibri" pitchFamily="34" charset="-120"/>
              </a:rPr>
              <a:t>Waitlist view</a:t>
            </a:r>
            <a:endParaRPr lang="en-US" sz="2000" dirty="0"/>
          </a:p>
        </p:txBody>
      </p:sp>
      <p:sp>
        <p:nvSpPr>
          <p:cNvPr id="15" name="Text 10"/>
          <p:cNvSpPr txBox="1"/>
          <p:nvPr/>
        </p:nvSpPr>
        <p:spPr>
          <a:xfrm>
            <a:off x="8823960" y="3218688"/>
            <a:ext cx="2743200" cy="822960"/>
          </a:xfrm>
          <a:prstGeom prst="rect">
            <a:avLst/>
          </a:prstGeom>
          <a:noFill/>
          <a:ln/>
        </p:spPr>
        <p:txBody>
          <a:bodyPr wrap="square" lIns="0" tIns="0" rIns="0" bIns="0" rtlCol="0" anchor="t"/>
          <a:lstStyle/>
          <a:p>
            <a:pPr indent="0" marL="0">
              <a:buNone/>
            </a:pPr>
            <a:r>
              <a:rPr lang="en-US" sz="1500" dirty="0">
                <a:solidFill>
                  <a:srgbClr val="A3AED0"/>
                </a:solidFill>
                <a:latin typeface="Calibri" pitchFamily="34" charset="0"/>
                <a:ea typeface="Calibri" pitchFamily="34" charset="-122"/>
                <a:cs typeface="Calibri" pitchFamily="34" charset="-120"/>
              </a:rPr>
              <a:t>See who is queued and in what order.</a:t>
            </a:r>
            <a:endParaRPr lang="en-US" sz="1500" dirty="0"/>
          </a:p>
        </p:txBody>
      </p:sp>
      <p:sp>
        <p:nvSpPr>
          <p:cNvPr id="16" name="Shape 11"/>
          <p:cNvSpPr/>
          <p:nvPr/>
        </p:nvSpPr>
        <p:spPr>
          <a:xfrm>
            <a:off x="7909560" y="4206240"/>
            <a:ext cx="731520" cy="731520"/>
          </a:xfrm>
          <a:prstGeom prst="ellipse">
            <a:avLst/>
          </a:prstGeom>
          <a:solidFill>
            <a:srgbClr val="4ADE80">
              <a:alpha val="22000"/>
            </a:srgbClr>
          </a:solidFill>
          <a:ln w="12700">
            <a:solidFill>
              <a:srgbClr val="4ADE80"/>
            </a:solidFill>
            <a:prstDash val="solid"/>
          </a:ln>
        </p:spPr>
      </p:sp>
      <p:pic>
        <p:nvPicPr>
          <p:cNvPr id="17" name="Image 3" descr="preencoded.png">    </p:cNvPr>
          <p:cNvPicPr>
            <a:picLocks noChangeAspect="1"/>
          </p:cNvPicPr>
          <p:nvPr/>
        </p:nvPicPr>
        <p:blipFill>
          <a:blip r:embed="rId4"/>
          <a:stretch>
            <a:fillRect/>
          </a:stretch>
        </p:blipFill>
        <p:spPr>
          <a:xfrm>
            <a:off x="8092440" y="4389120"/>
            <a:ext cx="365760" cy="365760"/>
          </a:xfrm>
          <a:prstGeom prst="rect">
            <a:avLst/>
          </a:prstGeom>
        </p:spPr>
      </p:pic>
      <p:sp>
        <p:nvSpPr>
          <p:cNvPr id="18" name="Text 12"/>
          <p:cNvSpPr txBox="1"/>
          <p:nvPr/>
        </p:nvSpPr>
        <p:spPr>
          <a:xfrm>
            <a:off x="8823960" y="4187952"/>
            <a:ext cx="2743200" cy="365760"/>
          </a:xfrm>
          <a:prstGeom prst="rect">
            <a:avLst/>
          </a:prstGeom>
          <a:noFill/>
          <a:ln/>
        </p:spPr>
        <p:txBody>
          <a:bodyPr wrap="square" lIns="0" tIns="0" rIns="0" bIns="0" rtlCol="0" anchor="t"/>
          <a:lstStyle/>
          <a:p>
            <a:pPr indent="0" marL="0">
              <a:buNone/>
            </a:pPr>
            <a:r>
              <a:rPr lang="en-US" sz="2000" b="1" dirty="0">
                <a:solidFill>
                  <a:srgbClr val="F1F5F9"/>
                </a:solidFill>
                <a:latin typeface="Calibri" pitchFamily="34" charset="0"/>
                <a:ea typeface="Calibri" pitchFamily="34" charset="-122"/>
                <a:cs typeface="Calibri" pitchFamily="34" charset="-120"/>
              </a:rPr>
              <a:t>CSV download</a:t>
            </a:r>
            <a:endParaRPr lang="en-US" sz="2000" dirty="0"/>
          </a:p>
        </p:txBody>
      </p:sp>
      <p:sp>
        <p:nvSpPr>
          <p:cNvPr id="19" name="Text 13"/>
          <p:cNvSpPr txBox="1"/>
          <p:nvPr/>
        </p:nvSpPr>
        <p:spPr>
          <a:xfrm>
            <a:off x="8823960" y="4590288"/>
            <a:ext cx="2743200" cy="822960"/>
          </a:xfrm>
          <a:prstGeom prst="rect">
            <a:avLst/>
          </a:prstGeom>
          <a:noFill/>
          <a:ln/>
        </p:spPr>
        <p:txBody>
          <a:bodyPr wrap="square" lIns="0" tIns="0" rIns="0" bIns="0" rtlCol="0" anchor="t"/>
          <a:lstStyle/>
          <a:p>
            <a:pPr indent="0" marL="0">
              <a:buNone/>
            </a:pPr>
            <a:r>
              <a:rPr lang="en-US" sz="1500" dirty="0">
                <a:solidFill>
                  <a:srgbClr val="A3AED0"/>
                </a:solidFill>
                <a:latin typeface="Calibri" pitchFamily="34" charset="0"/>
                <a:ea typeface="Calibri" pitchFamily="34" charset="-122"/>
                <a:cs typeface="Calibri" pitchFamily="34" charset="-120"/>
              </a:rPr>
              <a:t>Spreadsheet-safe: names that start with = + - or @ are escaped.</a:t>
            </a:r>
            <a:endParaRPr lang="en-US" sz="1500" dirty="0"/>
          </a:p>
        </p:txBody>
      </p:sp>
      <p:sp>
        <p:nvSpPr>
          <p:cNvPr id="25" name="Slide Number Placeholder 0"/>
          <p:cNvSpPr>
            <a:spLocks noGrp="1"/>
          </p:cNvSpPr>
          <p:nvPr>
            <p:ph type="sldNum" sz="quarter" idx="4294967295"/>
          </p:nvPr>
        </p:nvSpPr>
        <p:spPr>
          <a:xfrm>
            <a:off x="11064240" y="640080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3AED0"/>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640080" y="457200"/>
            <a:ext cx="10908792" cy="777240"/>
          </a:xfrm>
          <a:prstGeom prst="rect">
            <a:avLst/>
          </a:prstGeom>
          <a:noFill/>
          <a:ln/>
        </p:spPr>
        <p:txBody>
          <a:bodyPr wrap="square" lIns="0" tIns="0" rIns="0" bIns="0" rtlCol="0" anchor="ctr"/>
          <a:lstStyle/>
          <a:p>
            <a:pPr algn="l" indent="0" marL="0">
              <a:buNone/>
            </a:pPr>
            <a:r>
              <a:rPr lang="en-US" sz="2600" dirty="0">
                <a:solidFill>
                  <a:srgbClr val="F1F5F9"/>
                </a:solidFill>
                <a:latin typeface="Arial Black" pitchFamily="34" charset="0"/>
                <a:ea typeface="Arial Black" pitchFamily="34" charset="-122"/>
                <a:cs typeface="Arial Black" pitchFamily="34" charset="-120"/>
              </a:rPr>
              <a:t>Never miss a seat</a:t>
            </a:r>
            <a:endParaRPr lang="en-US" sz="2600" dirty="0"/>
          </a:p>
        </p:txBody>
      </p:sp>
      <p:sp>
        <p:nvSpPr>
          <p:cNvPr id="3" name="Shape 1"/>
          <p:cNvSpPr/>
          <p:nvPr/>
        </p:nvSpPr>
        <p:spPr>
          <a:xfrm>
            <a:off x="640080" y="1554480"/>
            <a:ext cx="731520" cy="731520"/>
          </a:xfrm>
          <a:prstGeom prst="ellipse">
            <a:avLst/>
          </a:prstGeom>
          <a:solidFill>
            <a:srgbClr val="F97316">
              <a:alpha val="22000"/>
            </a:srgbClr>
          </a:solidFill>
          <a:ln w="12700">
            <a:solidFill>
              <a:srgbClr val="F97316"/>
            </a:solidFill>
            <a:prstDash val="solid"/>
          </a:ln>
        </p:spPr>
      </p:sp>
      <p:pic>
        <p:nvPicPr>
          <p:cNvPr id="4" name="Image 0" descr="preencoded.png">    </p:cNvPr>
          <p:cNvPicPr>
            <a:picLocks noChangeAspect="1"/>
          </p:cNvPicPr>
          <p:nvPr/>
        </p:nvPicPr>
        <p:blipFill>
          <a:blip r:embed="rId1"/>
          <a:stretch>
            <a:fillRect/>
          </a:stretch>
        </p:blipFill>
        <p:spPr>
          <a:xfrm>
            <a:off x="822960" y="1737360"/>
            <a:ext cx="365760" cy="365760"/>
          </a:xfrm>
          <a:prstGeom prst="rect">
            <a:avLst/>
          </a:prstGeom>
        </p:spPr>
      </p:pic>
      <p:sp>
        <p:nvSpPr>
          <p:cNvPr id="5" name="Text 2"/>
          <p:cNvSpPr txBox="1"/>
          <p:nvPr/>
        </p:nvSpPr>
        <p:spPr>
          <a:xfrm>
            <a:off x="1600200" y="1536192"/>
            <a:ext cx="4480560" cy="365760"/>
          </a:xfrm>
          <a:prstGeom prst="rect">
            <a:avLst/>
          </a:prstGeom>
          <a:noFill/>
          <a:ln/>
        </p:spPr>
        <p:txBody>
          <a:bodyPr wrap="square" lIns="0" tIns="0" rIns="0" bIns="0" rtlCol="0" anchor="t"/>
          <a:lstStyle/>
          <a:p>
            <a:pPr indent="0" marL="0">
              <a:buNone/>
            </a:pPr>
            <a:r>
              <a:rPr lang="en-US" sz="2000" b="1" dirty="0">
                <a:solidFill>
                  <a:srgbClr val="F1F5F9"/>
                </a:solidFill>
                <a:latin typeface="Calibri" pitchFamily="34" charset="0"/>
                <a:ea typeface="Calibri" pitchFamily="34" charset="-122"/>
                <a:cs typeface="Calibri" pitchFamily="34" charset="-120"/>
              </a:rPr>
              <a:t>A bell with a count</a:t>
            </a:r>
            <a:endParaRPr lang="en-US" sz="2000" dirty="0"/>
          </a:p>
        </p:txBody>
      </p:sp>
      <p:sp>
        <p:nvSpPr>
          <p:cNvPr id="6" name="Text 3"/>
          <p:cNvSpPr txBox="1"/>
          <p:nvPr/>
        </p:nvSpPr>
        <p:spPr>
          <a:xfrm>
            <a:off x="1600200" y="1938528"/>
            <a:ext cx="4480560" cy="822960"/>
          </a:xfrm>
          <a:prstGeom prst="rect">
            <a:avLst/>
          </a:prstGeom>
          <a:noFill/>
          <a:ln/>
        </p:spPr>
        <p:txBody>
          <a:bodyPr wrap="square" lIns="0" tIns="0" rIns="0" bIns="0" rtlCol="0" anchor="t"/>
          <a:lstStyle/>
          <a:p>
            <a:pPr indent="0" marL="0">
              <a:buNone/>
            </a:pPr>
            <a:r>
              <a:rPr lang="en-US" sz="1500" dirty="0">
                <a:solidFill>
                  <a:srgbClr val="A3AED0"/>
                </a:solidFill>
                <a:latin typeface="Calibri" pitchFamily="34" charset="0"/>
                <a:ea typeface="Calibri" pitchFamily="34" charset="-122"/>
                <a:cs typeface="Calibri" pitchFamily="34" charset="-120"/>
              </a:rPr>
              <a:t>Unread alerts show in the menu on every page.</a:t>
            </a:r>
            <a:endParaRPr lang="en-US" sz="1500" dirty="0"/>
          </a:p>
        </p:txBody>
      </p:sp>
      <p:sp>
        <p:nvSpPr>
          <p:cNvPr id="7" name="Shape 4"/>
          <p:cNvSpPr/>
          <p:nvPr/>
        </p:nvSpPr>
        <p:spPr>
          <a:xfrm>
            <a:off x="640080" y="2926080"/>
            <a:ext cx="731520" cy="731520"/>
          </a:xfrm>
          <a:prstGeom prst="ellipse">
            <a:avLst/>
          </a:prstGeom>
          <a:solidFill>
            <a:srgbClr val="F472B6">
              <a:alpha val="22000"/>
            </a:srgbClr>
          </a:solidFill>
          <a:ln w="12700">
            <a:solidFill>
              <a:srgbClr val="F472B6"/>
            </a:solidFill>
            <a:prstDash val="solid"/>
          </a:ln>
        </p:spPr>
      </p:sp>
      <p:pic>
        <p:nvPicPr>
          <p:cNvPr id="8" name="Image 1" descr="preencoded.png">    </p:cNvPr>
          <p:cNvPicPr>
            <a:picLocks noChangeAspect="1"/>
          </p:cNvPicPr>
          <p:nvPr/>
        </p:nvPicPr>
        <p:blipFill>
          <a:blip r:embed="rId2"/>
          <a:stretch>
            <a:fillRect/>
          </a:stretch>
        </p:blipFill>
        <p:spPr>
          <a:xfrm>
            <a:off x="822960" y="3108960"/>
            <a:ext cx="365760" cy="365760"/>
          </a:xfrm>
          <a:prstGeom prst="rect">
            <a:avLst/>
          </a:prstGeom>
        </p:spPr>
      </p:pic>
      <p:sp>
        <p:nvSpPr>
          <p:cNvPr id="9" name="Text 5"/>
          <p:cNvSpPr txBox="1"/>
          <p:nvPr/>
        </p:nvSpPr>
        <p:spPr>
          <a:xfrm>
            <a:off x="1600200" y="2907792"/>
            <a:ext cx="4480560" cy="365760"/>
          </a:xfrm>
          <a:prstGeom prst="rect">
            <a:avLst/>
          </a:prstGeom>
          <a:noFill/>
          <a:ln/>
        </p:spPr>
        <p:txBody>
          <a:bodyPr wrap="square" lIns="0" tIns="0" rIns="0" bIns="0" rtlCol="0" anchor="t"/>
          <a:lstStyle/>
          <a:p>
            <a:pPr indent="0" marL="0">
              <a:buNone/>
            </a:pPr>
            <a:r>
              <a:rPr lang="en-US" sz="2000" b="1" dirty="0">
                <a:solidFill>
                  <a:srgbClr val="F1F5F9"/>
                </a:solidFill>
                <a:latin typeface="Calibri" pitchFamily="34" charset="0"/>
                <a:ea typeface="Calibri" pitchFamily="34" charset="-122"/>
                <a:cs typeface="Calibri" pitchFamily="34" charset="-120"/>
              </a:rPr>
              <a:t>Sent when it matters</a:t>
            </a:r>
            <a:endParaRPr lang="en-US" sz="2000" dirty="0"/>
          </a:p>
        </p:txBody>
      </p:sp>
      <p:sp>
        <p:nvSpPr>
          <p:cNvPr id="10" name="Text 6"/>
          <p:cNvSpPr txBox="1"/>
          <p:nvPr/>
        </p:nvSpPr>
        <p:spPr>
          <a:xfrm>
            <a:off x="1600200" y="3310128"/>
            <a:ext cx="4480560" cy="822960"/>
          </a:xfrm>
          <a:prstGeom prst="rect">
            <a:avLst/>
          </a:prstGeom>
          <a:noFill/>
          <a:ln/>
        </p:spPr>
        <p:txBody>
          <a:bodyPr wrap="square" lIns="0" tIns="0" rIns="0" bIns="0" rtlCol="0" anchor="t"/>
          <a:lstStyle/>
          <a:p>
            <a:pPr indent="0" marL="0">
              <a:buNone/>
            </a:pPr>
            <a:r>
              <a:rPr lang="en-US" sz="1500" dirty="0">
                <a:solidFill>
                  <a:srgbClr val="A3AED0"/>
                </a:solidFill>
                <a:latin typeface="Calibri" pitchFamily="34" charset="0"/>
                <a:ea typeface="Calibri" pitchFamily="34" charset="-122"/>
                <a:cs typeface="Calibri" pitchFamily="34" charset="-120"/>
              </a:rPr>
              <a:t>A seat opens for you, or an event you joined is cancelled.</a:t>
            </a:r>
            <a:endParaRPr lang="en-US" sz="1500" dirty="0"/>
          </a:p>
        </p:txBody>
      </p:sp>
      <p:sp>
        <p:nvSpPr>
          <p:cNvPr id="11" name="Shape 7"/>
          <p:cNvSpPr/>
          <p:nvPr/>
        </p:nvSpPr>
        <p:spPr>
          <a:xfrm>
            <a:off x="640080" y="4297680"/>
            <a:ext cx="731520" cy="731520"/>
          </a:xfrm>
          <a:prstGeom prst="ellipse">
            <a:avLst/>
          </a:prstGeom>
          <a:solidFill>
            <a:srgbClr val="A5B4FC">
              <a:alpha val="22000"/>
            </a:srgbClr>
          </a:solidFill>
          <a:ln w="12700">
            <a:solidFill>
              <a:srgbClr val="A5B4FC"/>
            </a:solidFill>
            <a:prstDash val="solid"/>
          </a:ln>
        </p:spPr>
      </p:sp>
      <p:pic>
        <p:nvPicPr>
          <p:cNvPr id="12" name="Image 2" descr="preencoded.png">    </p:cNvPr>
          <p:cNvPicPr>
            <a:picLocks noChangeAspect="1"/>
          </p:cNvPicPr>
          <p:nvPr/>
        </p:nvPicPr>
        <p:blipFill>
          <a:blip r:embed="rId3"/>
          <a:stretch>
            <a:fillRect/>
          </a:stretch>
        </p:blipFill>
        <p:spPr>
          <a:xfrm>
            <a:off x="822960" y="4480560"/>
            <a:ext cx="365760" cy="365760"/>
          </a:xfrm>
          <a:prstGeom prst="rect">
            <a:avLst/>
          </a:prstGeom>
        </p:spPr>
      </p:pic>
      <p:sp>
        <p:nvSpPr>
          <p:cNvPr id="13" name="Text 8"/>
          <p:cNvSpPr txBox="1"/>
          <p:nvPr/>
        </p:nvSpPr>
        <p:spPr>
          <a:xfrm>
            <a:off x="1600200" y="4279392"/>
            <a:ext cx="4480560" cy="365760"/>
          </a:xfrm>
          <a:prstGeom prst="rect">
            <a:avLst/>
          </a:prstGeom>
          <a:noFill/>
          <a:ln/>
        </p:spPr>
        <p:txBody>
          <a:bodyPr wrap="square" lIns="0" tIns="0" rIns="0" bIns="0" rtlCol="0" anchor="t"/>
          <a:lstStyle/>
          <a:p>
            <a:pPr indent="0" marL="0">
              <a:buNone/>
            </a:pPr>
            <a:r>
              <a:rPr lang="en-US" sz="2000" b="1" dirty="0">
                <a:solidFill>
                  <a:srgbClr val="F1F5F9"/>
                </a:solidFill>
                <a:latin typeface="Calibri" pitchFamily="34" charset="0"/>
                <a:ea typeface="Calibri" pitchFamily="34" charset="-122"/>
                <a:cs typeface="Calibri" pitchFamily="34" charset="-120"/>
              </a:rPr>
              <a:t>Email when set up</a:t>
            </a:r>
            <a:endParaRPr lang="en-US" sz="2000" dirty="0"/>
          </a:p>
        </p:txBody>
      </p:sp>
      <p:sp>
        <p:nvSpPr>
          <p:cNvPr id="14" name="Text 9"/>
          <p:cNvSpPr txBox="1"/>
          <p:nvPr/>
        </p:nvSpPr>
        <p:spPr>
          <a:xfrm>
            <a:off x="1600200" y="4681728"/>
            <a:ext cx="4480560" cy="822960"/>
          </a:xfrm>
          <a:prstGeom prst="rect">
            <a:avLst/>
          </a:prstGeom>
          <a:noFill/>
          <a:ln/>
        </p:spPr>
        <p:txBody>
          <a:bodyPr wrap="square" lIns="0" tIns="0" rIns="0" bIns="0" rtlCol="0" anchor="t"/>
          <a:lstStyle/>
          <a:p>
            <a:pPr indent="0" marL="0">
              <a:buNone/>
            </a:pPr>
            <a:r>
              <a:rPr lang="en-US" sz="1500" dirty="0">
                <a:solidFill>
                  <a:srgbClr val="A3AED0"/>
                </a:solidFill>
                <a:latin typeface="Calibri" pitchFamily="34" charset="0"/>
                <a:ea typeface="Calibri" pitchFamily="34" charset="-122"/>
                <a:cs typeface="Calibri" pitchFamily="34" charset="-120"/>
              </a:rPr>
              <a:t>If you gave an address and the site has mail settings.</a:t>
            </a:r>
            <a:endParaRPr lang="en-US" sz="1500" dirty="0"/>
          </a:p>
        </p:txBody>
      </p:sp>
      <p:sp>
        <p:nvSpPr>
          <p:cNvPr id="15" name="Text 10"/>
          <p:cNvSpPr txBox="1"/>
          <p:nvPr/>
        </p:nvSpPr>
        <p:spPr>
          <a:xfrm>
            <a:off x="640080" y="5715000"/>
            <a:ext cx="5486400" cy="365760"/>
          </a:xfrm>
          <a:prstGeom prst="rect">
            <a:avLst/>
          </a:prstGeom>
          <a:noFill/>
          <a:ln/>
        </p:spPr>
        <p:txBody>
          <a:bodyPr wrap="square" lIns="0" tIns="0" rIns="0" bIns="0" rtlCol="0" anchor="t"/>
          <a:lstStyle/>
          <a:p>
            <a:pPr indent="0" marL="0">
              <a:buNone/>
            </a:pPr>
            <a:r>
              <a:rPr lang="en-US" sz="1400" dirty="0">
                <a:solidFill>
                  <a:srgbClr val="A3AED0"/>
                </a:solidFill>
                <a:latin typeface="Calibri" pitchFamily="34" charset="0"/>
                <a:ea typeface="Calibri" pitchFamily="34" charset="-122"/>
                <a:cs typeface="Calibri" pitchFamily="34" charset="-120"/>
              </a:rPr>
              <a:t>SMS is not included: it needs a paid provider.</a:t>
            </a:r>
            <a:endParaRPr lang="en-US" sz="1400" dirty="0"/>
          </a:p>
        </p:txBody>
      </p:sp>
      <p:sp>
        <p:nvSpPr>
          <p:cNvPr id="16" name="Shape 11"/>
          <p:cNvSpPr/>
          <p:nvPr/>
        </p:nvSpPr>
        <p:spPr>
          <a:xfrm>
            <a:off x="6720840" y="1234440"/>
            <a:ext cx="2331720" cy="4423258"/>
          </a:xfrm>
          <a:prstGeom prst="roundRect">
            <a:avLst>
              <a:gd name="adj" fmla="val 10980"/>
            </a:avLst>
          </a:prstGeom>
          <a:solidFill>
            <a:srgbClr val="05050F"/>
          </a:solidFill>
          <a:ln w="25400">
            <a:solidFill>
              <a:srgbClr val="4A4A7A"/>
            </a:solidFill>
            <a:prstDash val="solid"/>
          </a:ln>
        </p:spPr>
      </p:sp>
      <p:pic>
        <p:nvPicPr>
          <p:cNvPr id="17" name="Image 3" descr="Notifications page on a phone">    </p:cNvPr>
          <p:cNvPicPr>
            <a:picLocks noChangeAspect="1"/>
          </p:cNvPicPr>
          <p:nvPr/>
        </p:nvPicPr>
        <p:blipFill>
          <a:blip r:embed="rId4"/>
          <a:stretch>
            <a:fillRect/>
          </a:stretch>
        </p:blipFill>
        <p:spPr>
          <a:xfrm>
            <a:off x="6812280" y="1325880"/>
            <a:ext cx="2148840" cy="4240378"/>
          </a:xfrm>
          <a:prstGeom prst="rect">
            <a:avLst/>
          </a:prstGeom>
        </p:spPr>
      </p:pic>
      <p:sp>
        <p:nvSpPr>
          <p:cNvPr id="18" name="Shape 12"/>
          <p:cNvSpPr/>
          <p:nvPr/>
        </p:nvSpPr>
        <p:spPr>
          <a:xfrm>
            <a:off x="9326880" y="1234440"/>
            <a:ext cx="2331720" cy="4423258"/>
          </a:xfrm>
          <a:prstGeom prst="roundRect">
            <a:avLst>
              <a:gd name="adj" fmla="val 10980"/>
            </a:avLst>
          </a:prstGeom>
          <a:solidFill>
            <a:srgbClr val="05050F"/>
          </a:solidFill>
          <a:ln w="25400">
            <a:solidFill>
              <a:srgbClr val="4A4A7A"/>
            </a:solidFill>
            <a:prstDash val="solid"/>
          </a:ln>
        </p:spPr>
      </p:sp>
      <p:pic>
        <p:nvPicPr>
          <p:cNvPr id="19" name="Image 4" descr="Event page on a phone">    </p:cNvPr>
          <p:cNvPicPr>
            <a:picLocks noChangeAspect="1"/>
          </p:cNvPicPr>
          <p:nvPr/>
        </p:nvPicPr>
        <p:blipFill>
          <a:blip r:embed="rId5"/>
          <a:stretch>
            <a:fillRect/>
          </a:stretch>
        </p:blipFill>
        <p:spPr>
          <a:xfrm>
            <a:off x="9418320" y="1325880"/>
            <a:ext cx="2148840" cy="4240378"/>
          </a:xfrm>
          <a:prstGeom prst="rect">
            <a:avLst/>
          </a:prstGeom>
        </p:spPr>
      </p:pic>
      <p:sp>
        <p:nvSpPr>
          <p:cNvPr id="25" name="Slide Number Placeholder 0"/>
          <p:cNvSpPr>
            <a:spLocks noGrp="1"/>
          </p:cNvSpPr>
          <p:nvPr>
            <p:ph type="sldNum" sz="quarter" idx="4294967295"/>
          </p:nvPr>
        </p:nvSpPr>
        <p:spPr>
          <a:xfrm>
            <a:off x="11064240" y="640080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3AED0"/>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640080" y="457200"/>
            <a:ext cx="10908792" cy="777240"/>
          </a:xfrm>
          <a:prstGeom prst="rect">
            <a:avLst/>
          </a:prstGeom>
          <a:noFill/>
          <a:ln/>
        </p:spPr>
        <p:txBody>
          <a:bodyPr wrap="square" lIns="0" tIns="0" rIns="0" bIns="0" rtlCol="0" anchor="ctr"/>
          <a:lstStyle/>
          <a:p>
            <a:pPr algn="l" indent="0" marL="0">
              <a:buNone/>
            </a:pPr>
            <a:r>
              <a:rPr lang="en-US" sz="2600" dirty="0">
                <a:solidFill>
                  <a:srgbClr val="F1F5F9"/>
                </a:solidFill>
                <a:latin typeface="Arial Black" pitchFamily="34" charset="0"/>
                <a:ea typeface="Arial Black" pitchFamily="34" charset="-122"/>
                <a:cs typeface="Arial Black" pitchFamily="34" charset="-120"/>
              </a:rPr>
              <a:t>The syllabus, mapped to the project</a:t>
            </a:r>
            <a:endParaRPr lang="en-US" sz="2600" dirty="0"/>
          </a:p>
        </p:txBody>
      </p:sp>
      <p:sp>
        <p:nvSpPr>
          <p:cNvPr id="3" name="Shape 1"/>
          <p:cNvSpPr/>
          <p:nvPr/>
        </p:nvSpPr>
        <p:spPr>
          <a:xfrm>
            <a:off x="640080" y="1554480"/>
            <a:ext cx="2560320" cy="2148840"/>
          </a:xfrm>
          <a:prstGeom prst="roundRect">
            <a:avLst>
              <a:gd name="adj" fmla="val 5957"/>
            </a:avLst>
          </a:prstGeom>
          <a:solidFill>
            <a:srgbClr val="14142B"/>
          </a:solidFill>
          <a:ln w="9525">
            <a:solidFill>
              <a:srgbClr val="34345E"/>
            </a:solidFill>
            <a:prstDash val="solid"/>
          </a:ln>
        </p:spPr>
      </p:sp>
      <p:sp>
        <p:nvSpPr>
          <p:cNvPr id="4" name="Shape 2"/>
          <p:cNvSpPr/>
          <p:nvPr/>
        </p:nvSpPr>
        <p:spPr>
          <a:xfrm>
            <a:off x="868680" y="1783080"/>
            <a:ext cx="640080" cy="640080"/>
          </a:xfrm>
          <a:prstGeom prst="ellipse">
            <a:avLst/>
          </a:prstGeom>
          <a:solidFill>
            <a:srgbClr val="F97316">
              <a:alpha val="22000"/>
            </a:srgbClr>
          </a:solidFill>
          <a:ln w="12700">
            <a:solidFill>
              <a:srgbClr val="F97316"/>
            </a:solidFill>
            <a:prstDash val="solid"/>
          </a:ln>
        </p:spPr>
      </p:sp>
      <p:pic>
        <p:nvPicPr>
          <p:cNvPr id="5" name="Image 0" descr="preencoded.png">    </p:cNvPr>
          <p:cNvPicPr>
            <a:picLocks noChangeAspect="1"/>
          </p:cNvPicPr>
          <p:nvPr/>
        </p:nvPicPr>
        <p:blipFill>
          <a:blip r:embed="rId1"/>
          <a:stretch>
            <a:fillRect/>
          </a:stretch>
        </p:blipFill>
        <p:spPr>
          <a:xfrm>
            <a:off x="1028700" y="1943100"/>
            <a:ext cx="320040" cy="320040"/>
          </a:xfrm>
          <a:prstGeom prst="rect">
            <a:avLst/>
          </a:prstGeom>
        </p:spPr>
      </p:pic>
      <p:sp>
        <p:nvSpPr>
          <p:cNvPr id="6" name="Text 3"/>
          <p:cNvSpPr txBox="1"/>
          <p:nvPr/>
        </p:nvSpPr>
        <p:spPr>
          <a:xfrm>
            <a:off x="868680" y="2514600"/>
            <a:ext cx="2103120" cy="365760"/>
          </a:xfrm>
          <a:prstGeom prst="rect">
            <a:avLst/>
          </a:prstGeom>
          <a:noFill/>
          <a:ln/>
        </p:spPr>
        <p:txBody>
          <a:bodyPr wrap="square" lIns="0" tIns="0" rIns="0" bIns="0" rtlCol="0" anchor="t"/>
          <a:lstStyle/>
          <a:p>
            <a:pPr indent="0" marL="0">
              <a:buNone/>
            </a:pPr>
            <a:r>
              <a:rPr lang="en-US" sz="1700" b="1" dirty="0">
                <a:solidFill>
                  <a:srgbClr val="F1F5F9"/>
                </a:solidFill>
                <a:latin typeface="Calibri" pitchFamily="34" charset="0"/>
                <a:ea typeface="Calibri" pitchFamily="34" charset="-122"/>
                <a:cs typeface="Calibri" pitchFamily="34" charset="-120"/>
              </a:rPr>
              <a:t>HTML and forms</a:t>
            </a:r>
            <a:endParaRPr lang="en-US" sz="1700" dirty="0"/>
          </a:p>
        </p:txBody>
      </p:sp>
      <p:sp>
        <p:nvSpPr>
          <p:cNvPr id="7" name="Text 4"/>
          <p:cNvSpPr txBox="1"/>
          <p:nvPr/>
        </p:nvSpPr>
        <p:spPr>
          <a:xfrm>
            <a:off x="868680" y="2907792"/>
            <a:ext cx="2103120" cy="777240"/>
          </a:xfrm>
          <a:prstGeom prst="rect">
            <a:avLst/>
          </a:prstGeom>
          <a:noFill/>
          <a:ln/>
        </p:spPr>
        <p:txBody>
          <a:bodyPr wrap="square" lIns="0" tIns="0" rIns="0" bIns="0" rtlCol="0" anchor="t"/>
          <a:lstStyle/>
          <a:p>
            <a:pPr indent="0" marL="0">
              <a:buNone/>
            </a:pPr>
            <a:r>
              <a:rPr lang="en-US" sz="1400" dirty="0">
                <a:solidFill>
                  <a:srgbClr val="A3AED0"/>
                </a:solidFill>
                <a:latin typeface="Calibri" pitchFamily="34" charset="0"/>
                <a:ea typeface="Calibri" pitchFamily="34" charset="-122"/>
                <a:cs typeface="Calibri" pitchFamily="34" charset="-120"/>
              </a:rPr>
              <a:t>Templates, sign up, log in and event forms with validation.</a:t>
            </a:r>
            <a:endParaRPr lang="en-US" sz="1400" dirty="0"/>
          </a:p>
        </p:txBody>
      </p:sp>
      <p:sp>
        <p:nvSpPr>
          <p:cNvPr id="8" name="Shape 5"/>
          <p:cNvSpPr/>
          <p:nvPr/>
        </p:nvSpPr>
        <p:spPr>
          <a:xfrm>
            <a:off x="3419856" y="1554480"/>
            <a:ext cx="2560320" cy="2148840"/>
          </a:xfrm>
          <a:prstGeom prst="roundRect">
            <a:avLst>
              <a:gd name="adj" fmla="val 5957"/>
            </a:avLst>
          </a:prstGeom>
          <a:solidFill>
            <a:srgbClr val="14142B"/>
          </a:solidFill>
          <a:ln w="9525">
            <a:solidFill>
              <a:srgbClr val="34345E"/>
            </a:solidFill>
            <a:prstDash val="solid"/>
          </a:ln>
        </p:spPr>
      </p:sp>
      <p:sp>
        <p:nvSpPr>
          <p:cNvPr id="9" name="Shape 6"/>
          <p:cNvSpPr/>
          <p:nvPr/>
        </p:nvSpPr>
        <p:spPr>
          <a:xfrm>
            <a:off x="3648456" y="1783080"/>
            <a:ext cx="640080" cy="640080"/>
          </a:xfrm>
          <a:prstGeom prst="ellipse">
            <a:avLst/>
          </a:prstGeom>
          <a:solidFill>
            <a:srgbClr val="A5B4FC">
              <a:alpha val="22000"/>
            </a:srgbClr>
          </a:solidFill>
          <a:ln w="12700">
            <a:solidFill>
              <a:srgbClr val="A5B4FC"/>
            </a:solidFill>
            <a:prstDash val="solid"/>
          </a:ln>
        </p:spPr>
      </p:sp>
      <p:pic>
        <p:nvPicPr>
          <p:cNvPr id="10" name="Image 1" descr="preencoded.png">    </p:cNvPr>
          <p:cNvPicPr>
            <a:picLocks noChangeAspect="1"/>
          </p:cNvPicPr>
          <p:nvPr/>
        </p:nvPicPr>
        <p:blipFill>
          <a:blip r:embed="rId2"/>
          <a:stretch>
            <a:fillRect/>
          </a:stretch>
        </p:blipFill>
        <p:spPr>
          <a:xfrm>
            <a:off x="3808476" y="1943100"/>
            <a:ext cx="320040" cy="320040"/>
          </a:xfrm>
          <a:prstGeom prst="rect">
            <a:avLst/>
          </a:prstGeom>
        </p:spPr>
      </p:pic>
      <p:sp>
        <p:nvSpPr>
          <p:cNvPr id="11" name="Text 7"/>
          <p:cNvSpPr txBox="1"/>
          <p:nvPr/>
        </p:nvSpPr>
        <p:spPr>
          <a:xfrm>
            <a:off x="3648456" y="2514600"/>
            <a:ext cx="2103120" cy="365760"/>
          </a:xfrm>
          <a:prstGeom prst="rect">
            <a:avLst/>
          </a:prstGeom>
          <a:noFill/>
          <a:ln/>
        </p:spPr>
        <p:txBody>
          <a:bodyPr wrap="square" lIns="0" tIns="0" rIns="0" bIns="0" rtlCol="0" anchor="t"/>
          <a:lstStyle/>
          <a:p>
            <a:pPr indent="0" marL="0">
              <a:buNone/>
            </a:pPr>
            <a:r>
              <a:rPr lang="en-US" sz="1700" b="1" dirty="0">
                <a:solidFill>
                  <a:srgbClr val="F1F5F9"/>
                </a:solidFill>
                <a:latin typeface="Calibri" pitchFamily="34" charset="0"/>
                <a:ea typeface="Calibri" pitchFamily="34" charset="-122"/>
                <a:cs typeface="Calibri" pitchFamily="34" charset="-120"/>
              </a:rPr>
              <a:t>CSS and Bootstrap</a:t>
            </a:r>
            <a:endParaRPr lang="en-US" sz="1700" dirty="0"/>
          </a:p>
        </p:txBody>
      </p:sp>
      <p:sp>
        <p:nvSpPr>
          <p:cNvPr id="12" name="Text 8"/>
          <p:cNvSpPr txBox="1"/>
          <p:nvPr/>
        </p:nvSpPr>
        <p:spPr>
          <a:xfrm>
            <a:off x="3648456" y="2907792"/>
            <a:ext cx="2103120" cy="777240"/>
          </a:xfrm>
          <a:prstGeom prst="rect">
            <a:avLst/>
          </a:prstGeom>
          <a:noFill/>
          <a:ln/>
        </p:spPr>
        <p:txBody>
          <a:bodyPr wrap="square" lIns="0" tIns="0" rIns="0" bIns="0" rtlCol="0" anchor="t"/>
          <a:lstStyle/>
          <a:p>
            <a:pPr indent="0" marL="0">
              <a:buNone/>
            </a:pPr>
            <a:r>
              <a:rPr lang="en-US" sz="1400" dirty="0">
                <a:solidFill>
                  <a:srgbClr val="A3AED0"/>
                </a:solidFill>
                <a:latin typeface="Calibri" pitchFamily="34" charset="0"/>
                <a:ea typeface="Calibri" pitchFamily="34" charset="-122"/>
                <a:cs typeface="Calibri" pitchFamily="34" charset="-120"/>
              </a:rPr>
              <a:t>Responsive grid from phone to desktop, dark and light themes.</a:t>
            </a:r>
            <a:endParaRPr lang="en-US" sz="1400" dirty="0"/>
          </a:p>
        </p:txBody>
      </p:sp>
      <p:sp>
        <p:nvSpPr>
          <p:cNvPr id="13" name="Shape 9"/>
          <p:cNvSpPr/>
          <p:nvPr/>
        </p:nvSpPr>
        <p:spPr>
          <a:xfrm>
            <a:off x="6199632" y="1554480"/>
            <a:ext cx="2560320" cy="2148840"/>
          </a:xfrm>
          <a:prstGeom prst="roundRect">
            <a:avLst>
              <a:gd name="adj" fmla="val 5957"/>
            </a:avLst>
          </a:prstGeom>
          <a:solidFill>
            <a:srgbClr val="14142B"/>
          </a:solidFill>
          <a:ln w="9525">
            <a:solidFill>
              <a:srgbClr val="34345E"/>
            </a:solidFill>
            <a:prstDash val="solid"/>
          </a:ln>
        </p:spPr>
      </p:sp>
      <p:sp>
        <p:nvSpPr>
          <p:cNvPr id="14" name="Shape 10"/>
          <p:cNvSpPr/>
          <p:nvPr/>
        </p:nvSpPr>
        <p:spPr>
          <a:xfrm>
            <a:off x="6428232" y="1783080"/>
            <a:ext cx="640080" cy="640080"/>
          </a:xfrm>
          <a:prstGeom prst="ellipse">
            <a:avLst/>
          </a:prstGeom>
          <a:solidFill>
            <a:srgbClr val="FBBF24">
              <a:alpha val="22000"/>
            </a:srgbClr>
          </a:solidFill>
          <a:ln w="12700">
            <a:solidFill>
              <a:srgbClr val="FBBF24"/>
            </a:solidFill>
            <a:prstDash val="solid"/>
          </a:ln>
        </p:spPr>
      </p:sp>
      <p:pic>
        <p:nvPicPr>
          <p:cNvPr id="15" name="Image 2" descr="preencoded.png">    </p:cNvPr>
          <p:cNvPicPr>
            <a:picLocks noChangeAspect="1"/>
          </p:cNvPicPr>
          <p:nvPr/>
        </p:nvPicPr>
        <p:blipFill>
          <a:blip r:embed="rId3"/>
          <a:stretch>
            <a:fillRect/>
          </a:stretch>
        </p:blipFill>
        <p:spPr>
          <a:xfrm>
            <a:off x="6588252" y="1943100"/>
            <a:ext cx="320040" cy="320040"/>
          </a:xfrm>
          <a:prstGeom prst="rect">
            <a:avLst/>
          </a:prstGeom>
        </p:spPr>
      </p:pic>
      <p:sp>
        <p:nvSpPr>
          <p:cNvPr id="16" name="Text 11"/>
          <p:cNvSpPr txBox="1"/>
          <p:nvPr/>
        </p:nvSpPr>
        <p:spPr>
          <a:xfrm>
            <a:off x="6428232" y="2514600"/>
            <a:ext cx="2103120" cy="365760"/>
          </a:xfrm>
          <a:prstGeom prst="rect">
            <a:avLst/>
          </a:prstGeom>
          <a:noFill/>
          <a:ln/>
        </p:spPr>
        <p:txBody>
          <a:bodyPr wrap="square" lIns="0" tIns="0" rIns="0" bIns="0" rtlCol="0" anchor="t"/>
          <a:lstStyle/>
          <a:p>
            <a:pPr indent="0" marL="0">
              <a:buNone/>
            </a:pPr>
            <a:r>
              <a:rPr lang="en-US" sz="1700" b="1" dirty="0">
                <a:solidFill>
                  <a:srgbClr val="F1F5F9"/>
                </a:solidFill>
                <a:latin typeface="Calibri" pitchFamily="34" charset="0"/>
                <a:ea typeface="Calibri" pitchFamily="34" charset="-122"/>
                <a:cs typeface="Calibri" pitchFamily="34" charset="-120"/>
              </a:rPr>
              <a:t>JavaScript and DOM</a:t>
            </a:r>
            <a:endParaRPr lang="en-US" sz="1700" dirty="0"/>
          </a:p>
        </p:txBody>
      </p:sp>
      <p:sp>
        <p:nvSpPr>
          <p:cNvPr id="17" name="Text 12"/>
          <p:cNvSpPr txBox="1"/>
          <p:nvPr/>
        </p:nvSpPr>
        <p:spPr>
          <a:xfrm>
            <a:off x="6428232" y="2907792"/>
            <a:ext cx="2103120" cy="777240"/>
          </a:xfrm>
          <a:prstGeom prst="rect">
            <a:avLst/>
          </a:prstGeom>
          <a:noFill/>
          <a:ln/>
        </p:spPr>
        <p:txBody>
          <a:bodyPr wrap="square" lIns="0" tIns="0" rIns="0" bIns="0" rtlCol="0" anchor="t"/>
          <a:lstStyle/>
          <a:p>
            <a:pPr indent="0" marL="0">
              <a:buNone/>
            </a:pPr>
            <a:r>
              <a:rPr lang="en-US" sz="1400" dirty="0">
                <a:solidFill>
                  <a:srgbClr val="A3AED0"/>
                </a:solidFill>
                <a:latin typeface="Calibri" pitchFamily="34" charset="0"/>
                <a:ea typeface="Calibri" pitchFamily="34" charset="-122"/>
                <a:cs typeface="Calibri" pitchFamily="34" charset="-120"/>
              </a:rPr>
              <a:t>Cards, seat counts, toasts and the theme switch built live.</a:t>
            </a:r>
            <a:endParaRPr lang="en-US" sz="1400" dirty="0"/>
          </a:p>
        </p:txBody>
      </p:sp>
      <p:sp>
        <p:nvSpPr>
          <p:cNvPr id="18" name="Shape 13"/>
          <p:cNvSpPr/>
          <p:nvPr/>
        </p:nvSpPr>
        <p:spPr>
          <a:xfrm>
            <a:off x="8979408" y="1554480"/>
            <a:ext cx="2560320" cy="2148840"/>
          </a:xfrm>
          <a:prstGeom prst="roundRect">
            <a:avLst>
              <a:gd name="adj" fmla="val 5957"/>
            </a:avLst>
          </a:prstGeom>
          <a:solidFill>
            <a:srgbClr val="14142B"/>
          </a:solidFill>
          <a:ln w="9525">
            <a:solidFill>
              <a:srgbClr val="34345E"/>
            </a:solidFill>
            <a:prstDash val="solid"/>
          </a:ln>
        </p:spPr>
      </p:sp>
      <p:sp>
        <p:nvSpPr>
          <p:cNvPr id="19" name="Shape 14"/>
          <p:cNvSpPr/>
          <p:nvPr/>
        </p:nvSpPr>
        <p:spPr>
          <a:xfrm>
            <a:off x="9208008" y="1783080"/>
            <a:ext cx="640080" cy="640080"/>
          </a:xfrm>
          <a:prstGeom prst="ellipse">
            <a:avLst/>
          </a:prstGeom>
          <a:solidFill>
            <a:srgbClr val="F472B6">
              <a:alpha val="22000"/>
            </a:srgbClr>
          </a:solidFill>
          <a:ln w="12700">
            <a:solidFill>
              <a:srgbClr val="F472B6"/>
            </a:solidFill>
            <a:prstDash val="solid"/>
          </a:ln>
        </p:spPr>
      </p:sp>
      <p:pic>
        <p:nvPicPr>
          <p:cNvPr id="20" name="Image 3" descr="preencoded.png">    </p:cNvPr>
          <p:cNvPicPr>
            <a:picLocks noChangeAspect="1"/>
          </p:cNvPicPr>
          <p:nvPr/>
        </p:nvPicPr>
        <p:blipFill>
          <a:blip r:embed="rId4"/>
          <a:stretch>
            <a:fillRect/>
          </a:stretch>
        </p:blipFill>
        <p:spPr>
          <a:xfrm>
            <a:off x="9368028" y="1943100"/>
            <a:ext cx="320040" cy="320040"/>
          </a:xfrm>
          <a:prstGeom prst="rect">
            <a:avLst/>
          </a:prstGeom>
        </p:spPr>
      </p:pic>
      <p:sp>
        <p:nvSpPr>
          <p:cNvPr id="21" name="Text 15"/>
          <p:cNvSpPr txBox="1"/>
          <p:nvPr/>
        </p:nvSpPr>
        <p:spPr>
          <a:xfrm>
            <a:off x="9208008" y="2514600"/>
            <a:ext cx="2103120" cy="365760"/>
          </a:xfrm>
          <a:prstGeom prst="rect">
            <a:avLst/>
          </a:prstGeom>
          <a:noFill/>
          <a:ln/>
        </p:spPr>
        <p:txBody>
          <a:bodyPr wrap="square" lIns="0" tIns="0" rIns="0" bIns="0" rtlCol="0" anchor="t"/>
          <a:lstStyle/>
          <a:p>
            <a:pPr indent="0" marL="0">
              <a:buNone/>
            </a:pPr>
            <a:r>
              <a:rPr lang="en-US" sz="1700" b="1" dirty="0">
                <a:solidFill>
                  <a:srgbClr val="F1F5F9"/>
                </a:solidFill>
                <a:latin typeface="Calibri" pitchFamily="34" charset="0"/>
                <a:ea typeface="Calibri" pitchFamily="34" charset="-122"/>
                <a:cs typeface="Calibri" pitchFamily="34" charset="-120"/>
              </a:rPr>
              <a:t>jQuery, AJAX, JSON</a:t>
            </a:r>
            <a:endParaRPr lang="en-US" sz="1700" dirty="0"/>
          </a:p>
        </p:txBody>
      </p:sp>
      <p:sp>
        <p:nvSpPr>
          <p:cNvPr id="22" name="Text 16"/>
          <p:cNvSpPr txBox="1"/>
          <p:nvPr/>
        </p:nvSpPr>
        <p:spPr>
          <a:xfrm>
            <a:off x="9208008" y="2907792"/>
            <a:ext cx="2103120" cy="777240"/>
          </a:xfrm>
          <a:prstGeom prst="rect">
            <a:avLst/>
          </a:prstGeom>
          <a:noFill/>
          <a:ln/>
        </p:spPr>
        <p:txBody>
          <a:bodyPr wrap="square" lIns="0" tIns="0" rIns="0" bIns="0" rtlCol="0" anchor="t"/>
          <a:lstStyle/>
          <a:p>
            <a:pPr indent="0" marL="0">
              <a:buNone/>
            </a:pPr>
            <a:r>
              <a:rPr lang="en-US" sz="1400" dirty="0">
                <a:solidFill>
                  <a:srgbClr val="A3AED0"/>
                </a:solidFill>
                <a:latin typeface="Calibri" pitchFamily="34" charset="0"/>
                <a:ea typeface="Calibri" pitchFamily="34" charset="-122"/>
                <a:cs typeface="Calibri" pitchFamily="34" charset="-120"/>
              </a:rPr>
              <a:t>Search, register, save and check-in with no reload.</a:t>
            </a:r>
            <a:endParaRPr lang="en-US" sz="1400" dirty="0"/>
          </a:p>
        </p:txBody>
      </p:sp>
      <p:sp>
        <p:nvSpPr>
          <p:cNvPr id="23" name="Shape 17"/>
          <p:cNvSpPr/>
          <p:nvPr/>
        </p:nvSpPr>
        <p:spPr>
          <a:xfrm>
            <a:off x="640080" y="3977640"/>
            <a:ext cx="2560320" cy="2148840"/>
          </a:xfrm>
          <a:prstGeom prst="roundRect">
            <a:avLst>
              <a:gd name="adj" fmla="val 5957"/>
            </a:avLst>
          </a:prstGeom>
          <a:solidFill>
            <a:srgbClr val="14142B"/>
          </a:solidFill>
          <a:ln w="9525">
            <a:solidFill>
              <a:srgbClr val="34345E"/>
            </a:solidFill>
            <a:prstDash val="solid"/>
          </a:ln>
        </p:spPr>
      </p:sp>
      <p:sp>
        <p:nvSpPr>
          <p:cNvPr id="24" name="Shape 18"/>
          <p:cNvSpPr/>
          <p:nvPr/>
        </p:nvSpPr>
        <p:spPr>
          <a:xfrm>
            <a:off x="868680" y="4206240"/>
            <a:ext cx="640080" cy="640080"/>
          </a:xfrm>
          <a:prstGeom prst="ellipse">
            <a:avLst/>
          </a:prstGeom>
          <a:solidFill>
            <a:srgbClr val="4ADE80">
              <a:alpha val="22000"/>
            </a:srgbClr>
          </a:solidFill>
          <a:ln w="12700">
            <a:solidFill>
              <a:srgbClr val="4ADE80"/>
            </a:solidFill>
            <a:prstDash val="solid"/>
          </a:ln>
        </p:spPr>
      </p:sp>
      <p:pic>
        <p:nvPicPr>
          <p:cNvPr id="25" name="Image 4" descr="preencoded.png">    </p:cNvPr>
          <p:cNvPicPr>
            <a:picLocks noChangeAspect="1"/>
          </p:cNvPicPr>
          <p:nvPr/>
        </p:nvPicPr>
        <p:blipFill>
          <a:blip r:embed="rId5"/>
          <a:stretch>
            <a:fillRect/>
          </a:stretch>
        </p:blipFill>
        <p:spPr>
          <a:xfrm>
            <a:off x="1028700" y="4366260"/>
            <a:ext cx="320040" cy="320040"/>
          </a:xfrm>
          <a:prstGeom prst="rect">
            <a:avLst/>
          </a:prstGeom>
        </p:spPr>
      </p:pic>
      <p:sp>
        <p:nvSpPr>
          <p:cNvPr id="26" name="Text 19"/>
          <p:cNvSpPr txBox="1"/>
          <p:nvPr/>
        </p:nvSpPr>
        <p:spPr>
          <a:xfrm>
            <a:off x="868680" y="4937760"/>
            <a:ext cx="2103120" cy="365760"/>
          </a:xfrm>
          <a:prstGeom prst="rect">
            <a:avLst/>
          </a:prstGeom>
          <a:noFill/>
          <a:ln/>
        </p:spPr>
        <p:txBody>
          <a:bodyPr wrap="square" lIns="0" tIns="0" rIns="0" bIns="0" rtlCol="0" anchor="t"/>
          <a:lstStyle/>
          <a:p>
            <a:pPr indent="0" marL="0">
              <a:buNone/>
            </a:pPr>
            <a:r>
              <a:rPr lang="en-US" sz="1700" b="1" dirty="0">
                <a:solidFill>
                  <a:srgbClr val="F1F5F9"/>
                </a:solidFill>
                <a:latin typeface="Calibri" pitchFamily="34" charset="0"/>
                <a:ea typeface="Calibri" pitchFamily="34" charset="-122"/>
                <a:cs typeface="Calibri" pitchFamily="34" charset="-120"/>
              </a:rPr>
              <a:t>Python for the web</a:t>
            </a:r>
            <a:endParaRPr lang="en-US" sz="1700" dirty="0"/>
          </a:p>
        </p:txBody>
      </p:sp>
      <p:sp>
        <p:nvSpPr>
          <p:cNvPr id="27" name="Text 20"/>
          <p:cNvSpPr txBox="1"/>
          <p:nvPr/>
        </p:nvSpPr>
        <p:spPr>
          <a:xfrm>
            <a:off x="868680" y="5330952"/>
            <a:ext cx="2103120" cy="777240"/>
          </a:xfrm>
          <a:prstGeom prst="rect">
            <a:avLst/>
          </a:prstGeom>
          <a:noFill/>
          <a:ln/>
        </p:spPr>
        <p:txBody>
          <a:bodyPr wrap="square" lIns="0" tIns="0" rIns="0" bIns="0" rtlCol="0" anchor="t"/>
          <a:lstStyle/>
          <a:p>
            <a:pPr indent="0" marL="0">
              <a:buNone/>
            </a:pPr>
            <a:r>
              <a:rPr lang="en-US" sz="1400" dirty="0">
                <a:solidFill>
                  <a:srgbClr val="A3AED0"/>
                </a:solidFill>
                <a:latin typeface="Calibri" pitchFamily="34" charset="0"/>
                <a:ea typeface="Calibri" pitchFamily="34" charset="-122"/>
                <a:cs typeface="Calibri" pitchFamily="34" charset="-120"/>
              </a:rPr>
              <a:t>GET and POST views, sessions, cookies and CSRF.</a:t>
            </a:r>
            <a:endParaRPr lang="en-US" sz="1400" dirty="0"/>
          </a:p>
        </p:txBody>
      </p:sp>
      <p:sp>
        <p:nvSpPr>
          <p:cNvPr id="28" name="Shape 21"/>
          <p:cNvSpPr/>
          <p:nvPr/>
        </p:nvSpPr>
        <p:spPr>
          <a:xfrm>
            <a:off x="3419856" y="3977640"/>
            <a:ext cx="2560320" cy="2148840"/>
          </a:xfrm>
          <a:prstGeom prst="roundRect">
            <a:avLst>
              <a:gd name="adj" fmla="val 5957"/>
            </a:avLst>
          </a:prstGeom>
          <a:solidFill>
            <a:srgbClr val="14142B"/>
          </a:solidFill>
          <a:ln w="9525">
            <a:solidFill>
              <a:srgbClr val="34345E"/>
            </a:solidFill>
            <a:prstDash val="solid"/>
          </a:ln>
        </p:spPr>
      </p:sp>
      <p:sp>
        <p:nvSpPr>
          <p:cNvPr id="29" name="Shape 22"/>
          <p:cNvSpPr/>
          <p:nvPr/>
        </p:nvSpPr>
        <p:spPr>
          <a:xfrm>
            <a:off x="3648456" y="4206240"/>
            <a:ext cx="640080" cy="640080"/>
          </a:xfrm>
          <a:prstGeom prst="ellipse">
            <a:avLst/>
          </a:prstGeom>
          <a:solidFill>
            <a:srgbClr val="F97316">
              <a:alpha val="22000"/>
            </a:srgbClr>
          </a:solidFill>
          <a:ln w="12700">
            <a:solidFill>
              <a:srgbClr val="F97316"/>
            </a:solidFill>
            <a:prstDash val="solid"/>
          </a:ln>
        </p:spPr>
      </p:sp>
      <p:pic>
        <p:nvPicPr>
          <p:cNvPr id="30" name="Image 5" descr="preencoded.png">    </p:cNvPr>
          <p:cNvPicPr>
            <a:picLocks noChangeAspect="1"/>
          </p:cNvPicPr>
          <p:nvPr/>
        </p:nvPicPr>
        <p:blipFill>
          <a:blip r:embed="rId6"/>
          <a:stretch>
            <a:fillRect/>
          </a:stretch>
        </p:blipFill>
        <p:spPr>
          <a:xfrm>
            <a:off x="3808476" y="4366260"/>
            <a:ext cx="320040" cy="320040"/>
          </a:xfrm>
          <a:prstGeom prst="rect">
            <a:avLst/>
          </a:prstGeom>
        </p:spPr>
      </p:pic>
      <p:sp>
        <p:nvSpPr>
          <p:cNvPr id="31" name="Text 23"/>
          <p:cNvSpPr txBox="1"/>
          <p:nvPr/>
        </p:nvSpPr>
        <p:spPr>
          <a:xfrm>
            <a:off x="3648456" y="4937760"/>
            <a:ext cx="2103120" cy="365760"/>
          </a:xfrm>
          <a:prstGeom prst="rect">
            <a:avLst/>
          </a:prstGeom>
          <a:noFill/>
          <a:ln/>
        </p:spPr>
        <p:txBody>
          <a:bodyPr wrap="square" lIns="0" tIns="0" rIns="0" bIns="0" rtlCol="0" anchor="t"/>
          <a:lstStyle/>
          <a:p>
            <a:pPr indent="0" marL="0">
              <a:buNone/>
            </a:pPr>
            <a:r>
              <a:rPr lang="en-US" sz="1700" b="1" dirty="0">
                <a:solidFill>
                  <a:srgbClr val="F1F5F9"/>
                </a:solidFill>
                <a:latin typeface="Calibri" pitchFamily="34" charset="0"/>
                <a:ea typeface="Calibri" pitchFamily="34" charset="-122"/>
                <a:cs typeface="Calibri" pitchFamily="34" charset="-120"/>
              </a:rPr>
              <a:t>MySQL and CRUD</a:t>
            </a:r>
            <a:endParaRPr lang="en-US" sz="1700" dirty="0"/>
          </a:p>
        </p:txBody>
      </p:sp>
      <p:sp>
        <p:nvSpPr>
          <p:cNvPr id="32" name="Text 24"/>
          <p:cNvSpPr txBox="1"/>
          <p:nvPr/>
        </p:nvSpPr>
        <p:spPr>
          <a:xfrm>
            <a:off x="3648456" y="5330952"/>
            <a:ext cx="2103120" cy="777240"/>
          </a:xfrm>
          <a:prstGeom prst="rect">
            <a:avLst/>
          </a:prstGeom>
          <a:noFill/>
          <a:ln/>
        </p:spPr>
        <p:txBody>
          <a:bodyPr wrap="square" lIns="0" tIns="0" rIns="0" bIns="0" rtlCol="0" anchor="t"/>
          <a:lstStyle/>
          <a:p>
            <a:pPr indent="0" marL="0">
              <a:buNone/>
            </a:pPr>
            <a:r>
              <a:rPr lang="en-US" sz="1400" dirty="0">
                <a:solidFill>
                  <a:srgbClr val="A3AED0"/>
                </a:solidFill>
                <a:latin typeface="Calibri" pitchFamily="34" charset="0"/>
                <a:ea typeface="Calibri" pitchFamily="34" charset="-122"/>
                <a:cs typeface="Calibri" pitchFamily="34" charset="-120"/>
              </a:rPr>
              <a:t>MySQL is supported; the schema and CRUD queries are in sql/schema.sql.</a:t>
            </a:r>
            <a:endParaRPr lang="en-US" sz="1400" dirty="0"/>
          </a:p>
        </p:txBody>
      </p:sp>
      <p:sp>
        <p:nvSpPr>
          <p:cNvPr id="33" name="Shape 25"/>
          <p:cNvSpPr/>
          <p:nvPr/>
        </p:nvSpPr>
        <p:spPr>
          <a:xfrm>
            <a:off x="6199632" y="3977640"/>
            <a:ext cx="2560320" cy="2148840"/>
          </a:xfrm>
          <a:prstGeom prst="roundRect">
            <a:avLst>
              <a:gd name="adj" fmla="val 5957"/>
            </a:avLst>
          </a:prstGeom>
          <a:solidFill>
            <a:srgbClr val="14142B"/>
          </a:solidFill>
          <a:ln w="9525">
            <a:solidFill>
              <a:srgbClr val="34345E"/>
            </a:solidFill>
            <a:prstDash val="solid"/>
          </a:ln>
        </p:spPr>
      </p:sp>
      <p:sp>
        <p:nvSpPr>
          <p:cNvPr id="34" name="Shape 26"/>
          <p:cNvSpPr/>
          <p:nvPr/>
        </p:nvSpPr>
        <p:spPr>
          <a:xfrm>
            <a:off x="6428232" y="4206240"/>
            <a:ext cx="640080" cy="640080"/>
          </a:xfrm>
          <a:prstGeom prst="ellipse">
            <a:avLst/>
          </a:prstGeom>
          <a:solidFill>
            <a:srgbClr val="A5B4FC">
              <a:alpha val="22000"/>
            </a:srgbClr>
          </a:solidFill>
          <a:ln w="12700">
            <a:solidFill>
              <a:srgbClr val="A5B4FC"/>
            </a:solidFill>
            <a:prstDash val="solid"/>
          </a:ln>
        </p:spPr>
      </p:sp>
      <p:pic>
        <p:nvPicPr>
          <p:cNvPr id="35" name="Image 6" descr="preencoded.png">    </p:cNvPr>
          <p:cNvPicPr>
            <a:picLocks noChangeAspect="1"/>
          </p:cNvPicPr>
          <p:nvPr/>
        </p:nvPicPr>
        <p:blipFill>
          <a:blip r:embed="rId7"/>
          <a:stretch>
            <a:fillRect/>
          </a:stretch>
        </p:blipFill>
        <p:spPr>
          <a:xfrm>
            <a:off x="6588252" y="4366260"/>
            <a:ext cx="320040" cy="320040"/>
          </a:xfrm>
          <a:prstGeom prst="rect">
            <a:avLst/>
          </a:prstGeom>
        </p:spPr>
      </p:pic>
      <p:sp>
        <p:nvSpPr>
          <p:cNvPr id="36" name="Text 27"/>
          <p:cNvSpPr txBox="1"/>
          <p:nvPr/>
        </p:nvSpPr>
        <p:spPr>
          <a:xfrm>
            <a:off x="6428232" y="4937760"/>
            <a:ext cx="2103120" cy="365760"/>
          </a:xfrm>
          <a:prstGeom prst="rect">
            <a:avLst/>
          </a:prstGeom>
          <a:noFill/>
          <a:ln/>
        </p:spPr>
        <p:txBody>
          <a:bodyPr wrap="square" lIns="0" tIns="0" rIns="0" bIns="0" rtlCol="0" anchor="t"/>
          <a:lstStyle/>
          <a:p>
            <a:pPr indent="0" marL="0">
              <a:buNone/>
            </a:pPr>
            <a:r>
              <a:rPr lang="en-US" sz="1700" b="1" dirty="0">
                <a:solidFill>
                  <a:srgbClr val="F1F5F9"/>
                </a:solidFill>
                <a:latin typeface="Calibri" pitchFamily="34" charset="0"/>
                <a:ea typeface="Calibri" pitchFamily="34" charset="-122"/>
                <a:cs typeface="Calibri" pitchFamily="34" charset="-120"/>
              </a:rPr>
              <a:t>Django MVT and ORM</a:t>
            </a:r>
            <a:endParaRPr lang="en-US" sz="1700" dirty="0"/>
          </a:p>
        </p:txBody>
      </p:sp>
      <p:sp>
        <p:nvSpPr>
          <p:cNvPr id="37" name="Text 28"/>
          <p:cNvSpPr txBox="1"/>
          <p:nvPr/>
        </p:nvSpPr>
        <p:spPr>
          <a:xfrm>
            <a:off x="6428232" y="5330952"/>
            <a:ext cx="2103120" cy="777240"/>
          </a:xfrm>
          <a:prstGeom prst="rect">
            <a:avLst/>
          </a:prstGeom>
          <a:noFill/>
          <a:ln/>
        </p:spPr>
        <p:txBody>
          <a:bodyPr wrap="square" lIns="0" tIns="0" rIns="0" bIns="0" rtlCol="0" anchor="t"/>
          <a:lstStyle/>
          <a:p>
            <a:pPr indent="0" marL="0">
              <a:buNone/>
            </a:pPr>
            <a:r>
              <a:rPr lang="en-US" sz="1400" dirty="0">
                <a:solidFill>
                  <a:srgbClr val="A3AED0"/>
                </a:solidFill>
                <a:latin typeface="Calibri" pitchFamily="34" charset="0"/>
                <a:ea typeface="Calibri" pitchFamily="34" charset="-122"/>
                <a:cs typeface="Calibri" pitchFamily="34" charset="-120"/>
              </a:rPr>
              <a:t>Models, views, templates, URL routing and ORM queries.</a:t>
            </a:r>
            <a:endParaRPr lang="en-US" sz="1400" dirty="0"/>
          </a:p>
        </p:txBody>
      </p:sp>
      <p:sp>
        <p:nvSpPr>
          <p:cNvPr id="38" name="Shape 29"/>
          <p:cNvSpPr/>
          <p:nvPr/>
        </p:nvSpPr>
        <p:spPr>
          <a:xfrm>
            <a:off x="8979408" y="3977640"/>
            <a:ext cx="2560320" cy="2148840"/>
          </a:xfrm>
          <a:prstGeom prst="roundRect">
            <a:avLst>
              <a:gd name="adj" fmla="val 5957"/>
            </a:avLst>
          </a:prstGeom>
          <a:solidFill>
            <a:srgbClr val="14142B"/>
          </a:solidFill>
          <a:ln w="9525">
            <a:solidFill>
              <a:srgbClr val="34345E"/>
            </a:solidFill>
            <a:prstDash val="solid"/>
          </a:ln>
        </p:spPr>
      </p:sp>
      <p:sp>
        <p:nvSpPr>
          <p:cNvPr id="39" name="Shape 30"/>
          <p:cNvSpPr/>
          <p:nvPr/>
        </p:nvSpPr>
        <p:spPr>
          <a:xfrm>
            <a:off x="9208008" y="4206240"/>
            <a:ext cx="640080" cy="640080"/>
          </a:xfrm>
          <a:prstGeom prst="ellipse">
            <a:avLst/>
          </a:prstGeom>
          <a:solidFill>
            <a:srgbClr val="F472B6">
              <a:alpha val="22000"/>
            </a:srgbClr>
          </a:solidFill>
          <a:ln w="12700">
            <a:solidFill>
              <a:srgbClr val="F472B6"/>
            </a:solidFill>
            <a:prstDash val="solid"/>
          </a:ln>
        </p:spPr>
      </p:sp>
      <p:pic>
        <p:nvPicPr>
          <p:cNvPr id="40" name="Image 7" descr="preencoded.png">    </p:cNvPr>
          <p:cNvPicPr>
            <a:picLocks noChangeAspect="1"/>
          </p:cNvPicPr>
          <p:nvPr/>
        </p:nvPicPr>
        <p:blipFill>
          <a:blip r:embed="rId8"/>
          <a:stretch>
            <a:fillRect/>
          </a:stretch>
        </p:blipFill>
        <p:spPr>
          <a:xfrm>
            <a:off x="9368028" y="4366260"/>
            <a:ext cx="320040" cy="320040"/>
          </a:xfrm>
          <a:prstGeom prst="rect">
            <a:avLst/>
          </a:prstGeom>
        </p:spPr>
      </p:pic>
      <p:sp>
        <p:nvSpPr>
          <p:cNvPr id="41" name="Text 31"/>
          <p:cNvSpPr txBox="1"/>
          <p:nvPr/>
        </p:nvSpPr>
        <p:spPr>
          <a:xfrm>
            <a:off x="9208008" y="4937760"/>
            <a:ext cx="2103120" cy="365760"/>
          </a:xfrm>
          <a:prstGeom prst="rect">
            <a:avLst/>
          </a:prstGeom>
          <a:noFill/>
          <a:ln/>
        </p:spPr>
        <p:txBody>
          <a:bodyPr wrap="square" lIns="0" tIns="0" rIns="0" bIns="0" rtlCol="0" anchor="t"/>
          <a:lstStyle/>
          <a:p>
            <a:pPr indent="0" marL="0">
              <a:buNone/>
            </a:pPr>
            <a:r>
              <a:rPr lang="en-US" sz="1700" b="1" dirty="0">
                <a:solidFill>
                  <a:srgbClr val="F1F5F9"/>
                </a:solidFill>
                <a:latin typeface="Calibri" pitchFamily="34" charset="0"/>
                <a:ea typeface="Calibri" pitchFamily="34" charset="-122"/>
                <a:cs typeface="Calibri" pitchFamily="34" charset="-120"/>
              </a:rPr>
              <a:t>Admin interface</a:t>
            </a:r>
            <a:endParaRPr lang="en-US" sz="1700" dirty="0"/>
          </a:p>
        </p:txBody>
      </p:sp>
      <p:sp>
        <p:nvSpPr>
          <p:cNvPr id="42" name="Text 32"/>
          <p:cNvSpPr txBox="1"/>
          <p:nvPr/>
        </p:nvSpPr>
        <p:spPr>
          <a:xfrm>
            <a:off x="9208008" y="5330952"/>
            <a:ext cx="2103120" cy="777240"/>
          </a:xfrm>
          <a:prstGeom prst="rect">
            <a:avLst/>
          </a:prstGeom>
          <a:noFill/>
          <a:ln/>
        </p:spPr>
        <p:txBody>
          <a:bodyPr wrap="square" lIns="0" tIns="0" rIns="0" bIns="0" rtlCol="0" anchor="t"/>
          <a:lstStyle/>
          <a:p>
            <a:pPr indent="0" marL="0">
              <a:buNone/>
            </a:pPr>
            <a:r>
              <a:rPr lang="en-US" sz="1400" dirty="0">
                <a:solidFill>
                  <a:srgbClr val="A3AED0"/>
                </a:solidFill>
                <a:latin typeface="Calibri" pitchFamily="34" charset="0"/>
                <a:ea typeface="Calibri" pitchFamily="34" charset="-122"/>
                <a:cs typeface="Calibri" pitchFamily="34" charset="-120"/>
              </a:rPr>
              <a:t>Search, filters and drill-down for every table.</a:t>
            </a:r>
            <a:endParaRPr lang="en-US" sz="1400" dirty="0"/>
          </a:p>
        </p:txBody>
      </p:sp>
      <p:sp>
        <p:nvSpPr>
          <p:cNvPr id="25" name="Slide Number Placeholder 0"/>
          <p:cNvSpPr>
            <a:spLocks noGrp="1"/>
          </p:cNvSpPr>
          <p:nvPr>
            <p:ph type="sldNum" sz="quarter" idx="4294967295"/>
          </p:nvPr>
        </p:nvSpPr>
        <p:spPr>
          <a:xfrm>
            <a:off x="11064240" y="640080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3AED0"/>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640080" y="457200"/>
            <a:ext cx="10908792" cy="777240"/>
          </a:xfrm>
          <a:prstGeom prst="rect">
            <a:avLst/>
          </a:prstGeom>
          <a:noFill/>
          <a:ln/>
        </p:spPr>
        <p:txBody>
          <a:bodyPr wrap="square" lIns="0" tIns="0" rIns="0" bIns="0" rtlCol="0" anchor="ctr"/>
          <a:lstStyle/>
          <a:p>
            <a:pPr algn="l" indent="0" marL="0">
              <a:buNone/>
            </a:pPr>
            <a:r>
              <a:rPr lang="en-US" sz="2600" dirty="0">
                <a:solidFill>
                  <a:srgbClr val="F1F5F9"/>
                </a:solidFill>
                <a:latin typeface="Arial Black" pitchFamily="34" charset="0"/>
                <a:ea typeface="Arial Black" pitchFamily="34" charset="-122"/>
                <a:cs typeface="Arial Black" pitchFamily="34" charset="-120"/>
              </a:rPr>
              <a:t>How the pieces fit</a:t>
            </a:r>
            <a:endParaRPr lang="en-US" sz="2600" dirty="0"/>
          </a:p>
        </p:txBody>
      </p:sp>
      <p:sp>
        <p:nvSpPr>
          <p:cNvPr id="3" name="Shape 1"/>
          <p:cNvSpPr/>
          <p:nvPr/>
        </p:nvSpPr>
        <p:spPr>
          <a:xfrm>
            <a:off x="640080" y="1554480"/>
            <a:ext cx="2926080" cy="3200400"/>
          </a:xfrm>
          <a:prstGeom prst="roundRect">
            <a:avLst>
              <a:gd name="adj" fmla="val 4375"/>
            </a:avLst>
          </a:prstGeom>
          <a:solidFill>
            <a:srgbClr val="14142B"/>
          </a:solidFill>
          <a:ln w="9525">
            <a:solidFill>
              <a:srgbClr val="34345E"/>
            </a:solidFill>
            <a:prstDash val="solid"/>
          </a:ln>
        </p:spPr>
      </p:sp>
      <p:sp>
        <p:nvSpPr>
          <p:cNvPr id="4" name="Text 2"/>
          <p:cNvSpPr txBox="1"/>
          <p:nvPr/>
        </p:nvSpPr>
        <p:spPr>
          <a:xfrm>
            <a:off x="914400" y="1737360"/>
            <a:ext cx="2377440" cy="365760"/>
          </a:xfrm>
          <a:prstGeom prst="rect">
            <a:avLst/>
          </a:prstGeom>
          <a:noFill/>
          <a:ln/>
        </p:spPr>
        <p:txBody>
          <a:bodyPr wrap="square" lIns="0" tIns="0" rIns="0" bIns="0" rtlCol="0" anchor="t"/>
          <a:lstStyle/>
          <a:p>
            <a:pPr indent="0" marL="0">
              <a:buNone/>
            </a:pPr>
            <a:r>
              <a:rPr lang="en-US" sz="2000" b="1" dirty="0">
                <a:solidFill>
                  <a:srgbClr val="F1F5F9"/>
                </a:solidFill>
                <a:latin typeface="Calibri" pitchFamily="34" charset="0"/>
                <a:ea typeface="Calibri" pitchFamily="34" charset="-122"/>
                <a:cs typeface="Calibri" pitchFamily="34" charset="-120"/>
              </a:rPr>
              <a:t>Browser</a:t>
            </a:r>
            <a:endParaRPr lang="en-US" sz="2000" dirty="0"/>
          </a:p>
        </p:txBody>
      </p:sp>
      <p:sp>
        <p:nvSpPr>
          <p:cNvPr id="5" name="Shape 3"/>
          <p:cNvSpPr/>
          <p:nvPr/>
        </p:nvSpPr>
        <p:spPr>
          <a:xfrm>
            <a:off x="914400" y="2286000"/>
            <a:ext cx="2377440" cy="384048"/>
          </a:xfrm>
          <a:prstGeom prst="roundRect">
            <a:avLst>
              <a:gd name="adj" fmla="val 50000"/>
            </a:avLst>
          </a:prstGeom>
          <a:solidFill>
            <a:srgbClr val="1B1B38"/>
          </a:solidFill>
          <a:ln w="12700">
            <a:solidFill>
              <a:srgbClr val="34345E"/>
            </a:solidFill>
            <a:prstDash val="solid"/>
          </a:ln>
        </p:spPr>
      </p:sp>
      <p:sp>
        <p:nvSpPr>
          <p:cNvPr id="6" name="Text 4"/>
          <p:cNvSpPr txBox="1"/>
          <p:nvPr/>
        </p:nvSpPr>
        <p:spPr>
          <a:xfrm>
            <a:off x="914400" y="2286000"/>
            <a:ext cx="2377440" cy="384048"/>
          </a:xfrm>
          <a:prstGeom prst="rect">
            <a:avLst/>
          </a:prstGeom>
          <a:noFill/>
          <a:ln/>
        </p:spPr>
        <p:txBody>
          <a:bodyPr wrap="square" lIns="0" tIns="0" rIns="0" bIns="0" rtlCol="0" anchor="ctr"/>
          <a:lstStyle/>
          <a:p>
            <a:pPr algn="ctr" indent="0" marL="0">
              <a:buNone/>
            </a:pPr>
            <a:r>
              <a:rPr lang="en-US" sz="1400" b="1" dirty="0">
                <a:solidFill>
                  <a:srgbClr val="A5B4FC"/>
                </a:solidFill>
                <a:latin typeface="Calibri" pitchFamily="34" charset="0"/>
                <a:ea typeface="Calibri" pitchFamily="34" charset="-122"/>
                <a:cs typeface="Calibri" pitchFamily="34" charset="-120"/>
              </a:rPr>
              <a:t>HTML</a:t>
            </a:r>
            <a:endParaRPr lang="en-US" sz="1400" dirty="0"/>
          </a:p>
        </p:txBody>
      </p:sp>
      <p:sp>
        <p:nvSpPr>
          <p:cNvPr id="7" name="Shape 5"/>
          <p:cNvSpPr/>
          <p:nvPr/>
        </p:nvSpPr>
        <p:spPr>
          <a:xfrm>
            <a:off x="914400" y="2834640"/>
            <a:ext cx="2377440" cy="384048"/>
          </a:xfrm>
          <a:prstGeom prst="roundRect">
            <a:avLst>
              <a:gd name="adj" fmla="val 50000"/>
            </a:avLst>
          </a:prstGeom>
          <a:solidFill>
            <a:srgbClr val="1B1B38"/>
          </a:solidFill>
          <a:ln w="12700">
            <a:solidFill>
              <a:srgbClr val="34345E"/>
            </a:solidFill>
            <a:prstDash val="solid"/>
          </a:ln>
        </p:spPr>
      </p:sp>
      <p:sp>
        <p:nvSpPr>
          <p:cNvPr id="8" name="Text 6"/>
          <p:cNvSpPr txBox="1"/>
          <p:nvPr/>
        </p:nvSpPr>
        <p:spPr>
          <a:xfrm>
            <a:off x="914400" y="2834640"/>
            <a:ext cx="2377440" cy="384048"/>
          </a:xfrm>
          <a:prstGeom prst="rect">
            <a:avLst/>
          </a:prstGeom>
          <a:noFill/>
          <a:ln/>
        </p:spPr>
        <p:txBody>
          <a:bodyPr wrap="square" lIns="0" tIns="0" rIns="0" bIns="0" rtlCol="0" anchor="ctr"/>
          <a:lstStyle/>
          <a:p>
            <a:pPr algn="ctr" indent="0" marL="0">
              <a:buNone/>
            </a:pPr>
            <a:r>
              <a:rPr lang="en-US" sz="1400" b="1" dirty="0">
                <a:solidFill>
                  <a:srgbClr val="A5B4FC"/>
                </a:solidFill>
                <a:latin typeface="Calibri" pitchFamily="34" charset="0"/>
                <a:ea typeface="Calibri" pitchFamily="34" charset="-122"/>
                <a:cs typeface="Calibri" pitchFamily="34" charset="-120"/>
              </a:rPr>
              <a:t>CSS + Bootstrap</a:t>
            </a:r>
            <a:endParaRPr lang="en-US" sz="1400" dirty="0"/>
          </a:p>
        </p:txBody>
      </p:sp>
      <p:sp>
        <p:nvSpPr>
          <p:cNvPr id="9" name="Shape 7"/>
          <p:cNvSpPr/>
          <p:nvPr/>
        </p:nvSpPr>
        <p:spPr>
          <a:xfrm>
            <a:off x="914400" y="3383280"/>
            <a:ext cx="2377440" cy="384048"/>
          </a:xfrm>
          <a:prstGeom prst="roundRect">
            <a:avLst>
              <a:gd name="adj" fmla="val 50000"/>
            </a:avLst>
          </a:prstGeom>
          <a:solidFill>
            <a:srgbClr val="1B1B38"/>
          </a:solidFill>
          <a:ln w="12700">
            <a:solidFill>
              <a:srgbClr val="34345E"/>
            </a:solidFill>
            <a:prstDash val="solid"/>
          </a:ln>
        </p:spPr>
      </p:sp>
      <p:sp>
        <p:nvSpPr>
          <p:cNvPr id="10" name="Text 8"/>
          <p:cNvSpPr txBox="1"/>
          <p:nvPr/>
        </p:nvSpPr>
        <p:spPr>
          <a:xfrm>
            <a:off x="914400" y="3383280"/>
            <a:ext cx="2377440" cy="384048"/>
          </a:xfrm>
          <a:prstGeom prst="rect">
            <a:avLst/>
          </a:prstGeom>
          <a:noFill/>
          <a:ln/>
        </p:spPr>
        <p:txBody>
          <a:bodyPr wrap="square" lIns="0" tIns="0" rIns="0" bIns="0" rtlCol="0" anchor="ctr"/>
          <a:lstStyle/>
          <a:p>
            <a:pPr algn="ctr" indent="0" marL="0">
              <a:buNone/>
            </a:pPr>
            <a:r>
              <a:rPr lang="en-US" sz="1400" b="1" dirty="0">
                <a:solidFill>
                  <a:srgbClr val="A5B4FC"/>
                </a:solidFill>
                <a:latin typeface="Calibri" pitchFamily="34" charset="0"/>
                <a:ea typeface="Calibri" pitchFamily="34" charset="-122"/>
                <a:cs typeface="Calibri" pitchFamily="34" charset="-120"/>
              </a:rPr>
              <a:t>JavaScript</a:t>
            </a:r>
            <a:endParaRPr lang="en-US" sz="1400" dirty="0"/>
          </a:p>
        </p:txBody>
      </p:sp>
      <p:sp>
        <p:nvSpPr>
          <p:cNvPr id="11" name="Shape 9"/>
          <p:cNvSpPr/>
          <p:nvPr/>
        </p:nvSpPr>
        <p:spPr>
          <a:xfrm>
            <a:off x="914400" y="3931920"/>
            <a:ext cx="2377440" cy="384048"/>
          </a:xfrm>
          <a:prstGeom prst="roundRect">
            <a:avLst>
              <a:gd name="adj" fmla="val 50000"/>
            </a:avLst>
          </a:prstGeom>
          <a:solidFill>
            <a:srgbClr val="1B1B38"/>
          </a:solidFill>
          <a:ln w="12700">
            <a:solidFill>
              <a:srgbClr val="34345E"/>
            </a:solidFill>
            <a:prstDash val="solid"/>
          </a:ln>
        </p:spPr>
      </p:sp>
      <p:sp>
        <p:nvSpPr>
          <p:cNvPr id="12" name="Text 10"/>
          <p:cNvSpPr txBox="1"/>
          <p:nvPr/>
        </p:nvSpPr>
        <p:spPr>
          <a:xfrm>
            <a:off x="914400" y="3931920"/>
            <a:ext cx="2377440" cy="384048"/>
          </a:xfrm>
          <a:prstGeom prst="rect">
            <a:avLst/>
          </a:prstGeom>
          <a:noFill/>
          <a:ln/>
        </p:spPr>
        <p:txBody>
          <a:bodyPr wrap="square" lIns="0" tIns="0" rIns="0" bIns="0" rtlCol="0" anchor="ctr"/>
          <a:lstStyle/>
          <a:p>
            <a:pPr algn="ctr" indent="0" marL="0">
              <a:buNone/>
            </a:pPr>
            <a:r>
              <a:rPr lang="en-US" sz="1400" b="1" dirty="0">
                <a:solidFill>
                  <a:srgbClr val="A5B4FC"/>
                </a:solidFill>
                <a:latin typeface="Calibri" pitchFamily="34" charset="0"/>
                <a:ea typeface="Calibri" pitchFamily="34" charset="-122"/>
                <a:cs typeface="Calibri" pitchFamily="34" charset="-120"/>
              </a:rPr>
              <a:t>jQuery</a:t>
            </a:r>
            <a:endParaRPr lang="en-US" sz="1400" dirty="0"/>
          </a:p>
        </p:txBody>
      </p:sp>
      <p:sp>
        <p:nvSpPr>
          <p:cNvPr id="13" name="Shape 11"/>
          <p:cNvSpPr/>
          <p:nvPr/>
        </p:nvSpPr>
        <p:spPr>
          <a:xfrm>
            <a:off x="4572000" y="1554480"/>
            <a:ext cx="3886200" cy="3200400"/>
          </a:xfrm>
          <a:prstGeom prst="roundRect">
            <a:avLst>
              <a:gd name="adj" fmla="val 4000"/>
            </a:avLst>
          </a:prstGeom>
          <a:solidFill>
            <a:srgbClr val="1B1B38"/>
          </a:solidFill>
          <a:ln w="9525">
            <a:solidFill>
              <a:srgbClr val="34345E"/>
            </a:solidFill>
            <a:prstDash val="solid"/>
          </a:ln>
        </p:spPr>
      </p:sp>
      <p:sp>
        <p:nvSpPr>
          <p:cNvPr id="14" name="Text 12"/>
          <p:cNvSpPr txBox="1"/>
          <p:nvPr/>
        </p:nvSpPr>
        <p:spPr>
          <a:xfrm>
            <a:off x="4846320" y="1737360"/>
            <a:ext cx="3383280" cy="365760"/>
          </a:xfrm>
          <a:prstGeom prst="rect">
            <a:avLst/>
          </a:prstGeom>
          <a:noFill/>
          <a:ln/>
        </p:spPr>
        <p:txBody>
          <a:bodyPr wrap="square" lIns="0" tIns="0" rIns="0" bIns="0" rtlCol="0" anchor="t"/>
          <a:lstStyle/>
          <a:p>
            <a:pPr indent="0" marL="0">
              <a:buNone/>
            </a:pPr>
            <a:r>
              <a:rPr lang="en-US" sz="2000" b="1" dirty="0">
                <a:solidFill>
                  <a:srgbClr val="F1F5F9"/>
                </a:solidFill>
                <a:latin typeface="Calibri" pitchFamily="34" charset="0"/>
                <a:ea typeface="Calibri" pitchFamily="34" charset="-122"/>
                <a:cs typeface="Calibri" pitchFamily="34" charset="-120"/>
              </a:rPr>
              <a:t>Django (Python)</a:t>
            </a:r>
            <a:endParaRPr lang="en-US" sz="2000" dirty="0"/>
          </a:p>
        </p:txBody>
      </p:sp>
      <p:sp>
        <p:nvSpPr>
          <p:cNvPr id="15" name="Shape 13"/>
          <p:cNvSpPr/>
          <p:nvPr/>
        </p:nvSpPr>
        <p:spPr>
          <a:xfrm>
            <a:off x="4846320" y="2331720"/>
            <a:ext cx="1645920" cy="822960"/>
          </a:xfrm>
          <a:prstGeom prst="roundRect">
            <a:avLst>
              <a:gd name="adj" fmla="val 13333"/>
            </a:avLst>
          </a:prstGeom>
          <a:solidFill>
            <a:srgbClr val="0B0B1A"/>
          </a:solidFill>
          <a:ln w="19050">
            <a:solidFill>
              <a:srgbClr val="A5B4FC"/>
            </a:solidFill>
            <a:prstDash val="solid"/>
          </a:ln>
        </p:spPr>
      </p:sp>
      <p:sp>
        <p:nvSpPr>
          <p:cNvPr id="16" name="Text 14"/>
          <p:cNvSpPr txBox="1"/>
          <p:nvPr/>
        </p:nvSpPr>
        <p:spPr>
          <a:xfrm>
            <a:off x="4846320" y="2331720"/>
            <a:ext cx="1645920" cy="822960"/>
          </a:xfrm>
          <a:prstGeom prst="rect">
            <a:avLst/>
          </a:prstGeom>
          <a:noFill/>
          <a:ln/>
        </p:spPr>
        <p:txBody>
          <a:bodyPr wrap="square" lIns="0" tIns="0" rIns="0" bIns="0" rtlCol="0" anchor="ctr"/>
          <a:lstStyle/>
          <a:p>
            <a:pPr algn="ctr" indent="0" marL="0">
              <a:buNone/>
            </a:pPr>
            <a:r>
              <a:rPr lang="en-US" sz="1500" b="1" dirty="0">
                <a:solidFill>
                  <a:srgbClr val="A5B4FC"/>
                </a:solidFill>
                <a:latin typeface="Calibri" pitchFamily="34" charset="0"/>
                <a:ea typeface="Calibri" pitchFamily="34" charset="-122"/>
                <a:cs typeface="Calibri" pitchFamily="34" charset="-120"/>
              </a:rPr>
              <a:t>URLs</a:t>
            </a:r>
            <a:endParaRPr lang="en-US" sz="1500" dirty="0"/>
          </a:p>
        </p:txBody>
      </p:sp>
      <p:sp>
        <p:nvSpPr>
          <p:cNvPr id="17" name="Shape 15"/>
          <p:cNvSpPr/>
          <p:nvPr/>
        </p:nvSpPr>
        <p:spPr>
          <a:xfrm>
            <a:off x="6629400" y="2331720"/>
            <a:ext cx="1645920" cy="822960"/>
          </a:xfrm>
          <a:prstGeom prst="roundRect">
            <a:avLst>
              <a:gd name="adj" fmla="val 13333"/>
            </a:avLst>
          </a:prstGeom>
          <a:solidFill>
            <a:srgbClr val="0B0B1A"/>
          </a:solidFill>
          <a:ln w="19050">
            <a:solidFill>
              <a:srgbClr val="F472B6"/>
            </a:solidFill>
            <a:prstDash val="solid"/>
          </a:ln>
        </p:spPr>
      </p:sp>
      <p:sp>
        <p:nvSpPr>
          <p:cNvPr id="18" name="Text 16"/>
          <p:cNvSpPr txBox="1"/>
          <p:nvPr/>
        </p:nvSpPr>
        <p:spPr>
          <a:xfrm>
            <a:off x="6629400" y="2331720"/>
            <a:ext cx="1645920" cy="822960"/>
          </a:xfrm>
          <a:prstGeom prst="rect">
            <a:avLst/>
          </a:prstGeom>
          <a:noFill/>
          <a:ln/>
        </p:spPr>
        <p:txBody>
          <a:bodyPr wrap="square" lIns="0" tIns="0" rIns="0" bIns="0" rtlCol="0" anchor="ctr"/>
          <a:lstStyle/>
          <a:p>
            <a:pPr algn="ctr" indent="0" marL="0">
              <a:buNone/>
            </a:pPr>
            <a:r>
              <a:rPr lang="en-US" sz="1500" b="1" dirty="0">
                <a:solidFill>
                  <a:srgbClr val="F472B6"/>
                </a:solidFill>
                <a:latin typeface="Calibri" pitchFamily="34" charset="0"/>
                <a:ea typeface="Calibri" pitchFamily="34" charset="-122"/>
                <a:cs typeface="Calibri" pitchFamily="34" charset="-120"/>
              </a:rPr>
              <a:t>Views</a:t>
            </a:r>
            <a:endParaRPr lang="en-US" sz="1500" dirty="0"/>
          </a:p>
        </p:txBody>
      </p:sp>
      <p:sp>
        <p:nvSpPr>
          <p:cNvPr id="19" name="Shape 17"/>
          <p:cNvSpPr/>
          <p:nvPr/>
        </p:nvSpPr>
        <p:spPr>
          <a:xfrm>
            <a:off x="4846320" y="3429000"/>
            <a:ext cx="1645920" cy="822960"/>
          </a:xfrm>
          <a:prstGeom prst="roundRect">
            <a:avLst>
              <a:gd name="adj" fmla="val 13333"/>
            </a:avLst>
          </a:prstGeom>
          <a:solidFill>
            <a:srgbClr val="0B0B1A"/>
          </a:solidFill>
          <a:ln w="19050">
            <a:solidFill>
              <a:srgbClr val="F97316"/>
            </a:solidFill>
            <a:prstDash val="solid"/>
          </a:ln>
        </p:spPr>
      </p:sp>
      <p:sp>
        <p:nvSpPr>
          <p:cNvPr id="20" name="Text 18"/>
          <p:cNvSpPr txBox="1"/>
          <p:nvPr/>
        </p:nvSpPr>
        <p:spPr>
          <a:xfrm>
            <a:off x="4846320" y="3429000"/>
            <a:ext cx="1645920" cy="822960"/>
          </a:xfrm>
          <a:prstGeom prst="rect">
            <a:avLst/>
          </a:prstGeom>
          <a:noFill/>
          <a:ln/>
        </p:spPr>
        <p:txBody>
          <a:bodyPr wrap="square" lIns="0" tIns="0" rIns="0" bIns="0" rtlCol="0" anchor="ctr"/>
          <a:lstStyle/>
          <a:p>
            <a:pPr algn="ctr" indent="0" marL="0">
              <a:buNone/>
            </a:pPr>
            <a:r>
              <a:rPr lang="en-US" sz="1500" b="1" dirty="0">
                <a:solidFill>
                  <a:srgbClr val="F97316"/>
                </a:solidFill>
                <a:latin typeface="Calibri" pitchFamily="34" charset="0"/>
                <a:ea typeface="Calibri" pitchFamily="34" charset="-122"/>
                <a:cs typeface="Calibri" pitchFamily="34" charset="-120"/>
              </a:rPr>
              <a:t>Models + ORM</a:t>
            </a:r>
            <a:endParaRPr lang="en-US" sz="1500" dirty="0"/>
          </a:p>
        </p:txBody>
      </p:sp>
      <p:sp>
        <p:nvSpPr>
          <p:cNvPr id="21" name="Shape 19"/>
          <p:cNvSpPr/>
          <p:nvPr/>
        </p:nvSpPr>
        <p:spPr>
          <a:xfrm>
            <a:off x="6629400" y="3429000"/>
            <a:ext cx="1645920" cy="822960"/>
          </a:xfrm>
          <a:prstGeom prst="roundRect">
            <a:avLst>
              <a:gd name="adj" fmla="val 13333"/>
            </a:avLst>
          </a:prstGeom>
          <a:solidFill>
            <a:srgbClr val="0B0B1A"/>
          </a:solidFill>
          <a:ln w="19050">
            <a:solidFill>
              <a:srgbClr val="4ADE80"/>
            </a:solidFill>
            <a:prstDash val="solid"/>
          </a:ln>
        </p:spPr>
      </p:sp>
      <p:sp>
        <p:nvSpPr>
          <p:cNvPr id="22" name="Text 20"/>
          <p:cNvSpPr txBox="1"/>
          <p:nvPr/>
        </p:nvSpPr>
        <p:spPr>
          <a:xfrm>
            <a:off x="6629400" y="3429000"/>
            <a:ext cx="1645920" cy="822960"/>
          </a:xfrm>
          <a:prstGeom prst="rect">
            <a:avLst/>
          </a:prstGeom>
          <a:noFill/>
          <a:ln/>
        </p:spPr>
        <p:txBody>
          <a:bodyPr wrap="square" lIns="0" tIns="0" rIns="0" bIns="0" rtlCol="0" anchor="ctr"/>
          <a:lstStyle/>
          <a:p>
            <a:pPr algn="ctr" indent="0" marL="0">
              <a:buNone/>
            </a:pPr>
            <a:r>
              <a:rPr lang="en-US" sz="1500" b="1" dirty="0">
                <a:solidFill>
                  <a:srgbClr val="4ADE80"/>
                </a:solidFill>
                <a:latin typeface="Calibri" pitchFamily="34" charset="0"/>
                <a:ea typeface="Calibri" pitchFamily="34" charset="-122"/>
                <a:cs typeface="Calibri" pitchFamily="34" charset="-120"/>
              </a:rPr>
              <a:t>Templates</a:t>
            </a:r>
            <a:endParaRPr lang="en-US" sz="1500" dirty="0"/>
          </a:p>
        </p:txBody>
      </p:sp>
      <p:sp>
        <p:nvSpPr>
          <p:cNvPr id="23" name="Shape 21"/>
          <p:cNvSpPr/>
          <p:nvPr/>
        </p:nvSpPr>
        <p:spPr>
          <a:xfrm>
            <a:off x="9509760" y="1554480"/>
            <a:ext cx="2057400" cy="3200400"/>
          </a:xfrm>
          <a:prstGeom prst="roundRect">
            <a:avLst>
              <a:gd name="adj" fmla="val 6222"/>
            </a:avLst>
          </a:prstGeom>
          <a:solidFill>
            <a:srgbClr val="14142B"/>
          </a:solidFill>
          <a:ln w="9525">
            <a:solidFill>
              <a:srgbClr val="34345E"/>
            </a:solidFill>
            <a:prstDash val="solid"/>
          </a:ln>
        </p:spPr>
      </p:sp>
      <p:sp>
        <p:nvSpPr>
          <p:cNvPr id="24" name="Text 22"/>
          <p:cNvSpPr txBox="1"/>
          <p:nvPr/>
        </p:nvSpPr>
        <p:spPr>
          <a:xfrm>
            <a:off x="9738360" y="1737360"/>
            <a:ext cx="1645920" cy="365760"/>
          </a:xfrm>
          <a:prstGeom prst="rect">
            <a:avLst/>
          </a:prstGeom>
          <a:noFill/>
          <a:ln/>
        </p:spPr>
        <p:txBody>
          <a:bodyPr wrap="square" lIns="0" tIns="0" rIns="0" bIns="0" rtlCol="0" anchor="t"/>
          <a:lstStyle/>
          <a:p>
            <a:pPr indent="0" marL="0">
              <a:buNone/>
            </a:pPr>
            <a:r>
              <a:rPr lang="en-US" sz="2000" b="1" dirty="0">
                <a:solidFill>
                  <a:srgbClr val="F1F5F9"/>
                </a:solidFill>
                <a:latin typeface="Calibri" pitchFamily="34" charset="0"/>
                <a:ea typeface="Calibri" pitchFamily="34" charset="-122"/>
                <a:cs typeface="Calibri" pitchFamily="34" charset="-120"/>
              </a:rPr>
              <a:t>Database</a:t>
            </a:r>
            <a:endParaRPr lang="en-US" sz="2000" dirty="0"/>
          </a:p>
        </p:txBody>
      </p:sp>
      <p:sp>
        <p:nvSpPr>
          <p:cNvPr id="25" name="Text 23"/>
          <p:cNvSpPr txBox="1"/>
          <p:nvPr/>
        </p:nvSpPr>
        <p:spPr>
          <a:xfrm>
            <a:off x="9738360" y="2286000"/>
            <a:ext cx="1737360" cy="2286000"/>
          </a:xfrm>
          <a:prstGeom prst="rect">
            <a:avLst/>
          </a:prstGeom>
          <a:noFill/>
          <a:ln/>
        </p:spPr>
        <p:txBody>
          <a:bodyPr wrap="square" lIns="0" tIns="0" rIns="0" bIns="0" rtlCol="0" anchor="t"/>
          <a:lstStyle/>
          <a:p>
            <a:pPr indent="0" marL="0">
              <a:buNone/>
            </a:pPr>
            <a:r>
              <a:rPr lang="en-US" sz="1400" b="1" dirty="0">
                <a:solidFill>
                  <a:srgbClr val="F1F5F9"/>
                </a:solidFill>
                <a:latin typeface="Calibri" pitchFamily="34" charset="0"/>
                <a:ea typeface="Calibri" pitchFamily="34" charset="-122"/>
                <a:cs typeface="Calibri" pitchFamily="34" charset="-120"/>
              </a:rPr>
              <a:t>SQLite</a:t>
            </a:r>
            <a:endParaRPr lang="en-US" sz="1400" dirty="0"/>
          </a:p>
          <a:p>
            <a:pPr indent="0" marL="0">
              <a:buNone/>
            </a:pPr>
            <a:r>
              <a:rPr lang="en-US" sz="1400" dirty="0">
                <a:solidFill>
                  <a:srgbClr val="A3AED0"/>
                </a:solidFill>
                <a:latin typeface="Calibri" pitchFamily="34" charset="0"/>
                <a:ea typeface="Calibri" pitchFamily="34" charset="-122"/>
                <a:cs typeface="Calibri" pitchFamily="34" charset="-120"/>
              </a:rPr>
              <a:t>on a computer</a:t>
            </a:r>
            <a:endParaRPr lang="en-US" sz="1400" dirty="0"/>
          </a:p>
          <a:p>
            <a:pPr indent="0" marL="0">
              <a:buNone/>
            </a:pPr>
            <a:r>
              <a:rPr lang="en-US" sz="800" dirty="0">
                <a:solidFill>
                  <a:srgbClr val="F1F5F9"/>
                </a:solidFill>
                <a:latin typeface="Calibri" pitchFamily="34" charset="0"/>
                <a:ea typeface="Calibri" pitchFamily="34" charset="-122"/>
                <a:cs typeface="Calibri" pitchFamily="34" charset="-120"/>
              </a:rPr>
              <a:t> </a:t>
            </a:r>
            <a:endParaRPr lang="en-US" sz="1400" dirty="0"/>
          </a:p>
          <a:p>
            <a:pPr indent="0" marL="0">
              <a:buNone/>
            </a:pPr>
            <a:r>
              <a:rPr lang="en-US" sz="1400" b="1" dirty="0">
                <a:solidFill>
                  <a:srgbClr val="4ADE80"/>
                </a:solidFill>
                <a:latin typeface="Calibri" pitchFamily="34" charset="0"/>
                <a:ea typeface="Calibri" pitchFamily="34" charset="-122"/>
                <a:cs typeface="Calibri" pitchFamily="34" charset="-120"/>
              </a:rPr>
              <a:t>PostgreSQL</a:t>
            </a:r>
            <a:endParaRPr lang="en-US" sz="1400" dirty="0"/>
          </a:p>
          <a:p>
            <a:pPr indent="0" marL="0">
              <a:buNone/>
            </a:pPr>
            <a:r>
              <a:rPr lang="en-US" sz="1400" dirty="0">
                <a:solidFill>
                  <a:srgbClr val="A3AED0"/>
                </a:solidFill>
                <a:latin typeface="Calibri" pitchFamily="34" charset="0"/>
                <a:ea typeface="Calibri" pitchFamily="34" charset="-122"/>
                <a:cs typeface="Calibri" pitchFamily="34" charset="-120"/>
              </a:rPr>
              <a:t>live (Supabase)</a:t>
            </a:r>
            <a:endParaRPr lang="en-US" sz="1400" dirty="0"/>
          </a:p>
          <a:p>
            <a:pPr indent="0" marL="0">
              <a:buNone/>
            </a:pPr>
            <a:r>
              <a:rPr lang="en-US" sz="800" dirty="0">
                <a:solidFill>
                  <a:srgbClr val="F1F5F9"/>
                </a:solidFill>
                <a:latin typeface="Calibri" pitchFamily="34" charset="0"/>
                <a:ea typeface="Calibri" pitchFamily="34" charset="-122"/>
                <a:cs typeface="Calibri" pitchFamily="34" charset="-120"/>
              </a:rPr>
              <a:t> </a:t>
            </a:r>
            <a:endParaRPr lang="en-US" sz="1400" dirty="0"/>
          </a:p>
          <a:p>
            <a:pPr indent="0" marL="0">
              <a:buNone/>
            </a:pPr>
            <a:r>
              <a:rPr lang="en-US" sz="1400" b="1" dirty="0">
                <a:solidFill>
                  <a:srgbClr val="F1F5F9"/>
                </a:solidFill>
                <a:latin typeface="Calibri" pitchFamily="34" charset="0"/>
                <a:ea typeface="Calibri" pitchFamily="34" charset="-122"/>
                <a:cs typeface="Calibri" pitchFamily="34" charset="-120"/>
              </a:rPr>
              <a:t>MySQL</a:t>
            </a:r>
            <a:endParaRPr lang="en-US" sz="1400" dirty="0"/>
          </a:p>
          <a:p>
            <a:pPr indent="0" marL="0">
              <a:buNone/>
            </a:pPr>
            <a:r>
              <a:rPr lang="en-US" sz="1400" dirty="0">
                <a:solidFill>
                  <a:srgbClr val="A3AED0"/>
                </a:solidFill>
                <a:latin typeface="Calibri" pitchFamily="34" charset="0"/>
                <a:ea typeface="Calibri" pitchFamily="34" charset="-122"/>
                <a:cs typeface="Calibri" pitchFamily="34" charset="-120"/>
              </a:rPr>
              <a:t>supported</a:t>
            </a:r>
            <a:endParaRPr lang="en-US" sz="1400" dirty="0"/>
          </a:p>
        </p:txBody>
      </p:sp>
      <p:sp>
        <p:nvSpPr>
          <p:cNvPr id="26" name="Shape 24"/>
          <p:cNvSpPr/>
          <p:nvPr/>
        </p:nvSpPr>
        <p:spPr>
          <a:xfrm>
            <a:off x="3611880" y="2377440"/>
            <a:ext cx="914400" cy="0"/>
          </a:xfrm>
          <a:prstGeom prst="line">
            <a:avLst/>
          </a:prstGeom>
          <a:noFill/>
          <a:ln w="25400">
            <a:solidFill>
              <a:srgbClr val="F472B6"/>
            </a:solidFill>
            <a:prstDash val="solid"/>
            <a:tailEnd type="triangle"/>
          </a:ln>
        </p:spPr>
      </p:sp>
      <p:sp>
        <p:nvSpPr>
          <p:cNvPr id="27" name="Text 25"/>
          <p:cNvSpPr txBox="1"/>
          <p:nvPr/>
        </p:nvSpPr>
        <p:spPr>
          <a:xfrm>
            <a:off x="3520440" y="2011680"/>
            <a:ext cx="1097280" cy="274320"/>
          </a:xfrm>
          <a:prstGeom prst="rect">
            <a:avLst/>
          </a:prstGeom>
          <a:noFill/>
          <a:ln/>
        </p:spPr>
        <p:txBody>
          <a:bodyPr wrap="square" lIns="0" tIns="0" rIns="0" bIns="0" rtlCol="0" anchor="t"/>
          <a:lstStyle/>
          <a:p>
            <a:pPr algn="ctr" indent="0" marL="0">
              <a:buNone/>
            </a:pPr>
            <a:r>
              <a:rPr lang="en-US" sz="1200" dirty="0">
                <a:solidFill>
                  <a:srgbClr val="F472B6"/>
                </a:solidFill>
                <a:latin typeface="Calibri" pitchFamily="34" charset="0"/>
                <a:ea typeface="Calibri" pitchFamily="34" charset="-122"/>
                <a:cs typeface="Calibri" pitchFamily="34" charset="-120"/>
              </a:rPr>
              <a:t>GET / POST</a:t>
            </a:r>
            <a:endParaRPr lang="en-US" sz="1200" dirty="0"/>
          </a:p>
        </p:txBody>
      </p:sp>
      <p:sp>
        <p:nvSpPr>
          <p:cNvPr id="28" name="Shape 26"/>
          <p:cNvSpPr/>
          <p:nvPr/>
        </p:nvSpPr>
        <p:spPr>
          <a:xfrm flipH="1">
            <a:off x="3611880" y="3566160"/>
            <a:ext cx="914400" cy="0"/>
          </a:xfrm>
          <a:prstGeom prst="line">
            <a:avLst/>
          </a:prstGeom>
          <a:noFill/>
          <a:ln w="25400">
            <a:solidFill>
              <a:srgbClr val="A5B4FC"/>
            </a:solidFill>
            <a:prstDash val="solid"/>
            <a:tailEnd type="triangle"/>
          </a:ln>
        </p:spPr>
      </p:sp>
      <p:sp>
        <p:nvSpPr>
          <p:cNvPr id="29" name="Text 27"/>
          <p:cNvSpPr txBox="1"/>
          <p:nvPr/>
        </p:nvSpPr>
        <p:spPr>
          <a:xfrm>
            <a:off x="3520440" y="3611880"/>
            <a:ext cx="1097280" cy="274320"/>
          </a:xfrm>
          <a:prstGeom prst="rect">
            <a:avLst/>
          </a:prstGeom>
          <a:noFill/>
          <a:ln/>
        </p:spPr>
        <p:txBody>
          <a:bodyPr wrap="square" lIns="0" tIns="0" rIns="0" bIns="0" rtlCol="0" anchor="t"/>
          <a:lstStyle/>
          <a:p>
            <a:pPr algn="ctr" indent="0" marL="0">
              <a:buNone/>
            </a:pPr>
            <a:r>
              <a:rPr lang="en-US" sz="1200" dirty="0">
                <a:solidFill>
                  <a:srgbClr val="A5B4FC"/>
                </a:solidFill>
                <a:latin typeface="Calibri" pitchFamily="34" charset="0"/>
                <a:ea typeface="Calibri" pitchFamily="34" charset="-122"/>
                <a:cs typeface="Calibri" pitchFamily="34" charset="-120"/>
              </a:rPr>
              <a:t>HTML + JSON</a:t>
            </a:r>
            <a:endParaRPr lang="en-US" sz="1200" dirty="0"/>
          </a:p>
        </p:txBody>
      </p:sp>
      <p:sp>
        <p:nvSpPr>
          <p:cNvPr id="30" name="Shape 28"/>
          <p:cNvSpPr/>
          <p:nvPr/>
        </p:nvSpPr>
        <p:spPr>
          <a:xfrm>
            <a:off x="8503920" y="2834640"/>
            <a:ext cx="960120" cy="0"/>
          </a:xfrm>
          <a:prstGeom prst="line">
            <a:avLst/>
          </a:prstGeom>
          <a:noFill/>
          <a:ln w="25400">
            <a:solidFill>
              <a:srgbClr val="F97316"/>
            </a:solidFill>
            <a:prstDash val="solid"/>
            <a:tailEnd type="triangle"/>
          </a:ln>
        </p:spPr>
      </p:sp>
      <p:sp>
        <p:nvSpPr>
          <p:cNvPr id="31" name="Text 29"/>
          <p:cNvSpPr txBox="1"/>
          <p:nvPr/>
        </p:nvSpPr>
        <p:spPr>
          <a:xfrm>
            <a:off x="8503920" y="2468880"/>
            <a:ext cx="960120" cy="274320"/>
          </a:xfrm>
          <a:prstGeom prst="rect">
            <a:avLst/>
          </a:prstGeom>
          <a:noFill/>
          <a:ln/>
        </p:spPr>
        <p:txBody>
          <a:bodyPr wrap="square" lIns="0" tIns="0" rIns="0" bIns="0" rtlCol="0" anchor="t"/>
          <a:lstStyle/>
          <a:p>
            <a:pPr algn="ctr" indent="0" marL="0">
              <a:buNone/>
            </a:pPr>
            <a:r>
              <a:rPr lang="en-US" sz="1200" dirty="0">
                <a:solidFill>
                  <a:srgbClr val="F97316"/>
                </a:solidFill>
                <a:latin typeface="Calibri" pitchFamily="34" charset="0"/>
                <a:ea typeface="Calibri" pitchFamily="34" charset="-122"/>
                <a:cs typeface="Calibri" pitchFamily="34" charset="-120"/>
              </a:rPr>
              <a:t>ORM</a:t>
            </a:r>
            <a:endParaRPr lang="en-US" sz="1200" dirty="0"/>
          </a:p>
        </p:txBody>
      </p:sp>
      <p:sp>
        <p:nvSpPr>
          <p:cNvPr id="32" name="Text 30"/>
          <p:cNvSpPr txBox="1"/>
          <p:nvPr/>
        </p:nvSpPr>
        <p:spPr>
          <a:xfrm>
            <a:off x="640080" y="5074920"/>
            <a:ext cx="4572000" cy="365760"/>
          </a:xfrm>
          <a:prstGeom prst="rect">
            <a:avLst/>
          </a:prstGeom>
          <a:noFill/>
          <a:ln/>
        </p:spPr>
        <p:txBody>
          <a:bodyPr wrap="square" lIns="0" tIns="0" rIns="0" bIns="0" rtlCol="0" anchor="t"/>
          <a:lstStyle/>
          <a:p>
            <a:pPr indent="0" marL="0">
              <a:buNone/>
            </a:pPr>
            <a:r>
              <a:rPr lang="en-US" sz="1600" b="1" dirty="0">
                <a:solidFill>
                  <a:srgbClr val="A3AED0"/>
                </a:solidFill>
                <a:latin typeface="Calibri" pitchFamily="34" charset="0"/>
                <a:ea typeface="Calibri" pitchFamily="34" charset="-122"/>
                <a:cs typeface="Calibri" pitchFamily="34" charset="-120"/>
              </a:rPr>
              <a:t>From code to live site</a:t>
            </a:r>
            <a:endParaRPr lang="en-US" sz="1600" dirty="0"/>
          </a:p>
        </p:txBody>
      </p:sp>
      <p:sp>
        <p:nvSpPr>
          <p:cNvPr id="33" name="Shape 31"/>
          <p:cNvSpPr/>
          <p:nvPr/>
        </p:nvSpPr>
        <p:spPr>
          <a:xfrm>
            <a:off x="640080" y="5532120"/>
            <a:ext cx="2377440" cy="384048"/>
          </a:xfrm>
          <a:prstGeom prst="roundRect">
            <a:avLst>
              <a:gd name="adj" fmla="val 50000"/>
            </a:avLst>
          </a:prstGeom>
          <a:solidFill>
            <a:srgbClr val="1B1B38"/>
          </a:solidFill>
          <a:ln w="12700">
            <a:solidFill>
              <a:srgbClr val="34345E"/>
            </a:solidFill>
            <a:prstDash val="solid"/>
          </a:ln>
        </p:spPr>
      </p:sp>
      <p:sp>
        <p:nvSpPr>
          <p:cNvPr id="34" name="Text 32"/>
          <p:cNvSpPr txBox="1"/>
          <p:nvPr/>
        </p:nvSpPr>
        <p:spPr>
          <a:xfrm>
            <a:off x="640080" y="5532120"/>
            <a:ext cx="2377440" cy="384048"/>
          </a:xfrm>
          <a:prstGeom prst="rect">
            <a:avLst/>
          </a:prstGeom>
          <a:noFill/>
          <a:ln/>
        </p:spPr>
        <p:txBody>
          <a:bodyPr wrap="square" lIns="0" tIns="0" rIns="0" bIns="0" rtlCol="0" anchor="ctr"/>
          <a:lstStyle/>
          <a:p>
            <a:pPr algn="ctr" indent="0" marL="0">
              <a:buNone/>
            </a:pPr>
            <a:r>
              <a:rPr lang="en-US" sz="1400" b="1" dirty="0">
                <a:solidFill>
                  <a:srgbClr val="A5B4FC"/>
                </a:solidFill>
                <a:latin typeface="Calibri" pitchFamily="34" charset="0"/>
                <a:ea typeface="Calibri" pitchFamily="34" charset="-122"/>
                <a:cs typeface="Calibri" pitchFamily="34" charset="-120"/>
              </a:rPr>
              <a:t>git push to GitHub</a:t>
            </a:r>
            <a:endParaRPr lang="en-US" sz="1400" dirty="0"/>
          </a:p>
        </p:txBody>
      </p:sp>
      <p:sp>
        <p:nvSpPr>
          <p:cNvPr id="35" name="Shape 33"/>
          <p:cNvSpPr/>
          <p:nvPr/>
        </p:nvSpPr>
        <p:spPr>
          <a:xfrm>
            <a:off x="3054096" y="5641848"/>
            <a:ext cx="155448" cy="164592"/>
          </a:xfrm>
          <a:prstGeom prst="rightArrow">
            <a:avLst/>
          </a:prstGeom>
          <a:solidFill>
            <a:srgbClr val="A3AED0"/>
          </a:solidFill>
          <a:ln w="12700">
            <a:solidFill>
              <a:srgbClr val="A3AED0"/>
            </a:solidFill>
            <a:prstDash val="solid"/>
          </a:ln>
        </p:spPr>
      </p:sp>
      <p:sp>
        <p:nvSpPr>
          <p:cNvPr id="36" name="Shape 34"/>
          <p:cNvSpPr/>
          <p:nvPr/>
        </p:nvSpPr>
        <p:spPr>
          <a:xfrm>
            <a:off x="3246120" y="5532120"/>
            <a:ext cx="2834640" cy="384048"/>
          </a:xfrm>
          <a:prstGeom prst="roundRect">
            <a:avLst>
              <a:gd name="adj" fmla="val 50000"/>
            </a:avLst>
          </a:prstGeom>
          <a:solidFill>
            <a:srgbClr val="1B1B38"/>
          </a:solidFill>
          <a:ln w="12700">
            <a:solidFill>
              <a:srgbClr val="34345E"/>
            </a:solidFill>
            <a:prstDash val="solid"/>
          </a:ln>
        </p:spPr>
      </p:sp>
      <p:sp>
        <p:nvSpPr>
          <p:cNvPr id="37" name="Text 35"/>
          <p:cNvSpPr txBox="1"/>
          <p:nvPr/>
        </p:nvSpPr>
        <p:spPr>
          <a:xfrm>
            <a:off x="3246120" y="5532120"/>
            <a:ext cx="2834640" cy="384048"/>
          </a:xfrm>
          <a:prstGeom prst="rect">
            <a:avLst/>
          </a:prstGeom>
          <a:noFill/>
          <a:ln/>
        </p:spPr>
        <p:txBody>
          <a:bodyPr wrap="square" lIns="0" tIns="0" rIns="0" bIns="0" rtlCol="0" anchor="ctr"/>
          <a:lstStyle/>
          <a:p>
            <a:pPr algn="ctr" indent="0" marL="0">
              <a:buNone/>
            </a:pPr>
            <a:r>
              <a:rPr lang="en-US" sz="1400" b="1" dirty="0">
                <a:solidFill>
                  <a:srgbClr val="A5B4FC"/>
                </a:solidFill>
                <a:latin typeface="Calibri" pitchFamily="34" charset="0"/>
                <a:ea typeface="Calibri" pitchFamily="34" charset="-122"/>
                <a:cs typeface="Calibri" pitchFamily="34" charset="-120"/>
              </a:rPr>
              <a:t>Vercel builds and deploys</a:t>
            </a:r>
            <a:endParaRPr lang="en-US" sz="1400" dirty="0"/>
          </a:p>
        </p:txBody>
      </p:sp>
      <p:sp>
        <p:nvSpPr>
          <p:cNvPr id="38" name="Shape 36"/>
          <p:cNvSpPr/>
          <p:nvPr/>
        </p:nvSpPr>
        <p:spPr>
          <a:xfrm>
            <a:off x="6117336" y="5641848"/>
            <a:ext cx="155448" cy="164592"/>
          </a:xfrm>
          <a:prstGeom prst="rightArrow">
            <a:avLst/>
          </a:prstGeom>
          <a:solidFill>
            <a:srgbClr val="A3AED0"/>
          </a:solidFill>
          <a:ln w="12700">
            <a:solidFill>
              <a:srgbClr val="A3AED0"/>
            </a:solidFill>
            <a:prstDash val="solid"/>
          </a:ln>
        </p:spPr>
      </p:sp>
      <p:sp>
        <p:nvSpPr>
          <p:cNvPr id="39" name="Shape 37"/>
          <p:cNvSpPr/>
          <p:nvPr/>
        </p:nvSpPr>
        <p:spPr>
          <a:xfrm>
            <a:off x="6309360" y="5532120"/>
            <a:ext cx="2011680" cy="384048"/>
          </a:xfrm>
          <a:prstGeom prst="roundRect">
            <a:avLst>
              <a:gd name="adj" fmla="val 50000"/>
            </a:avLst>
          </a:prstGeom>
          <a:solidFill>
            <a:srgbClr val="1B1B38"/>
          </a:solidFill>
          <a:ln w="12700">
            <a:solidFill>
              <a:srgbClr val="34345E"/>
            </a:solidFill>
            <a:prstDash val="solid"/>
          </a:ln>
        </p:spPr>
      </p:sp>
      <p:sp>
        <p:nvSpPr>
          <p:cNvPr id="40" name="Text 38"/>
          <p:cNvSpPr txBox="1"/>
          <p:nvPr/>
        </p:nvSpPr>
        <p:spPr>
          <a:xfrm>
            <a:off x="6309360" y="5532120"/>
            <a:ext cx="2011680" cy="384048"/>
          </a:xfrm>
          <a:prstGeom prst="rect">
            <a:avLst/>
          </a:prstGeom>
          <a:noFill/>
          <a:ln/>
        </p:spPr>
        <p:txBody>
          <a:bodyPr wrap="square" lIns="0" tIns="0" rIns="0" bIns="0" rtlCol="0" anchor="ctr"/>
          <a:lstStyle/>
          <a:p>
            <a:pPr algn="ctr" indent="0" marL="0">
              <a:buNone/>
            </a:pPr>
            <a:r>
              <a:rPr lang="en-US" sz="1400" b="1" dirty="0">
                <a:solidFill>
                  <a:srgbClr val="A5B4FC"/>
                </a:solidFill>
                <a:latin typeface="Calibri" pitchFamily="34" charset="0"/>
                <a:ea typeface="Calibri" pitchFamily="34" charset="-122"/>
                <a:cs typeface="Calibri" pitchFamily="34" charset="-120"/>
              </a:rPr>
              <a:t>Migrations run</a:t>
            </a:r>
            <a:endParaRPr lang="en-US" sz="1400" dirty="0"/>
          </a:p>
        </p:txBody>
      </p:sp>
      <p:sp>
        <p:nvSpPr>
          <p:cNvPr id="41" name="Shape 39"/>
          <p:cNvSpPr/>
          <p:nvPr/>
        </p:nvSpPr>
        <p:spPr>
          <a:xfrm>
            <a:off x="8357616" y="5641848"/>
            <a:ext cx="155448" cy="164592"/>
          </a:xfrm>
          <a:prstGeom prst="rightArrow">
            <a:avLst/>
          </a:prstGeom>
          <a:solidFill>
            <a:srgbClr val="A3AED0"/>
          </a:solidFill>
          <a:ln w="12700">
            <a:solidFill>
              <a:srgbClr val="A3AED0"/>
            </a:solidFill>
            <a:prstDash val="solid"/>
          </a:ln>
        </p:spPr>
      </p:sp>
      <p:sp>
        <p:nvSpPr>
          <p:cNvPr id="42" name="Shape 40"/>
          <p:cNvSpPr/>
          <p:nvPr/>
        </p:nvSpPr>
        <p:spPr>
          <a:xfrm>
            <a:off x="8549640" y="5532120"/>
            <a:ext cx="2697480" cy="384048"/>
          </a:xfrm>
          <a:prstGeom prst="roundRect">
            <a:avLst>
              <a:gd name="adj" fmla="val 50000"/>
            </a:avLst>
          </a:prstGeom>
          <a:solidFill>
            <a:srgbClr val="1B1B38"/>
          </a:solidFill>
          <a:ln w="12700">
            <a:solidFill>
              <a:srgbClr val="34345E"/>
            </a:solidFill>
            <a:prstDash val="solid"/>
          </a:ln>
        </p:spPr>
      </p:sp>
      <p:sp>
        <p:nvSpPr>
          <p:cNvPr id="43" name="Text 41"/>
          <p:cNvSpPr txBox="1"/>
          <p:nvPr/>
        </p:nvSpPr>
        <p:spPr>
          <a:xfrm>
            <a:off x="8549640" y="5532120"/>
            <a:ext cx="2697480" cy="384048"/>
          </a:xfrm>
          <a:prstGeom prst="rect">
            <a:avLst/>
          </a:prstGeom>
          <a:noFill/>
          <a:ln/>
        </p:spPr>
        <p:txBody>
          <a:bodyPr wrap="square" lIns="0" tIns="0" rIns="0" bIns="0" rtlCol="0" anchor="ctr"/>
          <a:lstStyle/>
          <a:p>
            <a:pPr algn="ctr" indent="0" marL="0">
              <a:buNone/>
            </a:pPr>
            <a:r>
              <a:rPr lang="en-US" sz="1400" b="1" dirty="0">
                <a:solidFill>
                  <a:srgbClr val="4ADE80"/>
                </a:solidFill>
                <a:latin typeface="Calibri" pitchFamily="34" charset="0"/>
                <a:ea typeface="Calibri" pitchFamily="34" charset="-122"/>
                <a:cs typeface="Calibri" pitchFamily="34" charset="-120"/>
              </a:rPr>
              <a:t>Live at the Vercel address</a:t>
            </a:r>
            <a:endParaRPr lang="en-US" sz="1400" dirty="0"/>
          </a:p>
        </p:txBody>
      </p:sp>
      <p:sp>
        <p:nvSpPr>
          <p:cNvPr id="25" name="Slide Number Placeholder 0"/>
          <p:cNvSpPr>
            <a:spLocks noGrp="1"/>
          </p:cNvSpPr>
          <p:nvPr>
            <p:ph type="sldNum" sz="quarter" idx="4294967295"/>
          </p:nvPr>
        </p:nvSpPr>
        <p:spPr>
          <a:xfrm>
            <a:off x="11064240" y="640080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3AED0"/>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640080" y="457200"/>
            <a:ext cx="10908792" cy="777240"/>
          </a:xfrm>
          <a:prstGeom prst="rect">
            <a:avLst/>
          </a:prstGeom>
          <a:noFill/>
          <a:ln/>
        </p:spPr>
        <p:txBody>
          <a:bodyPr wrap="square" lIns="0" tIns="0" rIns="0" bIns="0" rtlCol="0" anchor="ctr"/>
          <a:lstStyle/>
          <a:p>
            <a:pPr algn="l" indent="0" marL="0">
              <a:buNone/>
            </a:pPr>
            <a:r>
              <a:rPr lang="en-US" sz="2600" dirty="0">
                <a:solidFill>
                  <a:srgbClr val="F1F5F9"/>
                </a:solidFill>
                <a:latin typeface="Arial Black" pitchFamily="34" charset="0"/>
                <a:ea typeface="Arial Black" pitchFamily="34" charset="-122"/>
                <a:cs typeface="Arial Black" pitchFamily="34" charset="-120"/>
              </a:rPr>
              <a:t>Five tables, one clear model</a:t>
            </a:r>
            <a:endParaRPr lang="en-US" sz="2600" dirty="0"/>
          </a:p>
        </p:txBody>
      </p:sp>
      <p:sp>
        <p:nvSpPr>
          <p:cNvPr id="3" name="Shape 1"/>
          <p:cNvSpPr/>
          <p:nvPr/>
        </p:nvSpPr>
        <p:spPr>
          <a:xfrm>
            <a:off x="640080" y="1554480"/>
            <a:ext cx="3154680" cy="2011680"/>
          </a:xfrm>
          <a:prstGeom prst="roundRect">
            <a:avLst>
              <a:gd name="adj" fmla="val 6364"/>
            </a:avLst>
          </a:prstGeom>
          <a:solidFill>
            <a:srgbClr val="14142B"/>
          </a:solidFill>
          <a:ln w="9525">
            <a:solidFill>
              <a:srgbClr val="34345E"/>
            </a:solidFill>
            <a:prstDash val="solid"/>
          </a:ln>
        </p:spPr>
      </p:sp>
      <p:sp>
        <p:nvSpPr>
          <p:cNvPr id="4" name="Shape 2"/>
          <p:cNvSpPr/>
          <p:nvPr/>
        </p:nvSpPr>
        <p:spPr>
          <a:xfrm>
            <a:off x="777240" y="1691640"/>
            <a:ext cx="2880360" cy="457200"/>
          </a:xfrm>
          <a:prstGeom prst="roundRect">
            <a:avLst>
              <a:gd name="adj" fmla="val 20000"/>
            </a:avLst>
          </a:prstGeom>
          <a:solidFill>
            <a:srgbClr val="A5B4FC">
              <a:alpha val="22000"/>
            </a:srgbClr>
          </a:solidFill>
          <a:ln w="12700">
            <a:solidFill>
              <a:srgbClr val="A5B4FC"/>
            </a:solidFill>
            <a:prstDash val="solid"/>
          </a:ln>
        </p:spPr>
      </p:sp>
      <p:sp>
        <p:nvSpPr>
          <p:cNvPr id="5" name="Text 3"/>
          <p:cNvSpPr txBox="1"/>
          <p:nvPr/>
        </p:nvSpPr>
        <p:spPr>
          <a:xfrm>
            <a:off x="777240" y="1691640"/>
            <a:ext cx="2880360" cy="457200"/>
          </a:xfrm>
          <a:prstGeom prst="rect">
            <a:avLst/>
          </a:prstGeom>
          <a:noFill/>
          <a:ln/>
        </p:spPr>
        <p:txBody>
          <a:bodyPr wrap="square" lIns="0" tIns="0" rIns="0" bIns="0" rtlCol="0" anchor="ctr"/>
          <a:lstStyle/>
          <a:p>
            <a:pPr algn="ctr" indent="0" marL="0">
              <a:buNone/>
            </a:pPr>
            <a:r>
              <a:rPr lang="en-US" sz="1700" b="1" dirty="0">
                <a:solidFill>
                  <a:srgbClr val="A5B4FC"/>
                </a:solidFill>
                <a:latin typeface="Calibri" pitchFamily="34" charset="0"/>
                <a:ea typeface="Calibri" pitchFamily="34" charset="-122"/>
                <a:cs typeface="Calibri" pitchFamily="34" charset="-120"/>
              </a:rPr>
              <a:t>Category</a:t>
            </a:r>
            <a:endParaRPr lang="en-US" sz="1700" dirty="0"/>
          </a:p>
        </p:txBody>
      </p:sp>
      <p:sp>
        <p:nvSpPr>
          <p:cNvPr id="6" name="Text 4"/>
          <p:cNvSpPr txBox="1"/>
          <p:nvPr/>
        </p:nvSpPr>
        <p:spPr>
          <a:xfrm>
            <a:off x="960120" y="2286000"/>
            <a:ext cx="2606040" cy="1188720"/>
          </a:xfrm>
          <a:prstGeom prst="rect">
            <a:avLst/>
          </a:prstGeom>
          <a:noFill/>
          <a:ln/>
        </p:spPr>
        <p:txBody>
          <a:bodyPr wrap="square" lIns="0" tIns="0" rIns="0" bIns="0" rtlCol="0" anchor="t"/>
          <a:lstStyle/>
          <a:p>
            <a:pPr indent="0" marL="0">
              <a:buNone/>
            </a:pPr>
            <a:r>
              <a:rPr lang="en-US" sz="1400" dirty="0">
                <a:solidFill>
                  <a:srgbClr val="A3AED0"/>
                </a:solidFill>
                <a:latin typeface="Calibri" pitchFamily="34" charset="0"/>
                <a:ea typeface="Calibri" pitchFamily="34" charset="-122"/>
                <a:cs typeface="Calibri" pitchFamily="34" charset="-120"/>
              </a:rPr>
              <a:t>name</a:t>
            </a:r>
            <a:endParaRPr lang="en-US" sz="1400" dirty="0"/>
          </a:p>
        </p:txBody>
      </p:sp>
      <p:sp>
        <p:nvSpPr>
          <p:cNvPr id="7" name="Shape 5"/>
          <p:cNvSpPr/>
          <p:nvPr/>
        </p:nvSpPr>
        <p:spPr>
          <a:xfrm>
            <a:off x="4526280" y="1554480"/>
            <a:ext cx="3154680" cy="2011680"/>
          </a:xfrm>
          <a:prstGeom prst="roundRect">
            <a:avLst>
              <a:gd name="adj" fmla="val 6364"/>
            </a:avLst>
          </a:prstGeom>
          <a:solidFill>
            <a:srgbClr val="14142B"/>
          </a:solidFill>
          <a:ln w="9525">
            <a:solidFill>
              <a:srgbClr val="34345E"/>
            </a:solidFill>
            <a:prstDash val="solid"/>
          </a:ln>
        </p:spPr>
      </p:sp>
      <p:sp>
        <p:nvSpPr>
          <p:cNvPr id="8" name="Shape 6"/>
          <p:cNvSpPr/>
          <p:nvPr/>
        </p:nvSpPr>
        <p:spPr>
          <a:xfrm>
            <a:off x="4663440" y="1691640"/>
            <a:ext cx="2880360" cy="457200"/>
          </a:xfrm>
          <a:prstGeom prst="roundRect">
            <a:avLst>
              <a:gd name="adj" fmla="val 20000"/>
            </a:avLst>
          </a:prstGeom>
          <a:solidFill>
            <a:srgbClr val="F472B6">
              <a:alpha val="22000"/>
            </a:srgbClr>
          </a:solidFill>
          <a:ln w="12700">
            <a:solidFill>
              <a:srgbClr val="F472B6"/>
            </a:solidFill>
            <a:prstDash val="solid"/>
          </a:ln>
        </p:spPr>
      </p:sp>
      <p:sp>
        <p:nvSpPr>
          <p:cNvPr id="9" name="Text 7"/>
          <p:cNvSpPr txBox="1"/>
          <p:nvPr/>
        </p:nvSpPr>
        <p:spPr>
          <a:xfrm>
            <a:off x="4663440" y="1691640"/>
            <a:ext cx="2880360" cy="457200"/>
          </a:xfrm>
          <a:prstGeom prst="rect">
            <a:avLst/>
          </a:prstGeom>
          <a:noFill/>
          <a:ln/>
        </p:spPr>
        <p:txBody>
          <a:bodyPr wrap="square" lIns="0" tIns="0" rIns="0" bIns="0" rtlCol="0" anchor="ctr"/>
          <a:lstStyle/>
          <a:p>
            <a:pPr algn="ctr" indent="0" marL="0">
              <a:buNone/>
            </a:pPr>
            <a:r>
              <a:rPr lang="en-US" sz="1700" b="1" dirty="0">
                <a:solidFill>
                  <a:srgbClr val="F472B6"/>
                </a:solidFill>
                <a:latin typeface="Calibri" pitchFamily="34" charset="0"/>
                <a:ea typeface="Calibri" pitchFamily="34" charset="-122"/>
                <a:cs typeface="Calibri" pitchFamily="34" charset="-120"/>
              </a:rPr>
              <a:t>Event</a:t>
            </a:r>
            <a:endParaRPr lang="en-US" sz="1700" dirty="0"/>
          </a:p>
        </p:txBody>
      </p:sp>
      <p:sp>
        <p:nvSpPr>
          <p:cNvPr id="10" name="Text 8"/>
          <p:cNvSpPr txBox="1"/>
          <p:nvPr/>
        </p:nvSpPr>
        <p:spPr>
          <a:xfrm>
            <a:off x="4846320" y="2286000"/>
            <a:ext cx="2606040" cy="1188720"/>
          </a:xfrm>
          <a:prstGeom prst="rect">
            <a:avLst/>
          </a:prstGeom>
          <a:noFill/>
          <a:ln/>
        </p:spPr>
        <p:txBody>
          <a:bodyPr wrap="square" lIns="0" tIns="0" rIns="0" bIns="0" rtlCol="0" anchor="t"/>
          <a:lstStyle/>
          <a:p>
            <a:pPr indent="0" marL="0">
              <a:buNone/>
            </a:pPr>
            <a:r>
              <a:rPr lang="en-US" sz="1400" dirty="0">
                <a:solidFill>
                  <a:srgbClr val="A3AED0"/>
                </a:solidFill>
                <a:latin typeface="Calibri" pitchFamily="34" charset="0"/>
                <a:ea typeface="Calibri" pitchFamily="34" charset="-122"/>
                <a:cs typeface="Calibri" pitchFamily="34" charset="-120"/>
              </a:rPr>
              <a:t>title, description</a:t>
            </a:r>
            <a:endParaRPr lang="en-US" sz="1400" dirty="0"/>
          </a:p>
          <a:p>
            <a:pPr indent="0" marL="0">
              <a:buNone/>
            </a:pPr>
            <a:r>
              <a:rPr lang="en-US" sz="1400" dirty="0">
                <a:solidFill>
                  <a:srgbClr val="A3AED0"/>
                </a:solidFill>
                <a:latin typeface="Calibri" pitchFamily="34" charset="0"/>
                <a:ea typeface="Calibri" pitchFamily="34" charset="-122"/>
                <a:cs typeface="Calibri" pitchFamily="34" charset="-120"/>
              </a:rPr>
              <a:t>venue, start time</a:t>
            </a:r>
            <a:endParaRPr lang="en-US" sz="1400" dirty="0"/>
          </a:p>
          <a:p>
            <a:pPr indent="0" marL="0">
              <a:buNone/>
            </a:pPr>
            <a:r>
              <a:rPr lang="en-US" sz="1400" dirty="0">
                <a:solidFill>
                  <a:srgbClr val="A3AED0"/>
                </a:solidFill>
                <a:latin typeface="Calibri" pitchFamily="34" charset="0"/>
                <a:ea typeface="Calibri" pitchFamily="34" charset="-122"/>
                <a:cs typeface="Calibri" pitchFamily="34" charset="-120"/>
              </a:rPr>
              <a:t>capacity</a:t>
            </a:r>
            <a:endParaRPr lang="en-US" sz="1400" dirty="0"/>
          </a:p>
          <a:p>
            <a:pPr indent="0" marL="0">
              <a:buNone/>
            </a:pPr>
            <a:r>
              <a:rPr lang="en-US" sz="1400" dirty="0">
                <a:solidFill>
                  <a:srgbClr val="A3AED0"/>
                </a:solidFill>
                <a:latin typeface="Calibri" pitchFamily="34" charset="0"/>
                <a:ea typeface="Calibri" pitchFamily="34" charset="-122"/>
                <a:cs typeface="Calibri" pitchFamily="34" charset="-120"/>
              </a:rPr>
              <a:t>category, organiser</a:t>
            </a:r>
            <a:endParaRPr lang="en-US" sz="1400" dirty="0"/>
          </a:p>
        </p:txBody>
      </p:sp>
      <p:sp>
        <p:nvSpPr>
          <p:cNvPr id="11" name="Shape 9"/>
          <p:cNvSpPr/>
          <p:nvPr/>
        </p:nvSpPr>
        <p:spPr>
          <a:xfrm>
            <a:off x="8412480" y="1554480"/>
            <a:ext cx="3154680" cy="2011680"/>
          </a:xfrm>
          <a:prstGeom prst="roundRect">
            <a:avLst>
              <a:gd name="adj" fmla="val 6364"/>
            </a:avLst>
          </a:prstGeom>
          <a:solidFill>
            <a:srgbClr val="14142B"/>
          </a:solidFill>
          <a:ln w="9525">
            <a:solidFill>
              <a:srgbClr val="34345E"/>
            </a:solidFill>
            <a:prstDash val="solid"/>
          </a:ln>
        </p:spPr>
      </p:sp>
      <p:sp>
        <p:nvSpPr>
          <p:cNvPr id="12" name="Shape 10"/>
          <p:cNvSpPr/>
          <p:nvPr/>
        </p:nvSpPr>
        <p:spPr>
          <a:xfrm>
            <a:off x="8549640" y="1691640"/>
            <a:ext cx="2880360" cy="457200"/>
          </a:xfrm>
          <a:prstGeom prst="roundRect">
            <a:avLst>
              <a:gd name="adj" fmla="val 20000"/>
            </a:avLst>
          </a:prstGeom>
          <a:solidFill>
            <a:srgbClr val="4ADE80">
              <a:alpha val="22000"/>
            </a:srgbClr>
          </a:solidFill>
          <a:ln w="12700">
            <a:solidFill>
              <a:srgbClr val="4ADE80"/>
            </a:solidFill>
            <a:prstDash val="solid"/>
          </a:ln>
        </p:spPr>
      </p:sp>
      <p:sp>
        <p:nvSpPr>
          <p:cNvPr id="13" name="Text 11"/>
          <p:cNvSpPr txBox="1"/>
          <p:nvPr/>
        </p:nvSpPr>
        <p:spPr>
          <a:xfrm>
            <a:off x="8549640" y="1691640"/>
            <a:ext cx="2880360" cy="457200"/>
          </a:xfrm>
          <a:prstGeom prst="rect">
            <a:avLst/>
          </a:prstGeom>
          <a:noFill/>
          <a:ln/>
        </p:spPr>
        <p:txBody>
          <a:bodyPr wrap="square" lIns="0" tIns="0" rIns="0" bIns="0" rtlCol="0" anchor="ctr"/>
          <a:lstStyle/>
          <a:p>
            <a:pPr algn="ctr" indent="0" marL="0">
              <a:buNone/>
            </a:pPr>
            <a:r>
              <a:rPr lang="en-US" sz="1700" b="1" dirty="0">
                <a:solidFill>
                  <a:srgbClr val="4ADE80"/>
                </a:solidFill>
                <a:latin typeface="Calibri" pitchFamily="34" charset="0"/>
                <a:ea typeface="Calibri" pitchFamily="34" charset="-122"/>
                <a:cs typeface="Calibri" pitchFamily="34" charset="-120"/>
              </a:rPr>
              <a:t>User (Django)</a:t>
            </a:r>
            <a:endParaRPr lang="en-US" sz="1700" dirty="0"/>
          </a:p>
        </p:txBody>
      </p:sp>
      <p:sp>
        <p:nvSpPr>
          <p:cNvPr id="14" name="Text 12"/>
          <p:cNvSpPr txBox="1"/>
          <p:nvPr/>
        </p:nvSpPr>
        <p:spPr>
          <a:xfrm>
            <a:off x="8732520" y="2286000"/>
            <a:ext cx="2606040" cy="1188720"/>
          </a:xfrm>
          <a:prstGeom prst="rect">
            <a:avLst/>
          </a:prstGeom>
          <a:noFill/>
          <a:ln/>
        </p:spPr>
        <p:txBody>
          <a:bodyPr wrap="square" lIns="0" tIns="0" rIns="0" bIns="0" rtlCol="0" anchor="t"/>
          <a:lstStyle/>
          <a:p>
            <a:pPr indent="0" marL="0">
              <a:buNone/>
            </a:pPr>
            <a:r>
              <a:rPr lang="en-US" sz="1400" dirty="0">
                <a:solidFill>
                  <a:srgbClr val="A3AED0"/>
                </a:solidFill>
                <a:latin typeface="Calibri" pitchFamily="34" charset="0"/>
                <a:ea typeface="Calibri" pitchFamily="34" charset="-122"/>
                <a:cs typeface="Calibri" pitchFamily="34" charset="-120"/>
              </a:rPr>
              <a:t>username, email</a:t>
            </a:r>
            <a:endParaRPr lang="en-US" sz="1400" dirty="0"/>
          </a:p>
          <a:p>
            <a:pPr indent="0" marL="0">
              <a:buNone/>
            </a:pPr>
            <a:r>
              <a:rPr lang="en-US" sz="1400" dirty="0">
                <a:solidFill>
                  <a:srgbClr val="A3AED0"/>
                </a:solidFill>
                <a:latin typeface="Calibri" pitchFamily="34" charset="0"/>
                <a:ea typeface="Calibri" pitchFamily="34" charset="-122"/>
                <a:cs typeface="Calibri" pitchFamily="34" charset="-120"/>
              </a:rPr>
              <a:t>password (hashed)</a:t>
            </a:r>
            <a:endParaRPr lang="en-US" sz="1400" dirty="0"/>
          </a:p>
        </p:txBody>
      </p:sp>
      <p:sp>
        <p:nvSpPr>
          <p:cNvPr id="15" name="Shape 13"/>
          <p:cNvSpPr/>
          <p:nvPr/>
        </p:nvSpPr>
        <p:spPr>
          <a:xfrm>
            <a:off x="640080" y="3977640"/>
            <a:ext cx="3154680" cy="2011680"/>
          </a:xfrm>
          <a:prstGeom prst="roundRect">
            <a:avLst>
              <a:gd name="adj" fmla="val 6364"/>
            </a:avLst>
          </a:prstGeom>
          <a:solidFill>
            <a:srgbClr val="14142B"/>
          </a:solidFill>
          <a:ln w="9525">
            <a:solidFill>
              <a:srgbClr val="34345E"/>
            </a:solidFill>
            <a:prstDash val="solid"/>
          </a:ln>
        </p:spPr>
      </p:sp>
      <p:sp>
        <p:nvSpPr>
          <p:cNvPr id="16" name="Shape 14"/>
          <p:cNvSpPr/>
          <p:nvPr/>
        </p:nvSpPr>
        <p:spPr>
          <a:xfrm>
            <a:off x="777240" y="4114800"/>
            <a:ext cx="2880360" cy="457200"/>
          </a:xfrm>
          <a:prstGeom prst="roundRect">
            <a:avLst>
              <a:gd name="adj" fmla="val 20000"/>
            </a:avLst>
          </a:prstGeom>
          <a:solidFill>
            <a:srgbClr val="F97316">
              <a:alpha val="22000"/>
            </a:srgbClr>
          </a:solidFill>
          <a:ln w="12700">
            <a:solidFill>
              <a:srgbClr val="F97316"/>
            </a:solidFill>
            <a:prstDash val="solid"/>
          </a:ln>
        </p:spPr>
      </p:sp>
      <p:sp>
        <p:nvSpPr>
          <p:cNvPr id="17" name="Text 15"/>
          <p:cNvSpPr txBox="1"/>
          <p:nvPr/>
        </p:nvSpPr>
        <p:spPr>
          <a:xfrm>
            <a:off x="777240" y="4114800"/>
            <a:ext cx="2880360" cy="457200"/>
          </a:xfrm>
          <a:prstGeom prst="rect">
            <a:avLst/>
          </a:prstGeom>
          <a:noFill/>
          <a:ln/>
        </p:spPr>
        <p:txBody>
          <a:bodyPr wrap="square" lIns="0" tIns="0" rIns="0" bIns="0" rtlCol="0" anchor="ctr"/>
          <a:lstStyle/>
          <a:p>
            <a:pPr algn="ctr" indent="0" marL="0">
              <a:buNone/>
            </a:pPr>
            <a:r>
              <a:rPr lang="en-US" sz="1700" b="1" dirty="0">
                <a:solidFill>
                  <a:srgbClr val="F97316"/>
                </a:solidFill>
                <a:latin typeface="Calibri" pitchFamily="34" charset="0"/>
                <a:ea typeface="Calibri" pitchFamily="34" charset="-122"/>
                <a:cs typeface="Calibri" pitchFamily="34" charset="-120"/>
              </a:rPr>
              <a:t>SavedEvent</a:t>
            </a:r>
            <a:endParaRPr lang="en-US" sz="1700" dirty="0"/>
          </a:p>
        </p:txBody>
      </p:sp>
      <p:sp>
        <p:nvSpPr>
          <p:cNvPr id="18" name="Text 16"/>
          <p:cNvSpPr txBox="1"/>
          <p:nvPr/>
        </p:nvSpPr>
        <p:spPr>
          <a:xfrm>
            <a:off x="960120" y="4709160"/>
            <a:ext cx="2606040" cy="1188720"/>
          </a:xfrm>
          <a:prstGeom prst="rect">
            <a:avLst/>
          </a:prstGeom>
          <a:noFill/>
          <a:ln/>
        </p:spPr>
        <p:txBody>
          <a:bodyPr wrap="square" lIns="0" tIns="0" rIns="0" bIns="0" rtlCol="0" anchor="t"/>
          <a:lstStyle/>
          <a:p>
            <a:pPr indent="0" marL="0">
              <a:buNone/>
            </a:pPr>
            <a:r>
              <a:rPr lang="en-US" sz="1400" dirty="0">
                <a:solidFill>
                  <a:srgbClr val="A3AED0"/>
                </a:solidFill>
                <a:latin typeface="Calibri" pitchFamily="34" charset="0"/>
                <a:ea typeface="Calibri" pitchFamily="34" charset="-122"/>
                <a:cs typeface="Calibri" pitchFamily="34" charset="-120"/>
              </a:rPr>
              <a:t>user, event</a:t>
            </a:r>
            <a:endParaRPr lang="en-US" sz="1400" dirty="0"/>
          </a:p>
          <a:p>
            <a:pPr indent="0" marL="0">
              <a:buNone/>
            </a:pPr>
            <a:r>
              <a:rPr lang="en-US" sz="1400" dirty="0">
                <a:solidFill>
                  <a:srgbClr val="A3AED0"/>
                </a:solidFill>
                <a:latin typeface="Calibri" pitchFamily="34" charset="0"/>
                <a:ea typeface="Calibri" pitchFamily="34" charset="-122"/>
                <a:cs typeface="Calibri" pitchFamily="34" charset="-120"/>
              </a:rPr>
              <a:t>one save per pair</a:t>
            </a:r>
            <a:endParaRPr lang="en-US" sz="1400" dirty="0"/>
          </a:p>
        </p:txBody>
      </p:sp>
      <p:sp>
        <p:nvSpPr>
          <p:cNvPr id="19" name="Shape 17"/>
          <p:cNvSpPr/>
          <p:nvPr/>
        </p:nvSpPr>
        <p:spPr>
          <a:xfrm>
            <a:off x="4526280" y="3977640"/>
            <a:ext cx="3154680" cy="2011680"/>
          </a:xfrm>
          <a:prstGeom prst="roundRect">
            <a:avLst>
              <a:gd name="adj" fmla="val 6364"/>
            </a:avLst>
          </a:prstGeom>
          <a:solidFill>
            <a:srgbClr val="14142B"/>
          </a:solidFill>
          <a:ln w="9525">
            <a:solidFill>
              <a:srgbClr val="34345E"/>
            </a:solidFill>
            <a:prstDash val="solid"/>
          </a:ln>
        </p:spPr>
      </p:sp>
      <p:sp>
        <p:nvSpPr>
          <p:cNvPr id="20" name="Shape 18"/>
          <p:cNvSpPr/>
          <p:nvPr/>
        </p:nvSpPr>
        <p:spPr>
          <a:xfrm>
            <a:off x="4663440" y="4114800"/>
            <a:ext cx="2880360" cy="457200"/>
          </a:xfrm>
          <a:prstGeom prst="roundRect">
            <a:avLst>
              <a:gd name="adj" fmla="val 20000"/>
            </a:avLst>
          </a:prstGeom>
          <a:solidFill>
            <a:srgbClr val="F472B6">
              <a:alpha val="22000"/>
            </a:srgbClr>
          </a:solidFill>
          <a:ln w="12700">
            <a:solidFill>
              <a:srgbClr val="F472B6"/>
            </a:solidFill>
            <a:prstDash val="solid"/>
          </a:ln>
        </p:spPr>
      </p:sp>
      <p:sp>
        <p:nvSpPr>
          <p:cNvPr id="21" name="Text 19"/>
          <p:cNvSpPr txBox="1"/>
          <p:nvPr/>
        </p:nvSpPr>
        <p:spPr>
          <a:xfrm>
            <a:off x="4663440" y="4114800"/>
            <a:ext cx="2880360" cy="457200"/>
          </a:xfrm>
          <a:prstGeom prst="rect">
            <a:avLst/>
          </a:prstGeom>
          <a:noFill/>
          <a:ln/>
        </p:spPr>
        <p:txBody>
          <a:bodyPr wrap="square" lIns="0" tIns="0" rIns="0" bIns="0" rtlCol="0" anchor="ctr"/>
          <a:lstStyle/>
          <a:p>
            <a:pPr algn="ctr" indent="0" marL="0">
              <a:buNone/>
            </a:pPr>
            <a:r>
              <a:rPr lang="en-US" sz="1700" b="1" dirty="0">
                <a:solidFill>
                  <a:srgbClr val="F472B6"/>
                </a:solidFill>
                <a:latin typeface="Calibri" pitchFamily="34" charset="0"/>
                <a:ea typeface="Calibri" pitchFamily="34" charset="-122"/>
                <a:cs typeface="Calibri" pitchFamily="34" charset="-120"/>
              </a:rPr>
              <a:t>Registration</a:t>
            </a:r>
            <a:endParaRPr lang="en-US" sz="1700" dirty="0"/>
          </a:p>
        </p:txBody>
      </p:sp>
      <p:sp>
        <p:nvSpPr>
          <p:cNvPr id="22" name="Text 20"/>
          <p:cNvSpPr txBox="1"/>
          <p:nvPr/>
        </p:nvSpPr>
        <p:spPr>
          <a:xfrm>
            <a:off x="4846320" y="4709160"/>
            <a:ext cx="2606040" cy="1188720"/>
          </a:xfrm>
          <a:prstGeom prst="rect">
            <a:avLst/>
          </a:prstGeom>
          <a:noFill/>
          <a:ln/>
        </p:spPr>
        <p:txBody>
          <a:bodyPr wrap="square" lIns="0" tIns="0" rIns="0" bIns="0" rtlCol="0" anchor="t"/>
          <a:lstStyle/>
          <a:p>
            <a:pPr indent="0" marL="0">
              <a:buNone/>
            </a:pPr>
            <a:r>
              <a:rPr lang="en-US" sz="1400" dirty="0">
                <a:solidFill>
                  <a:srgbClr val="A3AED0"/>
                </a:solidFill>
                <a:latin typeface="Calibri" pitchFamily="34" charset="0"/>
                <a:ea typeface="Calibri" pitchFamily="34" charset="-122"/>
                <a:cs typeface="Calibri" pitchFamily="34" charset="-120"/>
              </a:rPr>
              <a:t>event, user</a:t>
            </a:r>
            <a:endParaRPr lang="en-US" sz="1400" dirty="0"/>
          </a:p>
          <a:p>
            <a:pPr indent="0" marL="0">
              <a:buNone/>
            </a:pPr>
            <a:r>
              <a:rPr lang="en-US" sz="1400" dirty="0">
                <a:solidFill>
                  <a:srgbClr val="A3AED0"/>
                </a:solidFill>
                <a:latin typeface="Calibri" pitchFamily="34" charset="0"/>
                <a:ea typeface="Calibri" pitchFamily="34" charset="-122"/>
                <a:cs typeface="Calibri" pitchFamily="34" charset="-120"/>
              </a:rPr>
              <a:t>status: confirmed or waitlisted</a:t>
            </a:r>
            <a:endParaRPr lang="en-US" sz="1400" dirty="0"/>
          </a:p>
          <a:p>
            <a:pPr indent="0" marL="0">
              <a:buNone/>
            </a:pPr>
            <a:r>
              <a:rPr lang="en-US" sz="1400" dirty="0">
                <a:solidFill>
                  <a:srgbClr val="A3AED0"/>
                </a:solidFill>
                <a:latin typeface="Calibri" pitchFamily="34" charset="0"/>
                <a:ea typeface="Calibri" pitchFamily="34" charset="-122"/>
                <a:cs typeface="Calibri" pitchFamily="34" charset="-120"/>
              </a:rPr>
              <a:t>checked_in</a:t>
            </a:r>
            <a:endParaRPr lang="en-US" sz="1400" dirty="0"/>
          </a:p>
          <a:p>
            <a:pPr indent="0" marL="0">
              <a:buNone/>
            </a:pPr>
            <a:r>
              <a:rPr lang="en-US" sz="1400" dirty="0">
                <a:solidFill>
                  <a:srgbClr val="A3AED0"/>
                </a:solidFill>
                <a:latin typeface="Calibri" pitchFamily="34" charset="0"/>
                <a:ea typeface="Calibri" pitchFamily="34" charset="-122"/>
                <a:cs typeface="Calibri" pitchFamily="34" charset="-120"/>
              </a:rPr>
              <a:t>one seat per pair</a:t>
            </a:r>
            <a:endParaRPr lang="en-US" sz="1400" dirty="0"/>
          </a:p>
        </p:txBody>
      </p:sp>
      <p:sp>
        <p:nvSpPr>
          <p:cNvPr id="23" name="Shape 21"/>
          <p:cNvSpPr/>
          <p:nvPr/>
        </p:nvSpPr>
        <p:spPr>
          <a:xfrm>
            <a:off x="8412480" y="3977640"/>
            <a:ext cx="3154680" cy="2011680"/>
          </a:xfrm>
          <a:prstGeom prst="roundRect">
            <a:avLst>
              <a:gd name="adj" fmla="val 6364"/>
            </a:avLst>
          </a:prstGeom>
          <a:solidFill>
            <a:srgbClr val="14142B"/>
          </a:solidFill>
          <a:ln w="9525">
            <a:solidFill>
              <a:srgbClr val="34345E"/>
            </a:solidFill>
            <a:prstDash val="solid"/>
          </a:ln>
        </p:spPr>
      </p:sp>
      <p:sp>
        <p:nvSpPr>
          <p:cNvPr id="24" name="Shape 22"/>
          <p:cNvSpPr/>
          <p:nvPr/>
        </p:nvSpPr>
        <p:spPr>
          <a:xfrm>
            <a:off x="8549640" y="4114800"/>
            <a:ext cx="2880360" cy="457200"/>
          </a:xfrm>
          <a:prstGeom prst="roundRect">
            <a:avLst>
              <a:gd name="adj" fmla="val 20000"/>
            </a:avLst>
          </a:prstGeom>
          <a:solidFill>
            <a:srgbClr val="A5B4FC">
              <a:alpha val="22000"/>
            </a:srgbClr>
          </a:solidFill>
          <a:ln w="12700">
            <a:solidFill>
              <a:srgbClr val="A5B4FC"/>
            </a:solidFill>
            <a:prstDash val="solid"/>
          </a:ln>
        </p:spPr>
      </p:sp>
      <p:sp>
        <p:nvSpPr>
          <p:cNvPr id="25" name="Text 23"/>
          <p:cNvSpPr txBox="1"/>
          <p:nvPr/>
        </p:nvSpPr>
        <p:spPr>
          <a:xfrm>
            <a:off x="8549640" y="4114800"/>
            <a:ext cx="2880360" cy="457200"/>
          </a:xfrm>
          <a:prstGeom prst="rect">
            <a:avLst/>
          </a:prstGeom>
          <a:noFill/>
          <a:ln/>
        </p:spPr>
        <p:txBody>
          <a:bodyPr wrap="square" lIns="0" tIns="0" rIns="0" bIns="0" rtlCol="0" anchor="ctr"/>
          <a:lstStyle/>
          <a:p>
            <a:pPr algn="ctr" indent="0" marL="0">
              <a:buNone/>
            </a:pPr>
            <a:r>
              <a:rPr lang="en-US" sz="1700" b="1" dirty="0">
                <a:solidFill>
                  <a:srgbClr val="A5B4FC"/>
                </a:solidFill>
                <a:latin typeface="Calibri" pitchFamily="34" charset="0"/>
                <a:ea typeface="Calibri" pitchFamily="34" charset="-122"/>
                <a:cs typeface="Calibri" pitchFamily="34" charset="-120"/>
              </a:rPr>
              <a:t>Notification</a:t>
            </a:r>
            <a:endParaRPr lang="en-US" sz="1700" dirty="0"/>
          </a:p>
        </p:txBody>
      </p:sp>
      <p:sp>
        <p:nvSpPr>
          <p:cNvPr id="26" name="Text 24"/>
          <p:cNvSpPr txBox="1"/>
          <p:nvPr/>
        </p:nvSpPr>
        <p:spPr>
          <a:xfrm>
            <a:off x="8732520" y="4709160"/>
            <a:ext cx="2606040" cy="1188720"/>
          </a:xfrm>
          <a:prstGeom prst="rect">
            <a:avLst/>
          </a:prstGeom>
          <a:noFill/>
          <a:ln/>
        </p:spPr>
        <p:txBody>
          <a:bodyPr wrap="square" lIns="0" tIns="0" rIns="0" bIns="0" rtlCol="0" anchor="t"/>
          <a:lstStyle/>
          <a:p>
            <a:pPr indent="0" marL="0">
              <a:buNone/>
            </a:pPr>
            <a:r>
              <a:rPr lang="en-US" sz="1400" dirty="0">
                <a:solidFill>
                  <a:srgbClr val="A3AED0"/>
                </a:solidFill>
                <a:latin typeface="Calibri" pitchFamily="34" charset="0"/>
                <a:ea typeface="Calibri" pitchFamily="34" charset="-122"/>
                <a:cs typeface="Calibri" pitchFamily="34" charset="-120"/>
              </a:rPr>
              <a:t>user, message, link</a:t>
            </a:r>
            <a:endParaRPr lang="en-US" sz="1400" dirty="0"/>
          </a:p>
          <a:p>
            <a:pPr indent="0" marL="0">
              <a:buNone/>
            </a:pPr>
            <a:r>
              <a:rPr lang="en-US" sz="1400" dirty="0">
                <a:solidFill>
                  <a:srgbClr val="A3AED0"/>
                </a:solidFill>
                <a:latin typeface="Calibri" pitchFamily="34" charset="0"/>
                <a:ea typeface="Calibri" pitchFamily="34" charset="-122"/>
                <a:cs typeface="Calibri" pitchFamily="34" charset="-120"/>
              </a:rPr>
              <a:t>created and read time</a:t>
            </a:r>
            <a:endParaRPr lang="en-US" sz="1400" dirty="0"/>
          </a:p>
        </p:txBody>
      </p:sp>
      <p:sp>
        <p:nvSpPr>
          <p:cNvPr id="27" name="Shape 25"/>
          <p:cNvSpPr/>
          <p:nvPr/>
        </p:nvSpPr>
        <p:spPr>
          <a:xfrm>
            <a:off x="3840480" y="2377440"/>
            <a:ext cx="640080" cy="0"/>
          </a:xfrm>
          <a:prstGeom prst="line">
            <a:avLst/>
          </a:prstGeom>
          <a:noFill/>
          <a:ln w="19050">
            <a:solidFill>
              <a:srgbClr val="A3AED0"/>
            </a:solidFill>
            <a:prstDash val="solid"/>
            <a:tailEnd type="triangle"/>
          </a:ln>
        </p:spPr>
      </p:sp>
      <p:sp>
        <p:nvSpPr>
          <p:cNvPr id="28" name="Text 26"/>
          <p:cNvSpPr txBox="1"/>
          <p:nvPr/>
        </p:nvSpPr>
        <p:spPr>
          <a:xfrm>
            <a:off x="3657600" y="2011680"/>
            <a:ext cx="914400" cy="274320"/>
          </a:xfrm>
          <a:prstGeom prst="rect">
            <a:avLst/>
          </a:prstGeom>
          <a:noFill/>
          <a:ln/>
        </p:spPr>
        <p:txBody>
          <a:bodyPr wrap="square" lIns="0" tIns="0" rIns="0" bIns="0" rtlCol="0" anchor="t"/>
          <a:lstStyle/>
          <a:p>
            <a:pPr algn="ctr" indent="0" marL="0">
              <a:buNone/>
            </a:pPr>
            <a:r>
              <a:rPr lang="en-US" sz="1200" dirty="0">
                <a:solidFill>
                  <a:srgbClr val="A3AED0"/>
                </a:solidFill>
                <a:latin typeface="Calibri" pitchFamily="34" charset="0"/>
                <a:ea typeface="Calibri" pitchFamily="34" charset="-122"/>
                <a:cs typeface="Calibri" pitchFamily="34" charset="-120"/>
              </a:rPr>
              <a:t>groups</a:t>
            </a:r>
            <a:endParaRPr lang="en-US" sz="1200" dirty="0"/>
          </a:p>
        </p:txBody>
      </p:sp>
      <p:sp>
        <p:nvSpPr>
          <p:cNvPr id="29" name="Shape 27"/>
          <p:cNvSpPr/>
          <p:nvPr/>
        </p:nvSpPr>
        <p:spPr>
          <a:xfrm flipH="1">
            <a:off x="7726680" y="2377440"/>
            <a:ext cx="640080" cy="0"/>
          </a:xfrm>
          <a:prstGeom prst="line">
            <a:avLst/>
          </a:prstGeom>
          <a:noFill/>
          <a:ln w="19050">
            <a:solidFill>
              <a:srgbClr val="A3AED0"/>
            </a:solidFill>
            <a:prstDash val="solid"/>
            <a:tailEnd type="triangle"/>
          </a:ln>
        </p:spPr>
      </p:sp>
      <p:sp>
        <p:nvSpPr>
          <p:cNvPr id="30" name="Text 28"/>
          <p:cNvSpPr txBox="1"/>
          <p:nvPr/>
        </p:nvSpPr>
        <p:spPr>
          <a:xfrm>
            <a:off x="7589520" y="2011680"/>
            <a:ext cx="914400" cy="274320"/>
          </a:xfrm>
          <a:prstGeom prst="rect">
            <a:avLst/>
          </a:prstGeom>
          <a:noFill/>
          <a:ln/>
        </p:spPr>
        <p:txBody>
          <a:bodyPr wrap="square" lIns="0" tIns="0" rIns="0" bIns="0" rtlCol="0" anchor="t"/>
          <a:lstStyle/>
          <a:p>
            <a:pPr algn="ctr" indent="0" marL="0">
              <a:buNone/>
            </a:pPr>
            <a:r>
              <a:rPr lang="en-US" sz="1200" dirty="0">
                <a:solidFill>
                  <a:srgbClr val="A3AED0"/>
                </a:solidFill>
                <a:latin typeface="Calibri" pitchFamily="34" charset="0"/>
                <a:ea typeface="Calibri" pitchFamily="34" charset="-122"/>
                <a:cs typeface="Calibri" pitchFamily="34" charset="-120"/>
              </a:rPr>
              <a:t>hosts</a:t>
            </a:r>
            <a:endParaRPr lang="en-US" sz="1200" dirty="0"/>
          </a:p>
        </p:txBody>
      </p:sp>
      <p:sp>
        <p:nvSpPr>
          <p:cNvPr id="31" name="Shape 29"/>
          <p:cNvSpPr/>
          <p:nvPr/>
        </p:nvSpPr>
        <p:spPr>
          <a:xfrm>
            <a:off x="6126480" y="3611880"/>
            <a:ext cx="0" cy="320040"/>
          </a:xfrm>
          <a:prstGeom prst="line">
            <a:avLst/>
          </a:prstGeom>
          <a:noFill/>
          <a:ln w="19050">
            <a:solidFill>
              <a:srgbClr val="A3AED0"/>
            </a:solidFill>
            <a:prstDash val="solid"/>
            <a:tailEnd type="triangle"/>
          </a:ln>
        </p:spPr>
      </p:sp>
      <p:sp>
        <p:nvSpPr>
          <p:cNvPr id="32" name="Shape 30"/>
          <p:cNvSpPr/>
          <p:nvPr/>
        </p:nvSpPr>
        <p:spPr>
          <a:xfrm>
            <a:off x="9966960" y="3611880"/>
            <a:ext cx="0" cy="320040"/>
          </a:xfrm>
          <a:prstGeom prst="line">
            <a:avLst/>
          </a:prstGeom>
          <a:noFill/>
          <a:ln w="19050">
            <a:solidFill>
              <a:srgbClr val="A3AED0"/>
            </a:solidFill>
            <a:prstDash val="solid"/>
            <a:tailEnd type="triangle"/>
          </a:ln>
        </p:spPr>
      </p:sp>
      <p:sp>
        <p:nvSpPr>
          <p:cNvPr id="33" name="Text 31"/>
          <p:cNvSpPr txBox="1"/>
          <p:nvPr/>
        </p:nvSpPr>
        <p:spPr>
          <a:xfrm>
            <a:off x="10058400" y="3657600"/>
            <a:ext cx="1280160" cy="274320"/>
          </a:xfrm>
          <a:prstGeom prst="rect">
            <a:avLst/>
          </a:prstGeom>
          <a:noFill/>
          <a:ln/>
        </p:spPr>
        <p:txBody>
          <a:bodyPr wrap="square" lIns="0" tIns="0" rIns="0" bIns="0" rtlCol="0" anchor="t"/>
          <a:lstStyle/>
          <a:p>
            <a:pPr indent="0" marL="0">
              <a:buNone/>
            </a:pPr>
            <a:r>
              <a:rPr lang="en-US" sz="1200" dirty="0">
                <a:solidFill>
                  <a:srgbClr val="A3AED0"/>
                </a:solidFill>
                <a:latin typeface="Calibri" pitchFamily="34" charset="0"/>
                <a:ea typeface="Calibri" pitchFamily="34" charset="-122"/>
                <a:cs typeface="Calibri" pitchFamily="34" charset="-120"/>
              </a:rPr>
              <a:t>receives</a:t>
            </a:r>
            <a:endParaRPr lang="en-US" sz="1200" dirty="0"/>
          </a:p>
        </p:txBody>
      </p:sp>
      <p:sp>
        <p:nvSpPr>
          <p:cNvPr id="34" name="Text 32"/>
          <p:cNvSpPr txBox="1"/>
          <p:nvPr/>
        </p:nvSpPr>
        <p:spPr>
          <a:xfrm>
            <a:off x="6217920" y="3657600"/>
            <a:ext cx="1097280" cy="274320"/>
          </a:xfrm>
          <a:prstGeom prst="rect">
            <a:avLst/>
          </a:prstGeom>
          <a:noFill/>
          <a:ln/>
        </p:spPr>
        <p:txBody>
          <a:bodyPr wrap="square" lIns="0" tIns="0" rIns="0" bIns="0" rtlCol="0" anchor="t"/>
          <a:lstStyle/>
          <a:p>
            <a:pPr indent="0" marL="0">
              <a:buNone/>
            </a:pPr>
            <a:r>
              <a:rPr lang="en-US" sz="1200" dirty="0">
                <a:solidFill>
                  <a:srgbClr val="A3AED0"/>
                </a:solidFill>
                <a:latin typeface="Calibri" pitchFamily="34" charset="0"/>
                <a:ea typeface="Calibri" pitchFamily="34" charset="-122"/>
                <a:cs typeface="Calibri" pitchFamily="34" charset="-120"/>
              </a:rPr>
              <a:t>has many</a:t>
            </a:r>
            <a:endParaRPr lang="en-US" sz="1200" dirty="0"/>
          </a:p>
        </p:txBody>
      </p:sp>
      <p:sp>
        <p:nvSpPr>
          <p:cNvPr id="25" name="Slide Number Placeholder 0"/>
          <p:cNvSpPr>
            <a:spLocks noGrp="1"/>
          </p:cNvSpPr>
          <p:nvPr>
            <p:ph type="sldNum" sz="quarter" idx="4294967295"/>
          </p:nvPr>
        </p:nvSpPr>
        <p:spPr>
          <a:xfrm>
            <a:off x="11064240" y="640080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3AED0"/>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640080" y="457200"/>
            <a:ext cx="10908792" cy="777240"/>
          </a:xfrm>
          <a:prstGeom prst="rect">
            <a:avLst/>
          </a:prstGeom>
          <a:noFill/>
          <a:ln/>
        </p:spPr>
        <p:txBody>
          <a:bodyPr wrap="square" lIns="0" tIns="0" rIns="0" bIns="0" rtlCol="0" anchor="ctr"/>
          <a:lstStyle/>
          <a:p>
            <a:pPr algn="l" indent="0" marL="0">
              <a:buNone/>
            </a:pPr>
            <a:r>
              <a:rPr lang="en-US" sz="2600" dirty="0">
                <a:solidFill>
                  <a:srgbClr val="F1F5F9"/>
                </a:solidFill>
                <a:latin typeface="Arial Black" pitchFamily="34" charset="0"/>
                <a:ea typeface="Arial Black" pitchFamily="34" charset="-122"/>
                <a:cs typeface="Arial Black" pitchFamily="34" charset="-120"/>
              </a:rPr>
              <a:t>Built to be trusted</a:t>
            </a:r>
            <a:endParaRPr lang="en-US" sz="2600" dirty="0"/>
          </a:p>
        </p:txBody>
      </p:sp>
      <p:sp>
        <p:nvSpPr>
          <p:cNvPr id="3" name="Shape 1"/>
          <p:cNvSpPr/>
          <p:nvPr/>
        </p:nvSpPr>
        <p:spPr>
          <a:xfrm>
            <a:off x="640080" y="1600200"/>
            <a:ext cx="4206240" cy="4434840"/>
          </a:xfrm>
          <a:prstGeom prst="roundRect">
            <a:avLst>
              <a:gd name="adj" fmla="val 3043"/>
            </a:avLst>
          </a:prstGeom>
          <a:solidFill>
            <a:srgbClr val="14142B"/>
          </a:solidFill>
          <a:ln w="9525">
            <a:solidFill>
              <a:srgbClr val="34345E"/>
            </a:solidFill>
            <a:prstDash val="solid"/>
          </a:ln>
        </p:spPr>
      </p:sp>
      <p:sp>
        <p:nvSpPr>
          <p:cNvPr id="4" name="Text 2"/>
          <p:cNvSpPr txBox="1"/>
          <p:nvPr/>
        </p:nvSpPr>
        <p:spPr>
          <a:xfrm>
            <a:off x="640080" y="1828800"/>
            <a:ext cx="4206240" cy="1920240"/>
          </a:xfrm>
          <a:prstGeom prst="rect">
            <a:avLst/>
          </a:prstGeom>
          <a:noFill/>
          <a:ln/>
        </p:spPr>
        <p:txBody>
          <a:bodyPr wrap="square" lIns="0" tIns="0" rIns="0" bIns="0" rtlCol="0" anchor="ctr"/>
          <a:lstStyle/>
          <a:p>
            <a:pPr algn="ctr" indent="0" marL="0">
              <a:buNone/>
            </a:pPr>
            <a:r>
              <a:rPr lang="en-US" sz="10400" dirty="0">
                <a:solidFill>
                  <a:srgbClr val="F472B6"/>
                </a:solidFill>
                <a:latin typeface="Arial Black" pitchFamily="34" charset="0"/>
                <a:ea typeface="Arial Black" pitchFamily="34" charset="-122"/>
                <a:cs typeface="Arial Black" pitchFamily="34" charset="-120"/>
              </a:rPr>
              <a:t>84</a:t>
            </a:r>
            <a:endParaRPr lang="en-US" sz="10400" dirty="0"/>
          </a:p>
        </p:txBody>
      </p:sp>
      <p:sp>
        <p:nvSpPr>
          <p:cNvPr id="5" name="Text 3"/>
          <p:cNvSpPr txBox="1"/>
          <p:nvPr/>
        </p:nvSpPr>
        <p:spPr>
          <a:xfrm>
            <a:off x="640080" y="3749040"/>
            <a:ext cx="4206240" cy="457200"/>
          </a:xfrm>
          <a:prstGeom prst="rect">
            <a:avLst/>
          </a:prstGeom>
          <a:noFill/>
          <a:ln/>
        </p:spPr>
        <p:txBody>
          <a:bodyPr wrap="square" lIns="0" tIns="0" rIns="0" bIns="0" rtlCol="0" anchor="t"/>
          <a:lstStyle/>
          <a:p>
            <a:pPr algn="ctr" indent="0" marL="0">
              <a:buNone/>
            </a:pPr>
            <a:r>
              <a:rPr lang="en-US" sz="2400" b="1" dirty="0">
                <a:solidFill>
                  <a:srgbClr val="F1F5F9"/>
                </a:solidFill>
                <a:latin typeface="Calibri" pitchFamily="34" charset="0"/>
                <a:ea typeface="Calibri" pitchFamily="34" charset="-122"/>
                <a:cs typeface="Calibri" pitchFamily="34" charset="-120"/>
              </a:rPr>
              <a:t>automated tests</a:t>
            </a:r>
            <a:endParaRPr lang="en-US" sz="2400" dirty="0"/>
          </a:p>
        </p:txBody>
      </p:sp>
      <p:sp>
        <p:nvSpPr>
          <p:cNvPr id="6" name="Text 4"/>
          <p:cNvSpPr txBox="1"/>
          <p:nvPr/>
        </p:nvSpPr>
        <p:spPr>
          <a:xfrm>
            <a:off x="1005840" y="4343400"/>
            <a:ext cx="3474720" cy="1097280"/>
          </a:xfrm>
          <a:prstGeom prst="rect">
            <a:avLst/>
          </a:prstGeom>
          <a:noFill/>
          <a:ln/>
        </p:spPr>
        <p:txBody>
          <a:bodyPr wrap="square" lIns="0" tIns="0" rIns="0" bIns="0" rtlCol="0" anchor="t"/>
          <a:lstStyle/>
          <a:p>
            <a:pPr algn="ctr" indent="0" marL="0">
              <a:buNone/>
            </a:pPr>
            <a:r>
              <a:rPr lang="en-US" sz="1500" dirty="0">
                <a:solidFill>
                  <a:srgbClr val="A3AED0"/>
                </a:solidFill>
                <a:latin typeface="Calibri" pitchFamily="34" charset="0"/>
                <a:ea typeface="Calibri" pitchFamily="34" charset="-122"/>
                <a:cs typeface="Calibri" pitchFamily="34" charset="-120"/>
              </a:rPr>
              <a:t>Waitlist rules, filters, permissions, CSV, notifications, forms and login.</a:t>
            </a:r>
            <a:endParaRPr lang="en-US" sz="1500" dirty="0"/>
          </a:p>
        </p:txBody>
      </p:sp>
      <p:sp>
        <p:nvSpPr>
          <p:cNvPr id="7" name="Shape 5"/>
          <p:cNvSpPr/>
          <p:nvPr/>
        </p:nvSpPr>
        <p:spPr>
          <a:xfrm>
            <a:off x="5166360" y="1600200"/>
            <a:ext cx="6400800" cy="950976"/>
          </a:xfrm>
          <a:prstGeom prst="roundRect">
            <a:avLst>
              <a:gd name="adj" fmla="val 13462"/>
            </a:avLst>
          </a:prstGeom>
          <a:solidFill>
            <a:srgbClr val="14142B"/>
          </a:solidFill>
          <a:ln w="9525">
            <a:solidFill>
              <a:srgbClr val="34345E"/>
            </a:solidFill>
            <a:prstDash val="solid"/>
          </a:ln>
        </p:spPr>
      </p:sp>
      <p:sp>
        <p:nvSpPr>
          <p:cNvPr id="8" name="Shape 6"/>
          <p:cNvSpPr/>
          <p:nvPr/>
        </p:nvSpPr>
        <p:spPr>
          <a:xfrm>
            <a:off x="5394960" y="1728216"/>
            <a:ext cx="694944" cy="694944"/>
          </a:xfrm>
          <a:prstGeom prst="ellipse">
            <a:avLst/>
          </a:prstGeom>
          <a:solidFill>
            <a:srgbClr val="4ADE80">
              <a:alpha val="22000"/>
            </a:srgbClr>
          </a:solidFill>
          <a:ln w="12700">
            <a:solidFill>
              <a:srgbClr val="4ADE80"/>
            </a:solidFill>
            <a:prstDash val="solid"/>
          </a:ln>
        </p:spPr>
      </p:sp>
      <p:pic>
        <p:nvPicPr>
          <p:cNvPr id="9" name="Image 0" descr="preencoded.png">    </p:cNvPr>
          <p:cNvPicPr>
            <a:picLocks noChangeAspect="1"/>
          </p:cNvPicPr>
          <p:nvPr/>
        </p:nvPicPr>
        <p:blipFill>
          <a:blip r:embed="rId1"/>
          <a:stretch>
            <a:fillRect/>
          </a:stretch>
        </p:blipFill>
        <p:spPr>
          <a:xfrm>
            <a:off x="5568696" y="1901952"/>
            <a:ext cx="347472" cy="347472"/>
          </a:xfrm>
          <a:prstGeom prst="rect">
            <a:avLst/>
          </a:prstGeom>
        </p:spPr>
      </p:pic>
      <p:sp>
        <p:nvSpPr>
          <p:cNvPr id="10" name="Text 7"/>
          <p:cNvSpPr txBox="1"/>
          <p:nvPr/>
        </p:nvSpPr>
        <p:spPr>
          <a:xfrm>
            <a:off x="6309360" y="1728216"/>
            <a:ext cx="5120640" cy="365760"/>
          </a:xfrm>
          <a:prstGeom prst="rect">
            <a:avLst/>
          </a:prstGeom>
          <a:noFill/>
          <a:ln/>
        </p:spPr>
        <p:txBody>
          <a:bodyPr wrap="square" lIns="0" tIns="0" rIns="0" bIns="0" rtlCol="0" anchor="t"/>
          <a:lstStyle/>
          <a:p>
            <a:pPr indent="0" marL="0">
              <a:buNone/>
            </a:pPr>
            <a:r>
              <a:rPr lang="en-US" sz="1800" b="1" dirty="0">
                <a:solidFill>
                  <a:srgbClr val="F1F5F9"/>
                </a:solidFill>
                <a:latin typeface="Calibri" pitchFamily="34" charset="0"/>
                <a:ea typeface="Calibri" pitchFamily="34" charset="-122"/>
                <a:cs typeface="Calibri" pitchFamily="34" charset="-120"/>
              </a:rPr>
              <a:t>CSRF token on every POST</a:t>
            </a:r>
            <a:endParaRPr lang="en-US" sz="1800" dirty="0"/>
          </a:p>
        </p:txBody>
      </p:sp>
      <p:sp>
        <p:nvSpPr>
          <p:cNvPr id="11" name="Text 8"/>
          <p:cNvSpPr txBox="1"/>
          <p:nvPr/>
        </p:nvSpPr>
        <p:spPr>
          <a:xfrm>
            <a:off x="6309360" y="2103120"/>
            <a:ext cx="5120640" cy="320040"/>
          </a:xfrm>
          <a:prstGeom prst="rect">
            <a:avLst/>
          </a:prstGeom>
          <a:noFill/>
          <a:ln/>
        </p:spPr>
        <p:txBody>
          <a:bodyPr wrap="square" lIns="0" tIns="0" rIns="0" bIns="0" rtlCol="0" anchor="t"/>
          <a:lstStyle/>
          <a:p>
            <a:pPr indent="0" marL="0">
              <a:buNone/>
            </a:pPr>
            <a:r>
              <a:rPr lang="en-US" sz="1400" dirty="0">
                <a:solidFill>
                  <a:srgbClr val="A3AED0"/>
                </a:solidFill>
                <a:latin typeface="Calibri" pitchFamily="34" charset="0"/>
                <a:ea typeface="Calibri" pitchFamily="34" charset="-122"/>
                <a:cs typeface="Calibri" pitchFamily="34" charset="-120"/>
              </a:rPr>
              <a:t>Including the AJAX calls.</a:t>
            </a:r>
            <a:endParaRPr lang="en-US" sz="1400" dirty="0"/>
          </a:p>
        </p:txBody>
      </p:sp>
      <p:sp>
        <p:nvSpPr>
          <p:cNvPr id="12" name="Shape 9"/>
          <p:cNvSpPr/>
          <p:nvPr/>
        </p:nvSpPr>
        <p:spPr>
          <a:xfrm>
            <a:off x="5166360" y="2715768"/>
            <a:ext cx="6400800" cy="950976"/>
          </a:xfrm>
          <a:prstGeom prst="roundRect">
            <a:avLst>
              <a:gd name="adj" fmla="val 13462"/>
            </a:avLst>
          </a:prstGeom>
          <a:solidFill>
            <a:srgbClr val="14142B"/>
          </a:solidFill>
          <a:ln w="9525">
            <a:solidFill>
              <a:srgbClr val="34345E"/>
            </a:solidFill>
            <a:prstDash val="solid"/>
          </a:ln>
        </p:spPr>
      </p:sp>
      <p:sp>
        <p:nvSpPr>
          <p:cNvPr id="13" name="Shape 10"/>
          <p:cNvSpPr/>
          <p:nvPr/>
        </p:nvSpPr>
        <p:spPr>
          <a:xfrm>
            <a:off x="5394960" y="2843784"/>
            <a:ext cx="694944" cy="694944"/>
          </a:xfrm>
          <a:prstGeom prst="ellipse">
            <a:avLst/>
          </a:prstGeom>
          <a:solidFill>
            <a:srgbClr val="A5B4FC">
              <a:alpha val="22000"/>
            </a:srgbClr>
          </a:solidFill>
          <a:ln w="12700">
            <a:solidFill>
              <a:srgbClr val="A5B4FC"/>
            </a:solidFill>
            <a:prstDash val="solid"/>
          </a:ln>
        </p:spPr>
      </p:sp>
      <p:pic>
        <p:nvPicPr>
          <p:cNvPr id="14" name="Image 1" descr="preencoded.png">    </p:cNvPr>
          <p:cNvPicPr>
            <a:picLocks noChangeAspect="1"/>
          </p:cNvPicPr>
          <p:nvPr/>
        </p:nvPicPr>
        <p:blipFill>
          <a:blip r:embed="rId2"/>
          <a:stretch>
            <a:fillRect/>
          </a:stretch>
        </p:blipFill>
        <p:spPr>
          <a:xfrm>
            <a:off x="5568696" y="3017520"/>
            <a:ext cx="347472" cy="347472"/>
          </a:xfrm>
          <a:prstGeom prst="rect">
            <a:avLst/>
          </a:prstGeom>
        </p:spPr>
      </p:pic>
      <p:sp>
        <p:nvSpPr>
          <p:cNvPr id="15" name="Text 11"/>
          <p:cNvSpPr txBox="1"/>
          <p:nvPr/>
        </p:nvSpPr>
        <p:spPr>
          <a:xfrm>
            <a:off x="6309360" y="2843784"/>
            <a:ext cx="5120640" cy="365760"/>
          </a:xfrm>
          <a:prstGeom prst="rect">
            <a:avLst/>
          </a:prstGeom>
          <a:noFill/>
          <a:ln/>
        </p:spPr>
        <p:txBody>
          <a:bodyPr wrap="square" lIns="0" tIns="0" rIns="0" bIns="0" rtlCol="0" anchor="t"/>
          <a:lstStyle/>
          <a:p>
            <a:pPr indent="0" marL="0">
              <a:buNone/>
            </a:pPr>
            <a:r>
              <a:rPr lang="en-US" sz="1800" b="1" dirty="0">
                <a:solidFill>
                  <a:srgbClr val="F1F5F9"/>
                </a:solidFill>
                <a:latin typeface="Calibri" pitchFamily="34" charset="0"/>
                <a:ea typeface="Calibri" pitchFamily="34" charset="-122"/>
                <a:cs typeface="Calibri" pitchFamily="34" charset="-120"/>
              </a:rPr>
              <a:t>Owner-only pages</a:t>
            </a:r>
            <a:endParaRPr lang="en-US" sz="1800" dirty="0"/>
          </a:p>
        </p:txBody>
      </p:sp>
      <p:sp>
        <p:nvSpPr>
          <p:cNvPr id="16" name="Text 12"/>
          <p:cNvSpPr txBox="1"/>
          <p:nvPr/>
        </p:nvSpPr>
        <p:spPr>
          <a:xfrm>
            <a:off x="6309360" y="3218688"/>
            <a:ext cx="5120640" cy="320040"/>
          </a:xfrm>
          <a:prstGeom prst="rect">
            <a:avLst/>
          </a:prstGeom>
          <a:noFill/>
          <a:ln/>
        </p:spPr>
        <p:txBody>
          <a:bodyPr wrap="square" lIns="0" tIns="0" rIns="0" bIns="0" rtlCol="0" anchor="t"/>
          <a:lstStyle/>
          <a:p>
            <a:pPr indent="0" marL="0">
              <a:buNone/>
            </a:pPr>
            <a:r>
              <a:rPr lang="en-US" sz="1400" dirty="0">
                <a:solidFill>
                  <a:srgbClr val="A3AED0"/>
                </a:solidFill>
                <a:latin typeface="Calibri" pitchFamily="34" charset="0"/>
                <a:ea typeface="Calibri" pitchFamily="34" charset="-122"/>
                <a:cs typeface="Calibri" pitchFamily="34" charset="-120"/>
              </a:rPr>
              <a:t>401 without login, 403 for other users.</a:t>
            </a:r>
            <a:endParaRPr lang="en-US" sz="1400" dirty="0"/>
          </a:p>
        </p:txBody>
      </p:sp>
      <p:sp>
        <p:nvSpPr>
          <p:cNvPr id="17" name="Shape 13"/>
          <p:cNvSpPr/>
          <p:nvPr/>
        </p:nvSpPr>
        <p:spPr>
          <a:xfrm>
            <a:off x="5166360" y="3831336"/>
            <a:ext cx="6400800" cy="950976"/>
          </a:xfrm>
          <a:prstGeom prst="roundRect">
            <a:avLst>
              <a:gd name="adj" fmla="val 13462"/>
            </a:avLst>
          </a:prstGeom>
          <a:solidFill>
            <a:srgbClr val="14142B"/>
          </a:solidFill>
          <a:ln w="9525">
            <a:solidFill>
              <a:srgbClr val="34345E"/>
            </a:solidFill>
            <a:prstDash val="solid"/>
          </a:ln>
        </p:spPr>
      </p:sp>
      <p:sp>
        <p:nvSpPr>
          <p:cNvPr id="18" name="Shape 14"/>
          <p:cNvSpPr/>
          <p:nvPr/>
        </p:nvSpPr>
        <p:spPr>
          <a:xfrm>
            <a:off x="5394960" y="3959352"/>
            <a:ext cx="694944" cy="694944"/>
          </a:xfrm>
          <a:prstGeom prst="ellipse">
            <a:avLst/>
          </a:prstGeom>
          <a:solidFill>
            <a:srgbClr val="F97316">
              <a:alpha val="22000"/>
            </a:srgbClr>
          </a:solidFill>
          <a:ln w="12700">
            <a:solidFill>
              <a:srgbClr val="F97316"/>
            </a:solidFill>
            <a:prstDash val="solid"/>
          </a:ln>
        </p:spPr>
      </p:sp>
      <p:pic>
        <p:nvPicPr>
          <p:cNvPr id="19" name="Image 2" descr="preencoded.png">    </p:cNvPr>
          <p:cNvPicPr>
            <a:picLocks noChangeAspect="1"/>
          </p:cNvPicPr>
          <p:nvPr/>
        </p:nvPicPr>
        <p:blipFill>
          <a:blip r:embed="rId3"/>
          <a:stretch>
            <a:fillRect/>
          </a:stretch>
        </p:blipFill>
        <p:spPr>
          <a:xfrm>
            <a:off x="5568696" y="4133088"/>
            <a:ext cx="347472" cy="347472"/>
          </a:xfrm>
          <a:prstGeom prst="rect">
            <a:avLst/>
          </a:prstGeom>
        </p:spPr>
      </p:pic>
      <p:sp>
        <p:nvSpPr>
          <p:cNvPr id="20" name="Text 15"/>
          <p:cNvSpPr txBox="1"/>
          <p:nvPr/>
        </p:nvSpPr>
        <p:spPr>
          <a:xfrm>
            <a:off x="6309360" y="3959352"/>
            <a:ext cx="5120640" cy="365760"/>
          </a:xfrm>
          <a:prstGeom prst="rect">
            <a:avLst/>
          </a:prstGeom>
          <a:noFill/>
          <a:ln/>
        </p:spPr>
        <p:txBody>
          <a:bodyPr wrap="square" lIns="0" tIns="0" rIns="0" bIns="0" rtlCol="0" anchor="t"/>
          <a:lstStyle/>
          <a:p>
            <a:pPr indent="0" marL="0">
              <a:buNone/>
            </a:pPr>
            <a:r>
              <a:rPr lang="en-US" sz="1800" b="1" dirty="0">
                <a:solidFill>
                  <a:srgbClr val="F1F5F9"/>
                </a:solidFill>
                <a:latin typeface="Calibri" pitchFamily="34" charset="0"/>
                <a:ea typeface="Calibri" pitchFamily="34" charset="-122"/>
                <a:cs typeface="Calibri" pitchFamily="34" charset="-120"/>
              </a:rPr>
              <a:t>Spreadsheet-safe CSV</a:t>
            </a:r>
            <a:endParaRPr lang="en-US" sz="1800" dirty="0"/>
          </a:p>
        </p:txBody>
      </p:sp>
      <p:sp>
        <p:nvSpPr>
          <p:cNvPr id="21" name="Text 16"/>
          <p:cNvSpPr txBox="1"/>
          <p:nvPr/>
        </p:nvSpPr>
        <p:spPr>
          <a:xfrm>
            <a:off x="6309360" y="4334256"/>
            <a:ext cx="5120640" cy="320040"/>
          </a:xfrm>
          <a:prstGeom prst="rect">
            <a:avLst/>
          </a:prstGeom>
          <a:noFill/>
          <a:ln/>
        </p:spPr>
        <p:txBody>
          <a:bodyPr wrap="square" lIns="0" tIns="0" rIns="0" bIns="0" rtlCol="0" anchor="t"/>
          <a:lstStyle/>
          <a:p>
            <a:pPr indent="0" marL="0">
              <a:buNone/>
            </a:pPr>
            <a:r>
              <a:rPr lang="en-US" sz="1400" dirty="0">
                <a:solidFill>
                  <a:srgbClr val="A3AED0"/>
                </a:solidFill>
                <a:latin typeface="Calibri" pitchFamily="34" charset="0"/>
                <a:ea typeface="Calibri" pitchFamily="34" charset="-122"/>
                <a:cs typeface="Calibri" pitchFamily="34" charset="-120"/>
              </a:rPr>
              <a:t>Formula characters are escaped.</a:t>
            </a:r>
            <a:endParaRPr lang="en-US" sz="1400" dirty="0"/>
          </a:p>
        </p:txBody>
      </p:sp>
      <p:sp>
        <p:nvSpPr>
          <p:cNvPr id="22" name="Shape 17"/>
          <p:cNvSpPr/>
          <p:nvPr/>
        </p:nvSpPr>
        <p:spPr>
          <a:xfrm>
            <a:off x="5166360" y="4946904"/>
            <a:ext cx="6400800" cy="950976"/>
          </a:xfrm>
          <a:prstGeom prst="roundRect">
            <a:avLst>
              <a:gd name="adj" fmla="val 13462"/>
            </a:avLst>
          </a:prstGeom>
          <a:solidFill>
            <a:srgbClr val="14142B"/>
          </a:solidFill>
          <a:ln w="9525">
            <a:solidFill>
              <a:srgbClr val="34345E"/>
            </a:solidFill>
            <a:prstDash val="solid"/>
          </a:ln>
        </p:spPr>
      </p:sp>
      <p:sp>
        <p:nvSpPr>
          <p:cNvPr id="23" name="Shape 18"/>
          <p:cNvSpPr/>
          <p:nvPr/>
        </p:nvSpPr>
        <p:spPr>
          <a:xfrm>
            <a:off x="5394960" y="5074920"/>
            <a:ext cx="694944" cy="694944"/>
          </a:xfrm>
          <a:prstGeom prst="ellipse">
            <a:avLst/>
          </a:prstGeom>
          <a:solidFill>
            <a:srgbClr val="F472B6">
              <a:alpha val="22000"/>
            </a:srgbClr>
          </a:solidFill>
          <a:ln w="12700">
            <a:solidFill>
              <a:srgbClr val="F472B6"/>
            </a:solidFill>
            <a:prstDash val="solid"/>
          </a:ln>
        </p:spPr>
      </p:sp>
      <p:pic>
        <p:nvPicPr>
          <p:cNvPr id="24" name="Image 3" descr="preencoded.png">    </p:cNvPr>
          <p:cNvPicPr>
            <a:picLocks noChangeAspect="1"/>
          </p:cNvPicPr>
          <p:nvPr/>
        </p:nvPicPr>
        <p:blipFill>
          <a:blip r:embed="rId4"/>
          <a:stretch>
            <a:fillRect/>
          </a:stretch>
        </p:blipFill>
        <p:spPr>
          <a:xfrm>
            <a:off x="5568696" y="5248656"/>
            <a:ext cx="347472" cy="347472"/>
          </a:xfrm>
          <a:prstGeom prst="rect">
            <a:avLst/>
          </a:prstGeom>
        </p:spPr>
      </p:pic>
      <p:sp>
        <p:nvSpPr>
          <p:cNvPr id="25" name="Text 19"/>
          <p:cNvSpPr txBox="1"/>
          <p:nvPr/>
        </p:nvSpPr>
        <p:spPr>
          <a:xfrm>
            <a:off x="6309360" y="5074920"/>
            <a:ext cx="5120640" cy="365760"/>
          </a:xfrm>
          <a:prstGeom prst="rect">
            <a:avLst/>
          </a:prstGeom>
          <a:noFill/>
          <a:ln/>
        </p:spPr>
        <p:txBody>
          <a:bodyPr wrap="square" lIns="0" tIns="0" rIns="0" bIns="0" rtlCol="0" anchor="t"/>
          <a:lstStyle/>
          <a:p>
            <a:pPr indent="0" marL="0">
              <a:buNone/>
            </a:pPr>
            <a:r>
              <a:rPr lang="en-US" sz="1800" b="1" dirty="0">
                <a:solidFill>
                  <a:srgbClr val="F1F5F9"/>
                </a:solidFill>
                <a:latin typeface="Calibri" pitchFamily="34" charset="0"/>
                <a:ea typeface="Calibri" pitchFamily="34" charset="-122"/>
                <a:cs typeface="Calibri" pitchFamily="34" charset="-120"/>
              </a:rPr>
              <a:t>HTTPS and secure cookies</a:t>
            </a:r>
            <a:endParaRPr lang="en-US" sz="1800" dirty="0"/>
          </a:p>
        </p:txBody>
      </p:sp>
      <p:sp>
        <p:nvSpPr>
          <p:cNvPr id="26" name="Text 20"/>
          <p:cNvSpPr txBox="1"/>
          <p:nvPr/>
        </p:nvSpPr>
        <p:spPr>
          <a:xfrm>
            <a:off x="6309360" y="5449824"/>
            <a:ext cx="5120640" cy="320040"/>
          </a:xfrm>
          <a:prstGeom prst="rect">
            <a:avLst/>
          </a:prstGeom>
          <a:noFill/>
          <a:ln/>
        </p:spPr>
        <p:txBody>
          <a:bodyPr wrap="square" lIns="0" tIns="0" rIns="0" bIns="0" rtlCol="0" anchor="t"/>
          <a:lstStyle/>
          <a:p>
            <a:pPr indent="0" marL="0">
              <a:buNone/>
            </a:pPr>
            <a:r>
              <a:rPr lang="en-US" sz="1400" dirty="0">
                <a:solidFill>
                  <a:srgbClr val="A3AED0"/>
                </a:solidFill>
                <a:latin typeface="Calibri" pitchFamily="34" charset="0"/>
                <a:ea typeface="Calibri" pitchFamily="34" charset="-122"/>
                <a:cs typeface="Calibri" pitchFamily="34" charset="-120"/>
              </a:rPr>
              <a:t>Secret key comes from the environment.</a:t>
            </a:r>
            <a:endParaRPr lang="en-US" sz="1400" dirty="0"/>
          </a:p>
        </p:txBody>
      </p:sp>
      <p:sp>
        <p:nvSpPr>
          <p:cNvPr id="27" name="Text 21"/>
          <p:cNvSpPr txBox="1"/>
          <p:nvPr/>
        </p:nvSpPr>
        <p:spPr>
          <a:xfrm>
            <a:off x="640080" y="6144768"/>
            <a:ext cx="10881360" cy="274320"/>
          </a:xfrm>
          <a:prstGeom prst="rect">
            <a:avLst/>
          </a:prstGeom>
          <a:noFill/>
          <a:ln/>
        </p:spPr>
        <p:txBody>
          <a:bodyPr wrap="square" lIns="0" tIns="0" rIns="0" bIns="0" rtlCol="0" anchor="t"/>
          <a:lstStyle/>
          <a:p>
            <a:pPr indent="0" marL="0">
              <a:buNone/>
            </a:pPr>
            <a:r>
              <a:rPr lang="en-US" sz="1200" dirty="0">
                <a:solidFill>
                  <a:srgbClr val="A3AED0"/>
                </a:solidFill>
                <a:latin typeface="Calibri" pitchFamily="34" charset="0"/>
                <a:ea typeface="Calibri" pitchFamily="34" charset="-122"/>
                <a:cs typeface="Calibri" pitchFamily="34" charset="-120"/>
              </a:rPr>
              <a:t>Found by testing: a filter crash on a superscript digit, and a “just now” label that never showed. Both fixed.</a:t>
            </a:r>
            <a:endParaRPr lang="en-US" sz="1200" dirty="0"/>
          </a:p>
        </p:txBody>
      </p:sp>
      <p:sp>
        <p:nvSpPr>
          <p:cNvPr id="25" name="Slide Number Placeholder 0"/>
          <p:cNvSpPr>
            <a:spLocks noGrp="1"/>
          </p:cNvSpPr>
          <p:nvPr>
            <p:ph type="sldNum" sz="quarter" idx="4294967295"/>
          </p:nvPr>
        </p:nvSpPr>
        <p:spPr>
          <a:xfrm>
            <a:off x="11064240" y="640080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3AED0"/>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640080" y="457200"/>
            <a:ext cx="10908792" cy="777240"/>
          </a:xfrm>
          <a:prstGeom prst="rect">
            <a:avLst/>
          </a:prstGeom>
          <a:noFill/>
          <a:ln/>
        </p:spPr>
        <p:txBody>
          <a:bodyPr wrap="square" lIns="0" tIns="0" rIns="0" bIns="0" rtlCol="0" anchor="ctr"/>
          <a:lstStyle/>
          <a:p>
            <a:pPr algn="l" indent="0" marL="0">
              <a:buNone/>
            </a:pPr>
            <a:r>
              <a:rPr lang="en-US" sz="2600" dirty="0">
                <a:solidFill>
                  <a:srgbClr val="F1F5F9"/>
                </a:solidFill>
                <a:latin typeface="Arial Black" pitchFamily="34" charset="0"/>
                <a:ea typeface="Arial Black" pitchFamily="34" charset="-122"/>
                <a:cs typeface="Arial Black" pitchFamily="34" charset="-120"/>
              </a:rPr>
              <a:t>Live on the internet</a:t>
            </a:r>
            <a:endParaRPr lang="en-US" sz="2600" dirty="0"/>
          </a:p>
        </p:txBody>
      </p:sp>
      <p:sp>
        <p:nvSpPr>
          <p:cNvPr id="3" name="Shape 1"/>
          <p:cNvSpPr/>
          <p:nvPr/>
        </p:nvSpPr>
        <p:spPr>
          <a:xfrm>
            <a:off x="640080" y="1645920"/>
            <a:ext cx="1965960" cy="1874520"/>
          </a:xfrm>
          <a:prstGeom prst="roundRect">
            <a:avLst>
              <a:gd name="adj" fmla="val 6829"/>
            </a:avLst>
          </a:prstGeom>
          <a:solidFill>
            <a:srgbClr val="14142B"/>
          </a:solidFill>
          <a:ln w="9525">
            <a:solidFill>
              <a:srgbClr val="34345E"/>
            </a:solidFill>
            <a:prstDash val="solid"/>
          </a:ln>
        </p:spPr>
      </p:sp>
      <p:sp>
        <p:nvSpPr>
          <p:cNvPr id="4" name="Shape 2"/>
          <p:cNvSpPr/>
          <p:nvPr/>
        </p:nvSpPr>
        <p:spPr>
          <a:xfrm>
            <a:off x="1280160" y="1828800"/>
            <a:ext cx="685800" cy="685800"/>
          </a:xfrm>
          <a:prstGeom prst="ellipse">
            <a:avLst/>
          </a:prstGeom>
          <a:solidFill>
            <a:srgbClr val="F1F5F9">
              <a:alpha val="22000"/>
            </a:srgbClr>
          </a:solidFill>
          <a:ln w="12700">
            <a:solidFill>
              <a:srgbClr val="F1F5F9"/>
            </a:solidFill>
            <a:prstDash val="solid"/>
          </a:ln>
        </p:spPr>
      </p:sp>
      <p:pic>
        <p:nvPicPr>
          <p:cNvPr id="5" name="Image 0" descr="preencoded.png">    </p:cNvPr>
          <p:cNvPicPr>
            <a:picLocks noChangeAspect="1"/>
          </p:cNvPicPr>
          <p:nvPr/>
        </p:nvPicPr>
        <p:blipFill>
          <a:blip r:embed="rId1"/>
          <a:stretch>
            <a:fillRect/>
          </a:stretch>
        </p:blipFill>
        <p:spPr>
          <a:xfrm>
            <a:off x="1451610" y="2000250"/>
            <a:ext cx="342900" cy="342900"/>
          </a:xfrm>
          <a:prstGeom prst="rect">
            <a:avLst/>
          </a:prstGeom>
        </p:spPr>
      </p:pic>
      <p:sp>
        <p:nvSpPr>
          <p:cNvPr id="6" name="Text 3"/>
          <p:cNvSpPr txBox="1"/>
          <p:nvPr/>
        </p:nvSpPr>
        <p:spPr>
          <a:xfrm>
            <a:off x="640080" y="2697480"/>
            <a:ext cx="1965960" cy="365760"/>
          </a:xfrm>
          <a:prstGeom prst="rect">
            <a:avLst/>
          </a:prstGeom>
          <a:noFill/>
          <a:ln/>
        </p:spPr>
        <p:txBody>
          <a:bodyPr wrap="square" lIns="0" tIns="0" rIns="0" bIns="0" rtlCol="0" anchor="t"/>
          <a:lstStyle/>
          <a:p>
            <a:pPr algn="ctr" indent="0" marL="0">
              <a:buNone/>
            </a:pPr>
            <a:r>
              <a:rPr lang="en-US" sz="1900" b="1" dirty="0">
                <a:solidFill>
                  <a:srgbClr val="F1F5F9"/>
                </a:solidFill>
                <a:latin typeface="Calibri" pitchFamily="34" charset="0"/>
                <a:ea typeface="Calibri" pitchFamily="34" charset="-122"/>
                <a:cs typeface="Calibri" pitchFamily="34" charset="-120"/>
              </a:rPr>
              <a:t>GitHub</a:t>
            </a:r>
            <a:endParaRPr lang="en-US" sz="1900" dirty="0"/>
          </a:p>
        </p:txBody>
      </p:sp>
      <p:sp>
        <p:nvSpPr>
          <p:cNvPr id="7" name="Text 4"/>
          <p:cNvSpPr txBox="1"/>
          <p:nvPr/>
        </p:nvSpPr>
        <p:spPr>
          <a:xfrm>
            <a:off x="640080" y="3063240"/>
            <a:ext cx="1965960" cy="320040"/>
          </a:xfrm>
          <a:prstGeom prst="rect">
            <a:avLst/>
          </a:prstGeom>
          <a:noFill/>
          <a:ln/>
        </p:spPr>
        <p:txBody>
          <a:bodyPr wrap="square" lIns="0" tIns="0" rIns="0" bIns="0" rtlCol="0" anchor="t"/>
          <a:lstStyle/>
          <a:p>
            <a:pPr algn="ctr" indent="0" marL="0">
              <a:buNone/>
            </a:pPr>
            <a:r>
              <a:rPr lang="en-US" sz="1400" dirty="0">
                <a:solidFill>
                  <a:srgbClr val="A3AED0"/>
                </a:solidFill>
                <a:latin typeface="Calibri" pitchFamily="34" charset="0"/>
                <a:ea typeface="Calibri" pitchFamily="34" charset="-122"/>
                <a:cs typeface="Calibri" pitchFamily="34" charset="-120"/>
              </a:rPr>
              <a:t>source code</a:t>
            </a:r>
            <a:endParaRPr lang="en-US" sz="1400" dirty="0"/>
          </a:p>
        </p:txBody>
      </p:sp>
      <p:sp>
        <p:nvSpPr>
          <p:cNvPr id="8" name="Shape 5"/>
          <p:cNvSpPr/>
          <p:nvPr/>
        </p:nvSpPr>
        <p:spPr>
          <a:xfrm>
            <a:off x="2633472" y="2542032"/>
            <a:ext cx="310896" cy="256032"/>
          </a:xfrm>
          <a:prstGeom prst="rightArrow">
            <a:avLst/>
          </a:prstGeom>
          <a:solidFill>
            <a:srgbClr val="A5B4FC"/>
          </a:solidFill>
          <a:ln w="12700">
            <a:solidFill>
              <a:srgbClr val="A5B4FC"/>
            </a:solidFill>
            <a:prstDash val="solid"/>
          </a:ln>
        </p:spPr>
      </p:sp>
      <p:sp>
        <p:nvSpPr>
          <p:cNvPr id="9" name="Shape 6"/>
          <p:cNvSpPr/>
          <p:nvPr/>
        </p:nvSpPr>
        <p:spPr>
          <a:xfrm>
            <a:off x="2971800" y="1645920"/>
            <a:ext cx="1965960" cy="1874520"/>
          </a:xfrm>
          <a:prstGeom prst="roundRect">
            <a:avLst>
              <a:gd name="adj" fmla="val 6829"/>
            </a:avLst>
          </a:prstGeom>
          <a:solidFill>
            <a:srgbClr val="14142B"/>
          </a:solidFill>
          <a:ln w="9525">
            <a:solidFill>
              <a:srgbClr val="34345E"/>
            </a:solidFill>
            <a:prstDash val="solid"/>
          </a:ln>
        </p:spPr>
      </p:sp>
      <p:sp>
        <p:nvSpPr>
          <p:cNvPr id="10" name="Shape 7"/>
          <p:cNvSpPr/>
          <p:nvPr/>
        </p:nvSpPr>
        <p:spPr>
          <a:xfrm>
            <a:off x="3611880" y="1828800"/>
            <a:ext cx="685800" cy="685800"/>
          </a:xfrm>
          <a:prstGeom prst="ellipse">
            <a:avLst/>
          </a:prstGeom>
          <a:solidFill>
            <a:srgbClr val="A5B4FC">
              <a:alpha val="22000"/>
            </a:srgbClr>
          </a:solidFill>
          <a:ln w="12700">
            <a:solidFill>
              <a:srgbClr val="A5B4FC"/>
            </a:solidFill>
            <a:prstDash val="solid"/>
          </a:ln>
        </p:spPr>
      </p:sp>
      <p:pic>
        <p:nvPicPr>
          <p:cNvPr id="11" name="Image 1" descr="preencoded.png">    </p:cNvPr>
          <p:cNvPicPr>
            <a:picLocks noChangeAspect="1"/>
          </p:cNvPicPr>
          <p:nvPr/>
        </p:nvPicPr>
        <p:blipFill>
          <a:blip r:embed="rId2"/>
          <a:stretch>
            <a:fillRect/>
          </a:stretch>
        </p:blipFill>
        <p:spPr>
          <a:xfrm>
            <a:off x="3783330" y="2000250"/>
            <a:ext cx="342900" cy="342900"/>
          </a:xfrm>
          <a:prstGeom prst="rect">
            <a:avLst/>
          </a:prstGeom>
        </p:spPr>
      </p:pic>
      <p:sp>
        <p:nvSpPr>
          <p:cNvPr id="12" name="Text 8"/>
          <p:cNvSpPr txBox="1"/>
          <p:nvPr/>
        </p:nvSpPr>
        <p:spPr>
          <a:xfrm>
            <a:off x="2971800" y="2697480"/>
            <a:ext cx="1965960" cy="365760"/>
          </a:xfrm>
          <a:prstGeom prst="rect">
            <a:avLst/>
          </a:prstGeom>
          <a:noFill/>
          <a:ln/>
        </p:spPr>
        <p:txBody>
          <a:bodyPr wrap="square" lIns="0" tIns="0" rIns="0" bIns="0" rtlCol="0" anchor="t"/>
          <a:lstStyle/>
          <a:p>
            <a:pPr algn="ctr" indent="0" marL="0">
              <a:buNone/>
            </a:pPr>
            <a:r>
              <a:rPr lang="en-US" sz="1900" b="1" dirty="0">
                <a:solidFill>
                  <a:srgbClr val="F1F5F9"/>
                </a:solidFill>
                <a:latin typeface="Calibri" pitchFamily="34" charset="0"/>
                <a:ea typeface="Calibri" pitchFamily="34" charset="-122"/>
                <a:cs typeface="Calibri" pitchFamily="34" charset="-120"/>
              </a:rPr>
              <a:t>Vercel</a:t>
            </a:r>
            <a:endParaRPr lang="en-US" sz="1900" dirty="0"/>
          </a:p>
        </p:txBody>
      </p:sp>
      <p:sp>
        <p:nvSpPr>
          <p:cNvPr id="13" name="Text 9"/>
          <p:cNvSpPr txBox="1"/>
          <p:nvPr/>
        </p:nvSpPr>
        <p:spPr>
          <a:xfrm>
            <a:off x="2971800" y="3063240"/>
            <a:ext cx="1965960" cy="320040"/>
          </a:xfrm>
          <a:prstGeom prst="rect">
            <a:avLst/>
          </a:prstGeom>
          <a:noFill/>
          <a:ln/>
        </p:spPr>
        <p:txBody>
          <a:bodyPr wrap="square" lIns="0" tIns="0" rIns="0" bIns="0" rtlCol="0" anchor="t"/>
          <a:lstStyle/>
          <a:p>
            <a:pPr algn="ctr" indent="0" marL="0">
              <a:buNone/>
            </a:pPr>
            <a:r>
              <a:rPr lang="en-US" sz="1400" dirty="0">
                <a:solidFill>
                  <a:srgbClr val="A3AED0"/>
                </a:solidFill>
                <a:latin typeface="Calibri" pitchFamily="34" charset="0"/>
                <a:ea typeface="Calibri" pitchFamily="34" charset="-122"/>
                <a:cs typeface="Calibri" pitchFamily="34" charset="-120"/>
              </a:rPr>
              <a:t>build and host</a:t>
            </a:r>
            <a:endParaRPr lang="en-US" sz="1400" dirty="0"/>
          </a:p>
        </p:txBody>
      </p:sp>
      <p:sp>
        <p:nvSpPr>
          <p:cNvPr id="14" name="Shape 10"/>
          <p:cNvSpPr/>
          <p:nvPr/>
        </p:nvSpPr>
        <p:spPr>
          <a:xfrm>
            <a:off x="4965192" y="2542032"/>
            <a:ext cx="310896" cy="256032"/>
          </a:xfrm>
          <a:prstGeom prst="rightArrow">
            <a:avLst/>
          </a:prstGeom>
          <a:solidFill>
            <a:srgbClr val="A5B4FC"/>
          </a:solidFill>
          <a:ln w="12700">
            <a:solidFill>
              <a:srgbClr val="A5B4FC"/>
            </a:solidFill>
            <a:prstDash val="solid"/>
          </a:ln>
        </p:spPr>
      </p:sp>
      <p:sp>
        <p:nvSpPr>
          <p:cNvPr id="15" name="Shape 11"/>
          <p:cNvSpPr/>
          <p:nvPr/>
        </p:nvSpPr>
        <p:spPr>
          <a:xfrm>
            <a:off x="5303520" y="1645920"/>
            <a:ext cx="1965960" cy="1874520"/>
          </a:xfrm>
          <a:prstGeom prst="roundRect">
            <a:avLst>
              <a:gd name="adj" fmla="val 6829"/>
            </a:avLst>
          </a:prstGeom>
          <a:solidFill>
            <a:srgbClr val="14142B"/>
          </a:solidFill>
          <a:ln w="9525">
            <a:solidFill>
              <a:srgbClr val="34345E"/>
            </a:solidFill>
            <a:prstDash val="solid"/>
          </a:ln>
        </p:spPr>
      </p:sp>
      <p:sp>
        <p:nvSpPr>
          <p:cNvPr id="16" name="Shape 12"/>
          <p:cNvSpPr/>
          <p:nvPr/>
        </p:nvSpPr>
        <p:spPr>
          <a:xfrm>
            <a:off x="5943600" y="1828800"/>
            <a:ext cx="685800" cy="685800"/>
          </a:xfrm>
          <a:prstGeom prst="ellipse">
            <a:avLst/>
          </a:prstGeom>
          <a:solidFill>
            <a:srgbClr val="4ADE80">
              <a:alpha val="22000"/>
            </a:srgbClr>
          </a:solidFill>
          <a:ln w="12700">
            <a:solidFill>
              <a:srgbClr val="4ADE80"/>
            </a:solidFill>
            <a:prstDash val="solid"/>
          </a:ln>
        </p:spPr>
      </p:sp>
      <p:pic>
        <p:nvPicPr>
          <p:cNvPr id="17" name="Image 2" descr="preencoded.png">    </p:cNvPr>
          <p:cNvPicPr>
            <a:picLocks noChangeAspect="1"/>
          </p:cNvPicPr>
          <p:nvPr/>
        </p:nvPicPr>
        <p:blipFill>
          <a:blip r:embed="rId3"/>
          <a:stretch>
            <a:fillRect/>
          </a:stretch>
        </p:blipFill>
        <p:spPr>
          <a:xfrm>
            <a:off x="6115050" y="2000250"/>
            <a:ext cx="342900" cy="342900"/>
          </a:xfrm>
          <a:prstGeom prst="rect">
            <a:avLst/>
          </a:prstGeom>
        </p:spPr>
      </p:pic>
      <p:sp>
        <p:nvSpPr>
          <p:cNvPr id="18" name="Text 13"/>
          <p:cNvSpPr txBox="1"/>
          <p:nvPr/>
        </p:nvSpPr>
        <p:spPr>
          <a:xfrm>
            <a:off x="5303520" y="2697480"/>
            <a:ext cx="1965960" cy="365760"/>
          </a:xfrm>
          <a:prstGeom prst="rect">
            <a:avLst/>
          </a:prstGeom>
          <a:noFill/>
          <a:ln/>
        </p:spPr>
        <p:txBody>
          <a:bodyPr wrap="square" lIns="0" tIns="0" rIns="0" bIns="0" rtlCol="0" anchor="t"/>
          <a:lstStyle/>
          <a:p>
            <a:pPr algn="ctr" indent="0" marL="0">
              <a:buNone/>
            </a:pPr>
            <a:r>
              <a:rPr lang="en-US" sz="1900" b="1" dirty="0">
                <a:solidFill>
                  <a:srgbClr val="F1F5F9"/>
                </a:solidFill>
                <a:latin typeface="Calibri" pitchFamily="34" charset="0"/>
                <a:ea typeface="Calibri" pitchFamily="34" charset="-122"/>
                <a:cs typeface="Calibri" pitchFamily="34" charset="-120"/>
              </a:rPr>
              <a:t>Supabase</a:t>
            </a:r>
            <a:endParaRPr lang="en-US" sz="1900" dirty="0"/>
          </a:p>
        </p:txBody>
      </p:sp>
      <p:sp>
        <p:nvSpPr>
          <p:cNvPr id="19" name="Text 14"/>
          <p:cNvSpPr txBox="1"/>
          <p:nvPr/>
        </p:nvSpPr>
        <p:spPr>
          <a:xfrm>
            <a:off x="5303520" y="3063240"/>
            <a:ext cx="1965960" cy="320040"/>
          </a:xfrm>
          <a:prstGeom prst="rect">
            <a:avLst/>
          </a:prstGeom>
          <a:noFill/>
          <a:ln/>
        </p:spPr>
        <p:txBody>
          <a:bodyPr wrap="square" lIns="0" tIns="0" rIns="0" bIns="0" rtlCol="0" anchor="t"/>
          <a:lstStyle/>
          <a:p>
            <a:pPr algn="ctr" indent="0" marL="0">
              <a:buNone/>
            </a:pPr>
            <a:r>
              <a:rPr lang="en-US" sz="1400" dirty="0">
                <a:solidFill>
                  <a:srgbClr val="A3AED0"/>
                </a:solidFill>
                <a:latin typeface="Calibri" pitchFamily="34" charset="0"/>
                <a:ea typeface="Calibri" pitchFamily="34" charset="-122"/>
                <a:cs typeface="Calibri" pitchFamily="34" charset="-120"/>
              </a:rPr>
              <a:t>PostgreSQL data</a:t>
            </a:r>
            <a:endParaRPr lang="en-US" sz="1400" dirty="0"/>
          </a:p>
        </p:txBody>
      </p:sp>
      <p:sp>
        <p:nvSpPr>
          <p:cNvPr id="20" name="Text 15"/>
          <p:cNvSpPr txBox="1"/>
          <p:nvPr/>
        </p:nvSpPr>
        <p:spPr>
          <a:xfrm>
            <a:off x="640080" y="3931920"/>
            <a:ext cx="6949440" cy="2103120"/>
          </a:xfrm>
          <a:prstGeom prst="rect">
            <a:avLst/>
          </a:prstGeom>
          <a:noFill/>
          <a:ln/>
        </p:spPr>
        <p:txBody>
          <a:bodyPr wrap="square" lIns="0" tIns="0" rIns="0" bIns="0" rtlCol="0" anchor="t"/>
          <a:lstStyle/>
          <a:p>
            <a:pPr marL="342900" indent="-342900">
              <a:spcAft>
                <a:spcPts val="800"/>
              </a:spcAft>
              <a:buSzPct val="100000"/>
              <a:buChar char="•"/>
            </a:pPr>
            <a:r>
              <a:rPr lang="en-US" sz="1700" dirty="0">
                <a:solidFill>
                  <a:srgbClr val="F1F5F9"/>
                </a:solidFill>
                <a:latin typeface="Calibri" pitchFamily="34" charset="0"/>
                <a:ea typeface="Calibri" pitchFamily="34" charset="-122"/>
                <a:cs typeface="Calibri" pitchFamily="34" charset="-120"/>
              </a:rPr>
              <a:t>Every push to the main branch deploys by itself.</a:t>
            </a:r>
            <a:endParaRPr lang="en-US" sz="1700" dirty="0"/>
          </a:p>
          <a:p>
            <a:pPr marL="342900" indent="-342900">
              <a:spcAft>
                <a:spcPts val="800"/>
              </a:spcAft>
              <a:buSzPct val="100000"/>
              <a:buChar char="•"/>
            </a:pPr>
            <a:r>
              <a:rPr lang="en-US" sz="1700" dirty="0">
                <a:solidFill>
                  <a:srgbClr val="F1F5F9"/>
                </a:solidFill>
                <a:latin typeface="Calibri" pitchFamily="34" charset="0"/>
                <a:ea typeface="Calibri" pitchFamily="34" charset="-122"/>
                <a:cs typeface="Calibri" pitchFamily="34" charset="-120"/>
              </a:rPr>
              <a:t>Database changes are applied during the build.</a:t>
            </a:r>
            <a:endParaRPr lang="en-US" sz="1700" dirty="0"/>
          </a:p>
          <a:p>
            <a:pPr marL="342900" indent="-342900">
              <a:spcAft>
                <a:spcPts val="800"/>
              </a:spcAft>
              <a:buSzPct val="100000"/>
              <a:buChar char="•"/>
            </a:pPr>
            <a:r>
              <a:rPr lang="en-US" sz="1700" dirty="0">
                <a:solidFill>
                  <a:srgbClr val="F1F5F9"/>
                </a:solidFill>
                <a:latin typeface="Calibri" pitchFamily="34" charset="0"/>
                <a:ea typeface="Calibri" pitchFamily="34" charset="-122"/>
                <a:cs typeface="Calibri" pitchFamily="34" charset="-120"/>
              </a:rPr>
              <a:t>Data lives in Supabase PostgreSQL, in the Mumbai region.</a:t>
            </a:r>
            <a:endParaRPr lang="en-US" sz="1700" dirty="0"/>
          </a:p>
          <a:p>
            <a:pPr marL="342900" indent="-342900">
              <a:spcAft>
                <a:spcPts val="800"/>
              </a:spcAft>
              <a:buSzPct val="100000"/>
              <a:buChar char="•"/>
            </a:pPr>
            <a:r>
              <a:rPr lang="en-US" sz="1700" dirty="0">
                <a:solidFill>
                  <a:srgbClr val="F1F5F9"/>
                </a:solidFill>
                <a:latin typeface="Calibri" pitchFamily="34" charset="0"/>
                <a:ea typeface="Calibri" pitchFamily="34" charset="-122"/>
                <a:cs typeface="Calibri" pitchFamily="34" charset="-120"/>
              </a:rPr>
              <a:t>Accounts are per site: the live site and a local copy have separate users.</a:t>
            </a:r>
            <a:endParaRPr lang="en-US" sz="1700" dirty="0"/>
          </a:p>
        </p:txBody>
      </p:sp>
      <p:sp>
        <p:nvSpPr>
          <p:cNvPr id="21" name="Shape 16"/>
          <p:cNvSpPr/>
          <p:nvPr/>
        </p:nvSpPr>
        <p:spPr>
          <a:xfrm>
            <a:off x="8092440" y="1645920"/>
            <a:ext cx="3474720" cy="4343400"/>
          </a:xfrm>
          <a:prstGeom prst="roundRect">
            <a:avLst>
              <a:gd name="adj" fmla="val 3684"/>
            </a:avLst>
          </a:prstGeom>
          <a:solidFill>
            <a:srgbClr val="14142B"/>
          </a:solidFill>
          <a:ln w="9525">
            <a:solidFill>
              <a:srgbClr val="34345E"/>
            </a:solidFill>
            <a:prstDash val="solid"/>
          </a:ln>
        </p:spPr>
      </p:sp>
      <p:sp>
        <p:nvSpPr>
          <p:cNvPr id="22" name="Shape 17"/>
          <p:cNvSpPr/>
          <p:nvPr/>
        </p:nvSpPr>
        <p:spPr>
          <a:xfrm>
            <a:off x="8412480" y="1874520"/>
            <a:ext cx="2834640" cy="2834640"/>
          </a:xfrm>
          <a:prstGeom prst="roundRect">
            <a:avLst>
              <a:gd name="adj" fmla="val 3871"/>
            </a:avLst>
          </a:prstGeom>
          <a:solidFill>
            <a:srgbClr val="FFFFFF"/>
          </a:solidFill>
          <a:ln w="12700">
            <a:solidFill>
              <a:srgbClr val="FFFFFF"/>
            </a:solidFill>
            <a:prstDash val="solid"/>
          </a:ln>
        </p:spPr>
      </p:sp>
      <p:pic>
        <p:nvPicPr>
          <p:cNvPr id="23" name="Image 3" descr="QR code that opens the live site">    </p:cNvPr>
          <p:cNvPicPr>
            <a:picLocks noChangeAspect="1"/>
          </p:cNvPicPr>
          <p:nvPr/>
        </p:nvPicPr>
        <p:blipFill>
          <a:blip r:embed="rId4"/>
          <a:stretch>
            <a:fillRect/>
          </a:stretch>
        </p:blipFill>
        <p:spPr>
          <a:xfrm>
            <a:off x="8503920" y="1965960"/>
            <a:ext cx="2651760" cy="2651760"/>
          </a:xfrm>
          <a:prstGeom prst="rect">
            <a:avLst/>
          </a:prstGeom>
        </p:spPr>
      </p:pic>
      <p:sp>
        <p:nvSpPr>
          <p:cNvPr id="24" name="Text 18"/>
          <p:cNvSpPr txBox="1"/>
          <p:nvPr/>
        </p:nvSpPr>
        <p:spPr>
          <a:xfrm>
            <a:off x="8092440" y="4846320"/>
            <a:ext cx="3474720" cy="365760"/>
          </a:xfrm>
          <a:prstGeom prst="rect">
            <a:avLst/>
          </a:prstGeom>
          <a:noFill/>
          <a:ln/>
        </p:spPr>
        <p:txBody>
          <a:bodyPr wrap="square" lIns="0" tIns="0" rIns="0" bIns="0" rtlCol="0" anchor="t"/>
          <a:lstStyle/>
          <a:p>
            <a:pPr algn="ctr" indent="0" marL="0">
              <a:buNone/>
            </a:pPr>
            <a:r>
              <a:rPr lang="en-US" sz="1800" b="1" dirty="0">
                <a:solidFill>
                  <a:srgbClr val="F1F5F9"/>
                </a:solidFill>
                <a:latin typeface="Calibri" pitchFamily="34" charset="0"/>
                <a:ea typeface="Calibri" pitchFamily="34" charset="-122"/>
                <a:cs typeface="Calibri" pitchFamily="34" charset="-120"/>
              </a:rPr>
              <a:t>Scan to try it live</a:t>
            </a:r>
            <a:endParaRPr lang="en-US" sz="1800" dirty="0"/>
          </a:p>
        </p:txBody>
      </p:sp>
      <p:sp>
        <p:nvSpPr>
          <p:cNvPr id="25" name="Text 19"/>
          <p:cNvSpPr txBox="1"/>
          <p:nvPr/>
        </p:nvSpPr>
        <p:spPr>
          <a:xfrm>
            <a:off x="8092440" y="5257800"/>
            <a:ext cx="3474720" cy="320040"/>
          </a:xfrm>
          <a:prstGeom prst="rect">
            <a:avLst/>
          </a:prstGeom>
          <a:noFill/>
          <a:ln/>
        </p:spPr>
        <p:txBody>
          <a:bodyPr wrap="square" lIns="0" tIns="0" rIns="0" bIns="0" rtlCol="0" anchor="t"/>
          <a:lstStyle/>
          <a:p>
            <a:pPr algn="ctr" indent="0" marL="0">
              <a:buNone/>
            </a:pPr>
            <a:r>
              <a:rPr lang="en-US" sz="1300" dirty="0">
                <a:solidFill>
                  <a:srgbClr val="A5B4FC"/>
                </a:solidFill>
                <a:latin typeface="Calibri" pitchFamily="34" charset="0"/>
                <a:ea typeface="Calibri" pitchFamily="34" charset="-122"/>
                <a:cs typeface="Calibri" pitchFamily="34" charset="-120"/>
              </a:rPr>
              <a:t>campus-event-hub-lake.vercel.app</a:t>
            </a:r>
            <a:endParaRPr lang="en-US" sz="1300" dirty="0"/>
          </a:p>
        </p:txBody>
      </p:sp>
      <p:sp>
        <p:nvSpPr>
          <p:cNvPr id="25" name="Slide Number Placeholder 0"/>
          <p:cNvSpPr>
            <a:spLocks noGrp="1"/>
          </p:cNvSpPr>
          <p:nvPr>
            <p:ph type="sldNum" sz="quarter" idx="4294967295"/>
          </p:nvPr>
        </p:nvSpPr>
        <p:spPr>
          <a:xfrm>
            <a:off x="11064240" y="640080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3AED0"/>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731520" y="1097280"/>
            <a:ext cx="7315200" cy="1188720"/>
          </a:xfrm>
          <a:prstGeom prst="rect">
            <a:avLst/>
          </a:prstGeom>
          <a:noFill/>
          <a:ln/>
        </p:spPr>
        <p:txBody>
          <a:bodyPr wrap="square" lIns="0" tIns="0" rIns="0" bIns="0" rtlCol="0" anchor="ctr"/>
          <a:lstStyle/>
          <a:p>
            <a:pPr indent="0" marL="0">
              <a:buNone/>
            </a:pPr>
            <a:r>
              <a:rPr lang="en-US" sz="6400" dirty="0">
                <a:solidFill>
                  <a:srgbClr val="F1F5F9"/>
                </a:solidFill>
                <a:latin typeface="Arial Black" pitchFamily="34" charset="0"/>
                <a:ea typeface="Arial Black" pitchFamily="34" charset="-122"/>
                <a:cs typeface="Arial Black" pitchFamily="34" charset="-120"/>
              </a:rPr>
              <a:t>Thank you</a:t>
            </a:r>
            <a:endParaRPr lang="en-US" sz="6400" dirty="0"/>
          </a:p>
        </p:txBody>
      </p:sp>
      <p:sp>
        <p:nvSpPr>
          <p:cNvPr id="3" name="Text 1"/>
          <p:cNvSpPr txBox="1"/>
          <p:nvPr/>
        </p:nvSpPr>
        <p:spPr>
          <a:xfrm>
            <a:off x="731520" y="2286000"/>
            <a:ext cx="7315200" cy="822960"/>
          </a:xfrm>
          <a:prstGeom prst="rect">
            <a:avLst/>
          </a:prstGeom>
          <a:noFill/>
          <a:ln/>
        </p:spPr>
        <p:txBody>
          <a:bodyPr wrap="square" lIns="0" tIns="0" rIns="0" bIns="0" rtlCol="0" anchor="ctr"/>
          <a:lstStyle/>
          <a:p>
            <a:pPr indent="0" marL="0">
              <a:buNone/>
            </a:pPr>
            <a:r>
              <a:rPr lang="en-US" sz="4000" dirty="0">
                <a:solidFill>
                  <a:srgbClr val="F472B6"/>
                </a:solidFill>
                <a:latin typeface="Arial Black" pitchFamily="34" charset="0"/>
                <a:ea typeface="Arial Black" pitchFamily="34" charset="-122"/>
                <a:cs typeface="Arial Black" pitchFamily="34" charset="-120"/>
              </a:rPr>
              <a:t>Questions?</a:t>
            </a:r>
            <a:endParaRPr lang="en-US" sz="4000" dirty="0"/>
          </a:p>
        </p:txBody>
      </p:sp>
      <p:sp>
        <p:nvSpPr>
          <p:cNvPr id="4" name="Text 2"/>
          <p:cNvSpPr txBox="1"/>
          <p:nvPr/>
        </p:nvSpPr>
        <p:spPr>
          <a:xfrm>
            <a:off x="731520" y="3611880"/>
            <a:ext cx="5486400" cy="411480"/>
          </a:xfrm>
          <a:prstGeom prst="rect">
            <a:avLst/>
          </a:prstGeom>
          <a:noFill/>
          <a:ln/>
        </p:spPr>
        <p:txBody>
          <a:bodyPr wrap="square" lIns="0" tIns="0" rIns="0" bIns="0" rtlCol="0" anchor="t"/>
          <a:lstStyle/>
          <a:p>
            <a:pPr indent="0" marL="0">
              <a:buNone/>
            </a:pPr>
            <a:r>
              <a:rPr lang="en-US" sz="2200" b="1" dirty="0">
                <a:solidFill>
                  <a:srgbClr val="F1F5F9"/>
                </a:solidFill>
                <a:latin typeface="Calibri" pitchFamily="34" charset="0"/>
                <a:ea typeface="Calibri" pitchFamily="34" charset="-122"/>
                <a:cs typeface="Calibri" pitchFamily="34" charset="-120"/>
              </a:rPr>
              <a:t>Sahil Lenka</a:t>
            </a:r>
            <a:endParaRPr lang="en-US" sz="2200" dirty="0"/>
          </a:p>
        </p:txBody>
      </p:sp>
      <p:sp>
        <p:nvSpPr>
          <p:cNvPr id="5" name="Text 3"/>
          <p:cNvSpPr txBox="1"/>
          <p:nvPr/>
        </p:nvSpPr>
        <p:spPr>
          <a:xfrm>
            <a:off x="731520" y="4069080"/>
            <a:ext cx="6400800" cy="320040"/>
          </a:xfrm>
          <a:prstGeom prst="rect">
            <a:avLst/>
          </a:prstGeom>
          <a:noFill/>
          <a:ln/>
        </p:spPr>
        <p:txBody>
          <a:bodyPr wrap="square" lIns="0" tIns="0" rIns="0" bIns="0" rtlCol="0" anchor="t"/>
          <a:lstStyle/>
          <a:p>
            <a:pPr indent="0" marL="0">
              <a:buNone/>
            </a:pPr>
            <a:r>
              <a:rPr lang="en-US" sz="1500" dirty="0">
                <a:solidFill>
                  <a:srgbClr val="A3AED0"/>
                </a:solidFill>
                <a:latin typeface="Calibri" pitchFamily="34" charset="0"/>
                <a:ea typeface="Calibri" pitchFamily="34" charset="-122"/>
                <a:cs typeface="Calibri" pitchFamily="34" charset="-120"/>
              </a:rPr>
              <a:t>Reg. no. 2427010391  ·  B.Tech AIML, Section C</a:t>
            </a:r>
            <a:endParaRPr lang="en-US" sz="1500" dirty="0"/>
          </a:p>
        </p:txBody>
      </p:sp>
      <p:sp>
        <p:nvSpPr>
          <p:cNvPr id="6" name="Text 4"/>
          <p:cNvSpPr txBox="1"/>
          <p:nvPr/>
        </p:nvSpPr>
        <p:spPr>
          <a:xfrm>
            <a:off x="731520" y="4389120"/>
            <a:ext cx="6400800" cy="320040"/>
          </a:xfrm>
          <a:prstGeom prst="rect">
            <a:avLst/>
          </a:prstGeom>
          <a:noFill/>
          <a:ln/>
        </p:spPr>
        <p:txBody>
          <a:bodyPr wrap="square" lIns="0" tIns="0" rIns="0" bIns="0" rtlCol="0" anchor="t"/>
          <a:lstStyle/>
          <a:p>
            <a:pPr indent="0" marL="0">
              <a:buNone/>
            </a:pPr>
            <a:r>
              <a:rPr lang="en-US" sz="1500" dirty="0">
                <a:solidFill>
                  <a:srgbClr val="A3AED0"/>
                </a:solidFill>
                <a:latin typeface="Calibri" pitchFamily="34" charset="0"/>
                <a:ea typeface="Calibri" pitchFamily="34" charset="-122"/>
                <a:cs typeface="Calibri" pitchFamily="34" charset="-120"/>
              </a:rPr>
              <a:t>Manipal University Jaipur</a:t>
            </a:r>
            <a:endParaRPr lang="en-US" sz="1500" dirty="0"/>
          </a:p>
        </p:txBody>
      </p:sp>
      <p:sp>
        <p:nvSpPr>
          <p:cNvPr id="7" name="Text 5"/>
          <p:cNvSpPr txBox="1"/>
          <p:nvPr/>
        </p:nvSpPr>
        <p:spPr>
          <a:xfrm>
            <a:off x="731520" y="5074920"/>
            <a:ext cx="6583680" cy="822960"/>
          </a:xfrm>
          <a:prstGeom prst="rect">
            <a:avLst/>
          </a:prstGeom>
          <a:noFill/>
          <a:ln/>
        </p:spPr>
        <p:txBody>
          <a:bodyPr wrap="square" lIns="0" tIns="0" rIns="0" bIns="0" rtlCol="0" anchor="t"/>
          <a:lstStyle/>
          <a:p>
            <a:pPr indent="0" marL="0">
              <a:spcAft>
                <a:spcPts val="600"/>
              </a:spcAft>
              <a:buNone/>
            </a:pPr>
            <a:r>
              <a:rPr lang="en-US" sz="1600" b="1" dirty="0">
                <a:solidFill>
                  <a:srgbClr val="A3AED0"/>
                </a:solidFill>
                <a:latin typeface="Calibri" pitchFamily="34" charset="0"/>
                <a:ea typeface="Calibri" pitchFamily="34" charset="-122"/>
                <a:cs typeface="Calibri" pitchFamily="34" charset="-120"/>
              </a:rPr>
              <a:t>Live  </a:t>
            </a:r>
            <a:pPr indent="0" marL="0">
              <a:spcAft>
                <a:spcPts val="600"/>
              </a:spcAft>
              <a:buNone/>
            </a:pPr>
            <a:r>
              <a:rPr lang="en-US" sz="1600" u="sng" dirty="0">
                <a:solidFill>
                  <a:srgbClr val="A5B4FC"/>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campus-event-hub-lake.vercel.app</a:t>
            </a:r>
            <a:endParaRPr lang="en-US" sz="1600" dirty="0"/>
          </a:p>
          <a:p>
            <a:pPr indent="0" marL="0">
              <a:spcAft>
                <a:spcPts val="600"/>
              </a:spcAft>
              <a:buNone/>
            </a:pPr>
            <a:r>
              <a:rPr lang="en-US" sz="1600" b="1" dirty="0">
                <a:solidFill>
                  <a:srgbClr val="A3AED0"/>
                </a:solidFill>
                <a:latin typeface="Calibri" pitchFamily="34" charset="0"/>
                <a:ea typeface="Calibri" pitchFamily="34" charset="-122"/>
                <a:cs typeface="Calibri" pitchFamily="34" charset="-120"/>
              </a:rPr>
              <a:t>Code  </a:t>
            </a:r>
            <a:pPr indent="0" marL="0">
              <a:spcAft>
                <a:spcPts val="600"/>
              </a:spcAft>
              <a:buNone/>
            </a:pPr>
            <a:r>
              <a:rPr lang="en-US" sz="1600" u="sng" dirty="0">
                <a:solidFill>
                  <a:srgbClr val="A5B4FC"/>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github.com/Sahil-u07/campus-event-hub</a:t>
            </a:r>
            <a:endParaRPr lang="en-US" sz="1600" dirty="0"/>
          </a:p>
        </p:txBody>
      </p:sp>
      <p:sp>
        <p:nvSpPr>
          <p:cNvPr id="8" name="Shape 6"/>
          <p:cNvSpPr/>
          <p:nvPr/>
        </p:nvSpPr>
        <p:spPr>
          <a:xfrm>
            <a:off x="7863840" y="1097280"/>
            <a:ext cx="3703320" cy="4663440"/>
          </a:xfrm>
          <a:prstGeom prst="roundRect">
            <a:avLst>
              <a:gd name="adj" fmla="val 3457"/>
            </a:avLst>
          </a:prstGeom>
          <a:solidFill>
            <a:srgbClr val="0B0B1A">
              <a:alpha val="75000"/>
            </a:srgbClr>
          </a:solidFill>
          <a:ln w="9525">
            <a:solidFill>
              <a:srgbClr val="34345E"/>
            </a:solidFill>
            <a:prstDash val="solid"/>
          </a:ln>
        </p:spPr>
      </p:sp>
      <p:sp>
        <p:nvSpPr>
          <p:cNvPr id="9" name="Text 7"/>
          <p:cNvSpPr txBox="1"/>
          <p:nvPr/>
        </p:nvSpPr>
        <p:spPr>
          <a:xfrm>
            <a:off x="8183880" y="1325880"/>
            <a:ext cx="3108960" cy="411480"/>
          </a:xfrm>
          <a:prstGeom prst="rect">
            <a:avLst/>
          </a:prstGeom>
          <a:noFill/>
          <a:ln/>
        </p:spPr>
        <p:txBody>
          <a:bodyPr wrap="square" lIns="0" tIns="0" rIns="0" bIns="0" rtlCol="0" anchor="t"/>
          <a:lstStyle/>
          <a:p>
            <a:pPr indent="0" marL="0">
              <a:buNone/>
            </a:pPr>
            <a:r>
              <a:rPr lang="en-US" sz="2000" b="1" dirty="0">
                <a:solidFill>
                  <a:srgbClr val="F1F5F9"/>
                </a:solidFill>
                <a:latin typeface="Calibri" pitchFamily="34" charset="0"/>
                <a:ea typeface="Calibri" pitchFamily="34" charset="-122"/>
                <a:cs typeface="Calibri" pitchFamily="34" charset="-120"/>
              </a:rPr>
              <a:t>What is next</a:t>
            </a:r>
            <a:endParaRPr lang="en-US" sz="2000" dirty="0"/>
          </a:p>
        </p:txBody>
      </p:sp>
      <p:sp>
        <p:nvSpPr>
          <p:cNvPr id="10" name="Shape 8"/>
          <p:cNvSpPr/>
          <p:nvPr/>
        </p:nvSpPr>
        <p:spPr>
          <a:xfrm>
            <a:off x="8183880" y="1965960"/>
            <a:ext cx="3063240" cy="1005840"/>
          </a:xfrm>
          <a:prstGeom prst="roundRect">
            <a:avLst>
              <a:gd name="adj" fmla="val 10909"/>
            </a:avLst>
          </a:prstGeom>
          <a:solidFill>
            <a:srgbClr val="1B1B38"/>
          </a:solidFill>
          <a:ln w="12700">
            <a:solidFill>
              <a:srgbClr val="34345E"/>
            </a:solidFill>
            <a:prstDash val="solid"/>
          </a:ln>
        </p:spPr>
      </p:sp>
      <p:sp>
        <p:nvSpPr>
          <p:cNvPr id="11" name="Text 9"/>
          <p:cNvSpPr txBox="1"/>
          <p:nvPr/>
        </p:nvSpPr>
        <p:spPr>
          <a:xfrm>
            <a:off x="8366760" y="2103120"/>
            <a:ext cx="2743200" cy="365760"/>
          </a:xfrm>
          <a:prstGeom prst="rect">
            <a:avLst/>
          </a:prstGeom>
          <a:noFill/>
          <a:ln/>
        </p:spPr>
        <p:txBody>
          <a:bodyPr wrap="square" lIns="0" tIns="0" rIns="0" bIns="0" rtlCol="0" anchor="t"/>
          <a:lstStyle/>
          <a:p>
            <a:pPr indent="0" marL="0">
              <a:buNone/>
            </a:pPr>
            <a:r>
              <a:rPr lang="en-US" sz="1600" b="1" dirty="0">
                <a:solidFill>
                  <a:srgbClr val="F1F5F9"/>
                </a:solidFill>
                <a:latin typeface="Calibri" pitchFamily="34" charset="0"/>
                <a:ea typeface="Calibri" pitchFamily="34" charset="-122"/>
                <a:cs typeface="Calibri" pitchFamily="34" charset="-120"/>
              </a:rPr>
              <a:t>Email on the live site</a:t>
            </a:r>
            <a:endParaRPr lang="en-US" sz="1600" dirty="0"/>
          </a:p>
        </p:txBody>
      </p:sp>
      <p:sp>
        <p:nvSpPr>
          <p:cNvPr id="12" name="Text 10"/>
          <p:cNvSpPr txBox="1"/>
          <p:nvPr/>
        </p:nvSpPr>
        <p:spPr>
          <a:xfrm>
            <a:off x="8366760" y="2496312"/>
            <a:ext cx="2743200" cy="365760"/>
          </a:xfrm>
          <a:prstGeom prst="rect">
            <a:avLst/>
          </a:prstGeom>
          <a:noFill/>
          <a:ln/>
        </p:spPr>
        <p:txBody>
          <a:bodyPr wrap="square" lIns="0" tIns="0" rIns="0" bIns="0" rtlCol="0" anchor="t"/>
          <a:lstStyle/>
          <a:p>
            <a:pPr indent="0" marL="0">
              <a:buNone/>
            </a:pPr>
            <a:r>
              <a:rPr lang="en-US" sz="1400" dirty="0">
                <a:solidFill>
                  <a:srgbClr val="A3AED0"/>
                </a:solidFill>
                <a:latin typeface="Calibri" pitchFamily="34" charset="0"/>
                <a:ea typeface="Calibri" pitchFamily="34" charset="-122"/>
                <a:cs typeface="Calibri" pitchFamily="34" charset="-120"/>
              </a:rPr>
              <a:t>needs mail settings added</a:t>
            </a:r>
            <a:endParaRPr lang="en-US" sz="1400" dirty="0"/>
          </a:p>
        </p:txBody>
      </p:sp>
      <p:sp>
        <p:nvSpPr>
          <p:cNvPr id="13" name="Shape 11"/>
          <p:cNvSpPr/>
          <p:nvPr/>
        </p:nvSpPr>
        <p:spPr>
          <a:xfrm>
            <a:off x="8183880" y="3154680"/>
            <a:ext cx="3063240" cy="1005840"/>
          </a:xfrm>
          <a:prstGeom prst="roundRect">
            <a:avLst>
              <a:gd name="adj" fmla="val 10909"/>
            </a:avLst>
          </a:prstGeom>
          <a:solidFill>
            <a:srgbClr val="1B1B38"/>
          </a:solidFill>
          <a:ln w="12700">
            <a:solidFill>
              <a:srgbClr val="34345E"/>
            </a:solidFill>
            <a:prstDash val="solid"/>
          </a:ln>
        </p:spPr>
      </p:sp>
      <p:sp>
        <p:nvSpPr>
          <p:cNvPr id="14" name="Text 12"/>
          <p:cNvSpPr txBox="1"/>
          <p:nvPr/>
        </p:nvSpPr>
        <p:spPr>
          <a:xfrm>
            <a:off x="8366760" y="3291840"/>
            <a:ext cx="2743200" cy="365760"/>
          </a:xfrm>
          <a:prstGeom prst="rect">
            <a:avLst/>
          </a:prstGeom>
          <a:noFill/>
          <a:ln/>
        </p:spPr>
        <p:txBody>
          <a:bodyPr wrap="square" lIns="0" tIns="0" rIns="0" bIns="0" rtlCol="0" anchor="t"/>
          <a:lstStyle/>
          <a:p>
            <a:pPr indent="0" marL="0">
              <a:buNone/>
            </a:pPr>
            <a:r>
              <a:rPr lang="en-US" sz="1600" b="1" dirty="0">
                <a:solidFill>
                  <a:srgbClr val="F1F5F9"/>
                </a:solidFill>
                <a:latin typeface="Calibri" pitchFamily="34" charset="0"/>
                <a:ea typeface="Calibri" pitchFamily="34" charset="-122"/>
                <a:cs typeface="Calibri" pitchFamily="34" charset="-120"/>
              </a:rPr>
              <a:t>Poster images</a:t>
            </a:r>
            <a:endParaRPr lang="en-US" sz="1600" dirty="0"/>
          </a:p>
        </p:txBody>
      </p:sp>
      <p:sp>
        <p:nvSpPr>
          <p:cNvPr id="15" name="Text 13"/>
          <p:cNvSpPr txBox="1"/>
          <p:nvPr/>
        </p:nvSpPr>
        <p:spPr>
          <a:xfrm>
            <a:off x="8366760" y="3685032"/>
            <a:ext cx="2743200" cy="365760"/>
          </a:xfrm>
          <a:prstGeom prst="rect">
            <a:avLst/>
          </a:prstGeom>
          <a:noFill/>
          <a:ln/>
        </p:spPr>
        <p:txBody>
          <a:bodyPr wrap="square" lIns="0" tIns="0" rIns="0" bIns="0" rtlCol="0" anchor="t"/>
          <a:lstStyle/>
          <a:p>
            <a:pPr indent="0" marL="0">
              <a:buNone/>
            </a:pPr>
            <a:r>
              <a:rPr lang="en-US" sz="1400" dirty="0">
                <a:solidFill>
                  <a:srgbClr val="A3AED0"/>
                </a:solidFill>
                <a:latin typeface="Calibri" pitchFamily="34" charset="0"/>
                <a:ea typeface="Calibri" pitchFamily="34" charset="-122"/>
                <a:cs typeface="Calibri" pitchFamily="34" charset="-120"/>
              </a:rPr>
              <a:t>needs cloud file storage</a:t>
            </a:r>
            <a:endParaRPr lang="en-US" sz="1400" dirty="0"/>
          </a:p>
        </p:txBody>
      </p:sp>
      <p:sp>
        <p:nvSpPr>
          <p:cNvPr id="16" name="Shape 14"/>
          <p:cNvSpPr/>
          <p:nvPr/>
        </p:nvSpPr>
        <p:spPr>
          <a:xfrm>
            <a:off x="8183880" y="4343400"/>
            <a:ext cx="3063240" cy="1005840"/>
          </a:xfrm>
          <a:prstGeom prst="roundRect">
            <a:avLst>
              <a:gd name="adj" fmla="val 10909"/>
            </a:avLst>
          </a:prstGeom>
          <a:solidFill>
            <a:srgbClr val="1B1B38"/>
          </a:solidFill>
          <a:ln w="12700">
            <a:solidFill>
              <a:srgbClr val="34345E"/>
            </a:solidFill>
            <a:prstDash val="solid"/>
          </a:ln>
        </p:spPr>
      </p:sp>
      <p:sp>
        <p:nvSpPr>
          <p:cNvPr id="17" name="Text 15"/>
          <p:cNvSpPr txBox="1"/>
          <p:nvPr/>
        </p:nvSpPr>
        <p:spPr>
          <a:xfrm>
            <a:off x="8366760" y="4480560"/>
            <a:ext cx="2743200" cy="365760"/>
          </a:xfrm>
          <a:prstGeom prst="rect">
            <a:avLst/>
          </a:prstGeom>
          <a:noFill/>
          <a:ln/>
        </p:spPr>
        <p:txBody>
          <a:bodyPr wrap="square" lIns="0" tIns="0" rIns="0" bIns="0" rtlCol="0" anchor="t"/>
          <a:lstStyle/>
          <a:p>
            <a:pPr indent="0" marL="0">
              <a:buNone/>
            </a:pPr>
            <a:r>
              <a:rPr lang="en-US" sz="1600" b="1" dirty="0">
                <a:solidFill>
                  <a:srgbClr val="F1F5F9"/>
                </a:solidFill>
                <a:latin typeface="Calibri" pitchFamily="34" charset="0"/>
                <a:ea typeface="Calibri" pitchFamily="34" charset="-122"/>
                <a:cs typeface="Calibri" pitchFamily="34" charset="-120"/>
              </a:rPr>
              <a:t>MySQL end to end</a:t>
            </a:r>
            <a:endParaRPr lang="en-US" sz="1600" dirty="0"/>
          </a:p>
        </p:txBody>
      </p:sp>
      <p:sp>
        <p:nvSpPr>
          <p:cNvPr id="18" name="Text 16"/>
          <p:cNvSpPr txBox="1"/>
          <p:nvPr/>
        </p:nvSpPr>
        <p:spPr>
          <a:xfrm>
            <a:off x="8366760" y="4873752"/>
            <a:ext cx="2743200" cy="365760"/>
          </a:xfrm>
          <a:prstGeom prst="rect">
            <a:avLst/>
          </a:prstGeom>
          <a:noFill/>
          <a:ln/>
        </p:spPr>
        <p:txBody>
          <a:bodyPr wrap="square" lIns="0" tIns="0" rIns="0" bIns="0" rtlCol="0" anchor="t"/>
          <a:lstStyle/>
          <a:p>
            <a:pPr indent="0" marL="0">
              <a:buNone/>
            </a:pPr>
            <a:r>
              <a:rPr lang="en-US" sz="1400" dirty="0">
                <a:solidFill>
                  <a:srgbClr val="A3AED0"/>
                </a:solidFill>
                <a:latin typeface="Calibri" pitchFamily="34" charset="0"/>
                <a:ea typeface="Calibri" pitchFamily="34" charset="-122"/>
                <a:cs typeface="Calibri" pitchFamily="34" charset="-120"/>
              </a:rPr>
              <a:t>a full test run on MySQL</a:t>
            </a:r>
            <a:endParaRPr lang="en-US" sz="1400" dirty="0"/>
          </a:p>
        </p:txBody>
      </p:sp>
    </p:spTree>
  </p:cSld>
  <p:clrMapOvr>
    <a:masterClrMapping/>
  </p:clrMapOvr>
</p:sld>
</file>

<file path=ppt/theme/theme1.xml><?xml version="1.0" encoding="utf-8"?>
<a:theme xmlns:a="http://schemas.openxmlformats.org/drawingml/2006/main" name="Campus Event Hub">
  <a:themeElements>
    <a:clrScheme name="Campus Event Hub">
      <a:dk1>
        <a:srgbClr val="0B0B1A"/>
      </a:dk1>
      <a:lt1>
        <a:srgbClr val="F1F5F9"/>
      </a:lt1>
      <a:dk2>
        <a:srgbClr val="14142B"/>
      </a:dk2>
      <a:lt2>
        <a:srgbClr val="A3AED0"/>
      </a:lt2>
      <a:accent1>
        <a:srgbClr val="6366F1"/>
      </a:accent1>
      <a:accent2>
        <a:srgbClr val="F472B6"/>
      </a:accent2>
      <a:accent3>
        <a:srgbClr val="F97316"/>
      </a:accent3>
      <a:accent4>
        <a:srgbClr val="4ADE80"/>
      </a:accent4>
      <a:accent5>
        <a:srgbClr val="A5B4FC"/>
      </a:accent5>
      <a:accent6>
        <a:srgbClr val="F87171"/>
      </a:accent6>
      <a:hlink>
        <a:srgbClr val="A5B4FC"/>
      </a:hlink>
      <a:folHlink>
        <a:srgbClr val="F472B6"/>
      </a:folHlink>
    </a:clrScheme>
    <a:fontScheme name="Campus Event Hub">
      <a:majorFont>
        <a:latin typeface="Arial Black"/>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Campus Event Hub: project presentation</dc:title>
  <dc:subject>Web Technologies (AIM3140) project</dc:subject>
  <dc:creator>Sahil Lenka</dc:creator>
  <cp:lastModifiedBy>Sahil Lenka</cp:lastModifiedBy>
  <cp:revision>1</cp:revision>
  <dcterms:created xsi:type="dcterms:W3CDTF">2026-10-18T23:16:39Z</dcterms:created>
  <dcterms:modified xsi:type="dcterms:W3CDTF">2026-10-18T23:16:39Z</dcterms:modified>
</cp:coreProperties>
</file>